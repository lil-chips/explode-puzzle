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handoutMasterIdLst>
    <p:handoutMasterId r:id="rId43"/>
  </p:handoutMasterIdLst>
  <p:sldIdLst>
    <p:sldId id="474" r:id="rId2"/>
    <p:sldId id="462" r:id="rId3"/>
    <p:sldId id="565" r:id="rId4"/>
    <p:sldId id="566" r:id="rId5"/>
    <p:sldId id="567" r:id="rId6"/>
    <p:sldId id="568" r:id="rId7"/>
    <p:sldId id="569" r:id="rId8"/>
    <p:sldId id="570" r:id="rId9"/>
    <p:sldId id="571" r:id="rId10"/>
    <p:sldId id="572" r:id="rId11"/>
    <p:sldId id="573" r:id="rId12"/>
    <p:sldId id="574" r:id="rId13"/>
    <p:sldId id="575" r:id="rId14"/>
    <p:sldId id="576" r:id="rId15"/>
    <p:sldId id="577" r:id="rId16"/>
    <p:sldId id="578" r:id="rId17"/>
    <p:sldId id="579" r:id="rId18"/>
    <p:sldId id="580" r:id="rId19"/>
    <p:sldId id="466" r:id="rId20"/>
    <p:sldId id="469" r:id="rId21"/>
    <p:sldId id="470" r:id="rId22"/>
    <p:sldId id="471" r:id="rId23"/>
    <p:sldId id="472" r:id="rId24"/>
    <p:sldId id="473" r:id="rId25"/>
    <p:sldId id="319" r:id="rId26"/>
    <p:sldId id="265" r:id="rId27"/>
    <p:sldId id="266" r:id="rId28"/>
    <p:sldId id="267" r:id="rId29"/>
    <p:sldId id="293" r:id="rId30"/>
    <p:sldId id="268" r:id="rId31"/>
    <p:sldId id="294" r:id="rId32"/>
    <p:sldId id="269" r:id="rId33"/>
    <p:sldId id="270" r:id="rId34"/>
    <p:sldId id="271" r:id="rId35"/>
    <p:sldId id="272" r:id="rId36"/>
    <p:sldId id="273" r:id="rId37"/>
    <p:sldId id="317" r:id="rId38"/>
    <p:sldId id="314" r:id="rId39"/>
    <p:sldId id="274" r:id="rId40"/>
    <p:sldId id="275" r:id="rId41"/>
  </p:sldIdLst>
  <p:sldSz cx="9144000" cy="6858000" type="screen4x3"/>
  <p:notesSz cx="7086600" cy="9429750"/>
  <p:defaultTextStyle>
    <a:defPPr>
      <a:defRPr lang="en-AU"/>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94" autoAdjust="0"/>
    <p:restoredTop sz="72381" autoAdjust="0"/>
  </p:normalViewPr>
  <p:slideViewPr>
    <p:cSldViewPr>
      <p:cViewPr varScale="1">
        <p:scale>
          <a:sx n="86" d="100"/>
          <a:sy n="86" d="100"/>
        </p:scale>
        <p:origin x="3064"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1" y="0"/>
            <a:ext cx="3070225" cy="471488"/>
          </a:xfrm>
          <a:prstGeom prst="rect">
            <a:avLst/>
          </a:prstGeom>
          <a:noFill/>
          <a:ln w="9525">
            <a:noFill/>
            <a:miter lim="800000"/>
            <a:headEnd/>
            <a:tailEnd/>
          </a:ln>
          <a:effectLst/>
        </p:spPr>
        <p:txBody>
          <a:bodyPr vert="horz" wrap="square" lIns="91436" tIns="45718" rIns="91436" bIns="45718" numCol="1" anchor="t" anchorCtr="0" compatLnSpc="1">
            <a:prstTxWarp prst="textNoShape">
              <a:avLst/>
            </a:prstTxWarp>
          </a:bodyPr>
          <a:lstStyle>
            <a:lvl1pPr>
              <a:defRPr sz="1200"/>
            </a:lvl1pPr>
          </a:lstStyle>
          <a:p>
            <a:endParaRPr lang="en-AU"/>
          </a:p>
        </p:txBody>
      </p:sp>
      <p:sp>
        <p:nvSpPr>
          <p:cNvPr id="52227" name="Rectangle 3"/>
          <p:cNvSpPr>
            <a:spLocks noGrp="1" noChangeArrowheads="1"/>
          </p:cNvSpPr>
          <p:nvPr>
            <p:ph type="dt" sz="quarter" idx="1"/>
          </p:nvPr>
        </p:nvSpPr>
        <p:spPr bwMode="auto">
          <a:xfrm>
            <a:off x="4016376" y="0"/>
            <a:ext cx="3070225" cy="471488"/>
          </a:xfrm>
          <a:prstGeom prst="rect">
            <a:avLst/>
          </a:prstGeom>
          <a:noFill/>
          <a:ln w="9525">
            <a:noFill/>
            <a:miter lim="800000"/>
            <a:headEnd/>
            <a:tailEnd/>
          </a:ln>
          <a:effectLst/>
        </p:spPr>
        <p:txBody>
          <a:bodyPr vert="horz" wrap="square" lIns="91436" tIns="45718" rIns="91436" bIns="45718" numCol="1" anchor="t" anchorCtr="0" compatLnSpc="1">
            <a:prstTxWarp prst="textNoShape">
              <a:avLst/>
            </a:prstTxWarp>
          </a:bodyPr>
          <a:lstStyle>
            <a:lvl1pPr algn="r">
              <a:defRPr sz="1200"/>
            </a:lvl1pPr>
          </a:lstStyle>
          <a:p>
            <a:endParaRPr lang="en-AU"/>
          </a:p>
        </p:txBody>
      </p:sp>
      <p:sp>
        <p:nvSpPr>
          <p:cNvPr id="52228" name="Rectangle 4"/>
          <p:cNvSpPr>
            <a:spLocks noGrp="1" noChangeArrowheads="1"/>
          </p:cNvSpPr>
          <p:nvPr>
            <p:ph type="ftr" sz="quarter" idx="2"/>
          </p:nvPr>
        </p:nvSpPr>
        <p:spPr bwMode="auto">
          <a:xfrm>
            <a:off x="1" y="8958263"/>
            <a:ext cx="3070225" cy="471487"/>
          </a:xfrm>
          <a:prstGeom prst="rect">
            <a:avLst/>
          </a:prstGeom>
          <a:noFill/>
          <a:ln w="9525">
            <a:noFill/>
            <a:miter lim="800000"/>
            <a:headEnd/>
            <a:tailEnd/>
          </a:ln>
          <a:effectLst/>
        </p:spPr>
        <p:txBody>
          <a:bodyPr vert="horz" wrap="square" lIns="91436" tIns="45718" rIns="91436" bIns="45718" numCol="1" anchor="b" anchorCtr="0" compatLnSpc="1">
            <a:prstTxWarp prst="textNoShape">
              <a:avLst/>
            </a:prstTxWarp>
          </a:bodyPr>
          <a:lstStyle>
            <a:lvl1pPr>
              <a:defRPr sz="1200"/>
            </a:lvl1pPr>
          </a:lstStyle>
          <a:p>
            <a:endParaRPr lang="en-AU"/>
          </a:p>
        </p:txBody>
      </p:sp>
      <p:sp>
        <p:nvSpPr>
          <p:cNvPr id="52229" name="Rectangle 5"/>
          <p:cNvSpPr>
            <a:spLocks noGrp="1" noChangeArrowheads="1"/>
          </p:cNvSpPr>
          <p:nvPr>
            <p:ph type="sldNum" sz="quarter" idx="3"/>
          </p:nvPr>
        </p:nvSpPr>
        <p:spPr bwMode="auto">
          <a:xfrm>
            <a:off x="4016376" y="8958263"/>
            <a:ext cx="3070225" cy="471487"/>
          </a:xfrm>
          <a:prstGeom prst="rect">
            <a:avLst/>
          </a:prstGeom>
          <a:noFill/>
          <a:ln w="9525">
            <a:noFill/>
            <a:miter lim="800000"/>
            <a:headEnd/>
            <a:tailEnd/>
          </a:ln>
          <a:effectLst/>
        </p:spPr>
        <p:txBody>
          <a:bodyPr vert="horz" wrap="square" lIns="91436" tIns="45718" rIns="91436" bIns="45718" numCol="1" anchor="b" anchorCtr="0" compatLnSpc="1">
            <a:prstTxWarp prst="textNoShape">
              <a:avLst/>
            </a:prstTxWarp>
          </a:bodyPr>
          <a:lstStyle>
            <a:lvl1pPr algn="r">
              <a:defRPr sz="1200"/>
            </a:lvl1pPr>
          </a:lstStyle>
          <a:p>
            <a:fld id="{C459DBB0-8B89-48F1-BE2E-7C0DAEA848D6}" type="slidenum">
              <a:rPr lang="en-AU"/>
              <a:pPr/>
              <a:t>‹#›</a:t>
            </a:fld>
            <a:endParaRPr lang="en-AU"/>
          </a:p>
        </p:txBody>
      </p:sp>
    </p:spTree>
    <p:extLst>
      <p:ext uri="{BB962C8B-B14F-4D97-AF65-F5344CB8AC3E}">
        <p14:creationId xmlns:p14="http://schemas.microsoft.com/office/powerpoint/2010/main" val="39129427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0225" cy="4714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4014788" y="0"/>
            <a:ext cx="3070225" cy="471488"/>
          </a:xfrm>
          <a:prstGeom prst="rect">
            <a:avLst/>
          </a:prstGeom>
        </p:spPr>
        <p:txBody>
          <a:bodyPr vert="horz" lIns="91440" tIns="45720" rIns="91440" bIns="45720" rtlCol="0"/>
          <a:lstStyle>
            <a:lvl1pPr algn="r">
              <a:defRPr sz="1200"/>
            </a:lvl1pPr>
          </a:lstStyle>
          <a:p>
            <a:fld id="{69CB0FC6-4046-479A-911D-FD9DBBA44FA3}" type="datetimeFigureOut">
              <a:rPr lang="en-AU" smtClean="0"/>
              <a:pPr/>
              <a:t>13/3/2024</a:t>
            </a:fld>
            <a:endParaRPr lang="en-AU"/>
          </a:p>
        </p:txBody>
      </p:sp>
      <p:sp>
        <p:nvSpPr>
          <p:cNvPr id="4" name="Slide Image Placeholder 3"/>
          <p:cNvSpPr>
            <a:spLocks noGrp="1" noRot="1" noChangeAspect="1"/>
          </p:cNvSpPr>
          <p:nvPr>
            <p:ph type="sldImg" idx="2"/>
          </p:nvPr>
        </p:nvSpPr>
        <p:spPr>
          <a:xfrm>
            <a:off x="1185863" y="708025"/>
            <a:ext cx="4714875" cy="3535363"/>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708025" y="4479925"/>
            <a:ext cx="5670550" cy="42433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956675"/>
            <a:ext cx="3070225" cy="471488"/>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4014788" y="8956675"/>
            <a:ext cx="3070225" cy="471488"/>
          </a:xfrm>
          <a:prstGeom prst="rect">
            <a:avLst/>
          </a:prstGeom>
        </p:spPr>
        <p:txBody>
          <a:bodyPr vert="horz" lIns="91440" tIns="45720" rIns="91440" bIns="45720" rtlCol="0" anchor="b"/>
          <a:lstStyle>
            <a:lvl1pPr algn="r">
              <a:defRPr sz="1200"/>
            </a:lvl1pPr>
          </a:lstStyle>
          <a:p>
            <a:fld id="{168014FF-01F7-47CB-AFFE-9356DF0CC689}" type="slidenum">
              <a:rPr lang="en-AU" smtClean="0"/>
              <a:pPr/>
              <a:t>‹#›</a:t>
            </a:fld>
            <a:endParaRPr lang="en-AU"/>
          </a:p>
        </p:txBody>
      </p:sp>
    </p:spTree>
    <p:extLst>
      <p:ext uri="{BB962C8B-B14F-4D97-AF65-F5344CB8AC3E}">
        <p14:creationId xmlns:p14="http://schemas.microsoft.com/office/powerpoint/2010/main" val="2785295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8014FF-01F7-47CB-AFFE-9356DF0CC689}" type="slidenum">
              <a:rPr lang="en-AU" smtClean="0"/>
              <a:pPr/>
              <a:t>1</a:t>
            </a:fld>
            <a:endParaRPr lang="en-AU"/>
          </a:p>
        </p:txBody>
      </p:sp>
    </p:spTree>
    <p:extLst>
      <p:ext uri="{BB962C8B-B14F-4D97-AF65-F5344CB8AC3E}">
        <p14:creationId xmlns:p14="http://schemas.microsoft.com/office/powerpoint/2010/main" val="1278625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of all, let us study the model of conventional encryption. </a:t>
            </a:r>
          </a:p>
          <a:p>
            <a:endParaRPr lang="en-US" dirty="0"/>
          </a:p>
          <a:p>
            <a:endParaRPr lang="en-US" dirty="0"/>
          </a:p>
        </p:txBody>
      </p:sp>
      <p:sp>
        <p:nvSpPr>
          <p:cNvPr id="4" name="Slide Number Placeholder 3"/>
          <p:cNvSpPr>
            <a:spLocks noGrp="1"/>
          </p:cNvSpPr>
          <p:nvPr>
            <p:ph type="sldNum" sz="quarter" idx="10"/>
          </p:nvPr>
        </p:nvSpPr>
        <p:spPr/>
        <p:txBody>
          <a:bodyPr/>
          <a:lstStyle/>
          <a:p>
            <a:fld id="{168014FF-01F7-47CB-AFFE-9356DF0CC689}" type="slidenum">
              <a:rPr lang="en-AU" smtClean="0"/>
              <a:pPr/>
              <a:t>2</a:t>
            </a:fld>
            <a:endParaRPr lang="en-AU"/>
          </a:p>
        </p:txBody>
      </p:sp>
    </p:spTree>
    <p:extLst>
      <p:ext uri="{BB962C8B-B14F-4D97-AF65-F5344CB8AC3E}">
        <p14:creationId xmlns:p14="http://schemas.microsoft.com/office/powerpoint/2010/main" val="19215297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68014FF-01F7-47CB-AFFE-9356DF0CC689}" type="slidenum">
              <a:rPr lang="en-AU" smtClean="0"/>
              <a:pPr/>
              <a:t>5</a:t>
            </a:fld>
            <a:endParaRPr lang="en-AU"/>
          </a:p>
        </p:txBody>
      </p:sp>
    </p:spTree>
    <p:extLst>
      <p:ext uri="{BB962C8B-B14F-4D97-AF65-F5344CB8AC3E}">
        <p14:creationId xmlns:p14="http://schemas.microsoft.com/office/powerpoint/2010/main" val="1710216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r>
              <a:rPr lang="en-US" baseline="0" dirty="0"/>
              <a:t> u e s d a y</a:t>
            </a:r>
          </a:p>
          <a:p>
            <a:endParaRPr lang="en-US" baseline="0" dirty="0"/>
          </a:p>
          <a:p>
            <a:r>
              <a:rPr lang="en-US" baseline="0" dirty="0"/>
              <a:t>19 20 4 18 3 0 24</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 o s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p g a</a:t>
            </a:r>
            <a:endParaRPr lang="en-AU" sz="1200" kern="1200" dirty="0">
              <a:solidFill>
                <a:schemeClr val="tx1"/>
              </a:solidFill>
              <a:effectLst/>
              <a:latin typeface="+mn-lt"/>
              <a:ea typeface="+mn-ea"/>
              <a:cs typeface="+mn-cs"/>
            </a:endParaRPr>
          </a:p>
          <a:p>
            <a:endParaRPr lang="en-US" dirty="0"/>
          </a:p>
          <a:p>
            <a:r>
              <a:rPr lang="en-US" dirty="0"/>
              <a:t>11 14 18 8 15 6 0 </a:t>
            </a:r>
          </a:p>
          <a:p>
            <a:endParaRPr lang="en-US" dirty="0"/>
          </a:p>
          <a:p>
            <a:r>
              <a:rPr lang="en-US" dirty="0"/>
              <a:t>C=</a:t>
            </a:r>
            <a:r>
              <a:rPr lang="en-US" dirty="0" err="1"/>
              <a:t>aP+b</a:t>
            </a:r>
            <a:endParaRPr lang="en-US" dirty="0"/>
          </a:p>
          <a:p>
            <a:endParaRPr lang="en-US" dirty="0"/>
          </a:p>
          <a:p>
            <a:r>
              <a:rPr lang="en-US" dirty="0"/>
              <a:t>11=a19+b</a:t>
            </a:r>
          </a:p>
          <a:p>
            <a:endParaRPr lang="en-US" dirty="0"/>
          </a:p>
          <a:p>
            <a:r>
              <a:rPr lang="en-US" dirty="0"/>
              <a:t>14=a20+b</a:t>
            </a:r>
          </a:p>
          <a:p>
            <a:endParaRPr lang="en-US" dirty="0"/>
          </a:p>
          <a:p>
            <a:r>
              <a:rPr lang="en-US" dirty="0"/>
              <a:t>a=3</a:t>
            </a:r>
          </a:p>
          <a:p>
            <a:endParaRPr lang="en-US" dirty="0"/>
          </a:p>
          <a:p>
            <a:r>
              <a:rPr lang="en-US" dirty="0"/>
              <a:t>B=11-3*19= -46+52=6 </a:t>
            </a:r>
          </a:p>
        </p:txBody>
      </p:sp>
      <p:sp>
        <p:nvSpPr>
          <p:cNvPr id="4" name="Slide Number Placeholder 3"/>
          <p:cNvSpPr>
            <a:spLocks noGrp="1"/>
          </p:cNvSpPr>
          <p:nvPr>
            <p:ph type="sldNum" sz="quarter" idx="10"/>
          </p:nvPr>
        </p:nvSpPr>
        <p:spPr/>
        <p:txBody>
          <a:bodyPr/>
          <a:lstStyle/>
          <a:p>
            <a:fld id="{168014FF-01F7-47CB-AFFE-9356DF0CC689}" type="slidenum">
              <a:rPr lang="en-AU" smtClean="0"/>
              <a:pPr/>
              <a:t>7</a:t>
            </a:fld>
            <a:endParaRPr lang="en-AU"/>
          </a:p>
        </p:txBody>
      </p:sp>
    </p:spTree>
    <p:extLst>
      <p:ext uri="{BB962C8B-B14F-4D97-AF65-F5344CB8AC3E}">
        <p14:creationId xmlns:p14="http://schemas.microsoft.com/office/powerpoint/2010/main" val="3678519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168014FF-01F7-47CB-AFFE-9356DF0CC689}" type="slidenum">
              <a:rPr lang="en-AU" smtClean="0"/>
              <a:pPr/>
              <a:t>11</a:t>
            </a:fld>
            <a:endParaRPr lang="en-AU"/>
          </a:p>
        </p:txBody>
      </p:sp>
    </p:spTree>
    <p:extLst>
      <p:ext uri="{BB962C8B-B14F-4D97-AF65-F5344CB8AC3E}">
        <p14:creationId xmlns:p14="http://schemas.microsoft.com/office/powerpoint/2010/main" val="12570701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8014FF-01F7-47CB-AFFE-9356DF0CC689}" type="slidenum">
              <a:rPr lang="en-AU" smtClean="0"/>
              <a:pPr/>
              <a:t>14</a:t>
            </a:fld>
            <a:endParaRPr lang="en-AU"/>
          </a:p>
        </p:txBody>
      </p:sp>
    </p:spTree>
    <p:extLst>
      <p:ext uri="{BB962C8B-B14F-4D97-AF65-F5344CB8AC3E}">
        <p14:creationId xmlns:p14="http://schemas.microsoft.com/office/powerpoint/2010/main" val="29484241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a:t>
            </a:r>
          </a:p>
        </p:txBody>
      </p:sp>
      <p:sp>
        <p:nvSpPr>
          <p:cNvPr id="4" name="Slide Number Placeholder 3"/>
          <p:cNvSpPr>
            <a:spLocks noGrp="1"/>
          </p:cNvSpPr>
          <p:nvPr>
            <p:ph type="sldNum" sz="quarter" idx="10"/>
          </p:nvPr>
        </p:nvSpPr>
        <p:spPr/>
        <p:txBody>
          <a:bodyPr/>
          <a:lstStyle/>
          <a:p>
            <a:fld id="{168014FF-01F7-47CB-AFFE-9356DF0CC689}" type="slidenum">
              <a:rPr lang="en-AU" smtClean="0"/>
              <a:pPr/>
              <a:t>19</a:t>
            </a:fld>
            <a:endParaRPr lang="en-AU"/>
          </a:p>
        </p:txBody>
      </p:sp>
    </p:spTree>
    <p:extLst>
      <p:ext uri="{BB962C8B-B14F-4D97-AF65-F5344CB8AC3E}">
        <p14:creationId xmlns:p14="http://schemas.microsoft.com/office/powerpoint/2010/main" val="1393449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a:t>
            </a:r>
          </a:p>
        </p:txBody>
      </p:sp>
      <p:sp>
        <p:nvSpPr>
          <p:cNvPr id="4" name="Slide Number Placeholder 3"/>
          <p:cNvSpPr>
            <a:spLocks noGrp="1"/>
          </p:cNvSpPr>
          <p:nvPr>
            <p:ph type="sldNum" sz="quarter" idx="10"/>
          </p:nvPr>
        </p:nvSpPr>
        <p:spPr/>
        <p:txBody>
          <a:bodyPr/>
          <a:lstStyle/>
          <a:p>
            <a:fld id="{168014FF-01F7-47CB-AFFE-9356DF0CC689}" type="slidenum">
              <a:rPr lang="en-AU" smtClean="0"/>
              <a:pPr/>
              <a:t>20</a:t>
            </a:fld>
            <a:endParaRPr lang="en-AU"/>
          </a:p>
        </p:txBody>
      </p:sp>
    </p:spTree>
    <p:extLst>
      <p:ext uri="{BB962C8B-B14F-4D97-AF65-F5344CB8AC3E}">
        <p14:creationId xmlns:p14="http://schemas.microsoft.com/office/powerpoint/2010/main" val="31125798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a:t>
            </a:r>
          </a:p>
        </p:txBody>
      </p:sp>
      <p:sp>
        <p:nvSpPr>
          <p:cNvPr id="4" name="Slide Number Placeholder 3"/>
          <p:cNvSpPr>
            <a:spLocks noGrp="1"/>
          </p:cNvSpPr>
          <p:nvPr>
            <p:ph type="sldNum" sz="quarter" idx="10"/>
          </p:nvPr>
        </p:nvSpPr>
        <p:spPr/>
        <p:txBody>
          <a:bodyPr/>
          <a:lstStyle/>
          <a:p>
            <a:fld id="{168014FF-01F7-47CB-AFFE-9356DF0CC689}" type="slidenum">
              <a:rPr lang="en-AU" smtClean="0"/>
              <a:pPr/>
              <a:t>21</a:t>
            </a:fld>
            <a:endParaRPr lang="en-AU"/>
          </a:p>
        </p:txBody>
      </p:sp>
    </p:spTree>
    <p:extLst>
      <p:ext uri="{BB962C8B-B14F-4D97-AF65-F5344CB8AC3E}">
        <p14:creationId xmlns:p14="http://schemas.microsoft.com/office/powerpoint/2010/main" val="13976632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a:t>
            </a:r>
          </a:p>
        </p:txBody>
      </p:sp>
      <p:sp>
        <p:nvSpPr>
          <p:cNvPr id="4" name="Slide Number Placeholder 3"/>
          <p:cNvSpPr>
            <a:spLocks noGrp="1"/>
          </p:cNvSpPr>
          <p:nvPr>
            <p:ph type="sldNum" sz="quarter" idx="10"/>
          </p:nvPr>
        </p:nvSpPr>
        <p:spPr/>
        <p:txBody>
          <a:bodyPr/>
          <a:lstStyle/>
          <a:p>
            <a:fld id="{168014FF-01F7-47CB-AFFE-9356DF0CC689}" type="slidenum">
              <a:rPr lang="en-AU" smtClean="0"/>
              <a:pPr/>
              <a:t>22</a:t>
            </a:fld>
            <a:endParaRPr lang="en-AU"/>
          </a:p>
        </p:txBody>
      </p:sp>
    </p:spTree>
    <p:extLst>
      <p:ext uri="{BB962C8B-B14F-4D97-AF65-F5344CB8AC3E}">
        <p14:creationId xmlns:p14="http://schemas.microsoft.com/office/powerpoint/2010/main" val="26434471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a:t>
            </a:r>
          </a:p>
        </p:txBody>
      </p:sp>
      <p:sp>
        <p:nvSpPr>
          <p:cNvPr id="4" name="Slide Number Placeholder 3"/>
          <p:cNvSpPr>
            <a:spLocks noGrp="1"/>
          </p:cNvSpPr>
          <p:nvPr>
            <p:ph type="sldNum" sz="quarter" idx="10"/>
          </p:nvPr>
        </p:nvSpPr>
        <p:spPr/>
        <p:txBody>
          <a:bodyPr/>
          <a:lstStyle/>
          <a:p>
            <a:fld id="{168014FF-01F7-47CB-AFFE-9356DF0CC689}" type="slidenum">
              <a:rPr lang="en-AU" smtClean="0"/>
              <a:pPr/>
              <a:t>23</a:t>
            </a:fld>
            <a:endParaRPr lang="en-AU"/>
          </a:p>
        </p:txBody>
      </p:sp>
    </p:spTree>
    <p:extLst>
      <p:ext uri="{BB962C8B-B14F-4D97-AF65-F5344CB8AC3E}">
        <p14:creationId xmlns:p14="http://schemas.microsoft.com/office/powerpoint/2010/main" val="29562499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
            </a:r>
            <a:r>
              <a:rPr lang="en-US" baseline="0" dirty="0"/>
              <a:t> factorial.</a:t>
            </a:r>
            <a:endParaRPr lang="en-US" dirty="0"/>
          </a:p>
        </p:txBody>
      </p:sp>
      <p:sp>
        <p:nvSpPr>
          <p:cNvPr id="4" name="Slide Number Placeholder 3"/>
          <p:cNvSpPr>
            <a:spLocks noGrp="1"/>
          </p:cNvSpPr>
          <p:nvPr>
            <p:ph type="sldNum" sz="quarter" idx="10"/>
          </p:nvPr>
        </p:nvSpPr>
        <p:spPr/>
        <p:txBody>
          <a:bodyPr/>
          <a:lstStyle/>
          <a:p>
            <a:fld id="{168014FF-01F7-47CB-AFFE-9356DF0CC689}" type="slidenum">
              <a:rPr lang="en-AU" smtClean="0"/>
              <a:pPr/>
              <a:t>24</a:t>
            </a:fld>
            <a:endParaRPr lang="en-AU"/>
          </a:p>
        </p:txBody>
      </p:sp>
    </p:spTree>
    <p:extLst>
      <p:ext uri="{BB962C8B-B14F-4D97-AF65-F5344CB8AC3E}">
        <p14:creationId xmlns:p14="http://schemas.microsoft.com/office/powerpoint/2010/main" val="9314630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8014FF-01F7-47CB-AFFE-9356DF0CC689}" type="slidenum">
              <a:rPr lang="en-AU" smtClean="0"/>
              <a:pPr/>
              <a:t>25</a:t>
            </a:fld>
            <a:endParaRPr lang="en-AU"/>
          </a:p>
        </p:txBody>
      </p:sp>
    </p:spTree>
    <p:extLst>
      <p:ext uri="{BB962C8B-B14F-4D97-AF65-F5344CB8AC3E}">
        <p14:creationId xmlns:p14="http://schemas.microsoft.com/office/powerpoint/2010/main" val="13685802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National Institute of Standards and Technology </a:t>
            </a:r>
          </a:p>
        </p:txBody>
      </p:sp>
      <p:sp>
        <p:nvSpPr>
          <p:cNvPr id="4" name="Slide Number Placeholder 3"/>
          <p:cNvSpPr>
            <a:spLocks noGrp="1"/>
          </p:cNvSpPr>
          <p:nvPr>
            <p:ph type="sldNum" sz="quarter" idx="10"/>
          </p:nvPr>
        </p:nvSpPr>
        <p:spPr/>
        <p:txBody>
          <a:bodyPr/>
          <a:lstStyle/>
          <a:p>
            <a:fld id="{168014FF-01F7-47CB-AFFE-9356DF0CC689}" type="slidenum">
              <a:rPr lang="en-AU" smtClean="0"/>
              <a:pPr/>
              <a:t>26</a:t>
            </a:fld>
            <a:endParaRPr lang="en-AU"/>
          </a:p>
        </p:txBody>
      </p:sp>
    </p:spTree>
    <p:extLst>
      <p:ext uri="{BB962C8B-B14F-4D97-AF65-F5344CB8AC3E}">
        <p14:creationId xmlns:p14="http://schemas.microsoft.com/office/powerpoint/2010/main" val="38752814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cryptography, a </a:t>
            </a:r>
            <a:r>
              <a:rPr lang="en-US" dirty="0" err="1"/>
              <a:t>Feistel</a:t>
            </a:r>
            <a:r>
              <a:rPr lang="en-US" dirty="0"/>
              <a:t> cipher is a symmetric structure used in the construction of block ciphers, named after the German-born physicist and cryptographer Horst </a:t>
            </a:r>
            <a:r>
              <a:rPr lang="en-US" dirty="0" err="1"/>
              <a:t>Feistel</a:t>
            </a:r>
            <a:r>
              <a:rPr lang="en-US" dirty="0"/>
              <a:t> who did pioneering research while working for IBM (USA); it is also commonly known as a </a:t>
            </a:r>
            <a:r>
              <a:rPr lang="en-US" dirty="0" err="1"/>
              <a:t>Feistel</a:t>
            </a:r>
            <a:r>
              <a:rPr lang="en-US" dirty="0"/>
              <a:t> network. </a:t>
            </a:r>
          </a:p>
        </p:txBody>
      </p:sp>
      <p:sp>
        <p:nvSpPr>
          <p:cNvPr id="4" name="Slide Number Placeholder 3"/>
          <p:cNvSpPr>
            <a:spLocks noGrp="1"/>
          </p:cNvSpPr>
          <p:nvPr>
            <p:ph type="sldNum" sz="quarter" idx="10"/>
          </p:nvPr>
        </p:nvSpPr>
        <p:spPr/>
        <p:txBody>
          <a:bodyPr/>
          <a:lstStyle/>
          <a:p>
            <a:fld id="{367F031C-3B75-264B-B2EF-70CC4F820DDA}" type="slidenum">
              <a:rPr lang="en-US" smtClean="0"/>
              <a:t>27</a:t>
            </a:fld>
            <a:endParaRPr lang="en-US"/>
          </a:p>
        </p:txBody>
      </p:sp>
    </p:spTree>
    <p:extLst>
      <p:ext uri="{BB962C8B-B14F-4D97-AF65-F5344CB8AC3E}">
        <p14:creationId xmlns:p14="http://schemas.microsoft.com/office/powerpoint/2010/main" val="30214759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Mohammad Musa, Edward Schaefer, and Stephen </a:t>
            </a:r>
            <a:r>
              <a:rPr lang="en-AU" dirty="0" err="1"/>
              <a:t>Wedig</a:t>
            </a:r>
            <a:r>
              <a:rPr lang="en-AU" dirty="0"/>
              <a:t>, A simplified AES algorithm and its linear and differential cryptanalyses, </a:t>
            </a:r>
            <a:r>
              <a:rPr lang="en-AU" dirty="0" err="1"/>
              <a:t>Cryptologia</a:t>
            </a:r>
            <a:r>
              <a:rPr lang="en-AU" dirty="0"/>
              <a:t> 27 (April 2003), 148–177.</a:t>
            </a:r>
          </a:p>
          <a:p>
            <a:endParaRPr lang="en-AU" dirty="0"/>
          </a:p>
          <a:p>
            <a:r>
              <a:rPr lang="en-AU" dirty="0"/>
              <a:t>https://</a:t>
            </a:r>
            <a:r>
              <a:rPr lang="en-AU" dirty="0" err="1"/>
              <a:t>sandilands.info</a:t>
            </a:r>
            <a:r>
              <a:rPr lang="en-AU" dirty="0"/>
              <a:t>/</a:t>
            </a:r>
            <a:r>
              <a:rPr lang="en-AU" dirty="0" err="1"/>
              <a:t>sgordon</a:t>
            </a:r>
            <a:r>
              <a:rPr lang="en-AU" dirty="0"/>
              <a:t>/teaching/reports/simplified-</a:t>
            </a:r>
            <a:r>
              <a:rPr lang="en-AU" dirty="0" err="1"/>
              <a:t>aes</a:t>
            </a:r>
            <a:r>
              <a:rPr lang="en-AU" dirty="0"/>
              <a:t>-</a:t>
            </a:r>
            <a:r>
              <a:rPr lang="en-AU" dirty="0" err="1"/>
              <a:t>example.pdf</a:t>
            </a:r>
            <a:endParaRPr lang="en-AU" dirty="0"/>
          </a:p>
          <a:p>
            <a:endParaRPr lang="en-AU" dirty="0"/>
          </a:p>
          <a:p>
            <a:endParaRPr lang="en-AU" dirty="0"/>
          </a:p>
        </p:txBody>
      </p:sp>
      <p:sp>
        <p:nvSpPr>
          <p:cNvPr id="4" name="Slide Number Placeholder 3"/>
          <p:cNvSpPr>
            <a:spLocks noGrp="1"/>
          </p:cNvSpPr>
          <p:nvPr>
            <p:ph type="sldNum" sz="quarter" idx="10"/>
          </p:nvPr>
        </p:nvSpPr>
        <p:spPr/>
        <p:txBody>
          <a:bodyPr/>
          <a:lstStyle/>
          <a:p>
            <a:fld id="{168014FF-01F7-47CB-AFFE-9356DF0CC689}" type="slidenum">
              <a:rPr lang="en-AU" smtClean="0"/>
              <a:pPr/>
              <a:t>28</a:t>
            </a:fld>
            <a:endParaRPr lang="en-AU"/>
          </a:p>
        </p:txBody>
      </p:sp>
    </p:spTree>
    <p:extLst>
      <p:ext uri="{BB962C8B-B14F-4D97-AF65-F5344CB8AC3E}">
        <p14:creationId xmlns:p14="http://schemas.microsoft.com/office/powerpoint/2010/main" val="36513905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168014FF-01F7-47CB-AFFE-9356DF0CC689}" type="slidenum">
              <a:rPr lang="en-AU" smtClean="0"/>
              <a:pPr/>
              <a:t>29</a:t>
            </a:fld>
            <a:endParaRPr lang="en-AU"/>
          </a:p>
        </p:txBody>
      </p:sp>
    </p:spTree>
    <p:extLst>
      <p:ext uri="{BB962C8B-B14F-4D97-AF65-F5344CB8AC3E}">
        <p14:creationId xmlns:p14="http://schemas.microsoft.com/office/powerpoint/2010/main" val="27389959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5871">
              <a:defRPr/>
            </a:pPr>
            <a:r>
              <a:rPr lang="en-AU" dirty="0"/>
              <a:t>In computing, a nibble (often </a:t>
            </a:r>
            <a:r>
              <a:rPr lang="en-AU" dirty="0" err="1"/>
              <a:t>nybble</a:t>
            </a:r>
            <a:r>
              <a:rPr lang="en-AU" dirty="0"/>
              <a:t> or even </a:t>
            </a:r>
            <a:r>
              <a:rPr lang="en-AU" dirty="0" err="1"/>
              <a:t>nyble</a:t>
            </a:r>
            <a:r>
              <a:rPr lang="en-AU" dirty="0"/>
              <a:t> to match the vowels of byte) is a four-bit aggregation, or half an octet. As a nibble contains 4 bits, there are sixteen (24) possible values, so a nibble corresponds to a single hexadecimal digit (thus, it is often referred to as a "hex digit" or "</a:t>
            </a:r>
            <a:r>
              <a:rPr lang="en-AU" dirty="0" err="1"/>
              <a:t>hexit</a:t>
            </a:r>
            <a:r>
              <a:rPr lang="en-AU" dirty="0"/>
              <a:t>").</a:t>
            </a:r>
          </a:p>
          <a:p>
            <a:pPr defTabSz="885871">
              <a:defRPr/>
            </a:pPr>
            <a:endParaRPr lang="en-AU" dirty="0"/>
          </a:p>
          <a:p>
            <a:endParaRPr lang="en-AU" dirty="0"/>
          </a:p>
        </p:txBody>
      </p:sp>
      <p:sp>
        <p:nvSpPr>
          <p:cNvPr id="4" name="Slide Number Placeholder 3"/>
          <p:cNvSpPr>
            <a:spLocks noGrp="1"/>
          </p:cNvSpPr>
          <p:nvPr>
            <p:ph type="sldNum" sz="quarter" idx="10"/>
          </p:nvPr>
        </p:nvSpPr>
        <p:spPr/>
        <p:txBody>
          <a:bodyPr/>
          <a:lstStyle/>
          <a:p>
            <a:fld id="{168014FF-01F7-47CB-AFFE-9356DF0CC689}" type="slidenum">
              <a:rPr lang="en-AU" smtClean="0"/>
              <a:pPr/>
              <a:t>32</a:t>
            </a:fld>
            <a:endParaRPr lang="en-AU"/>
          </a:p>
        </p:txBody>
      </p:sp>
    </p:spTree>
    <p:extLst>
      <p:ext uri="{BB962C8B-B14F-4D97-AF65-F5344CB8AC3E}">
        <p14:creationId xmlns:p14="http://schemas.microsoft.com/office/powerpoint/2010/main" val="15961449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168014FF-01F7-47CB-AFFE-9356DF0CC689}" type="slidenum">
              <a:rPr lang="en-AU" smtClean="0"/>
              <a:pPr/>
              <a:t>33</a:t>
            </a:fld>
            <a:endParaRPr lang="en-AU"/>
          </a:p>
        </p:txBody>
      </p:sp>
    </p:spTree>
    <p:extLst>
      <p:ext uri="{BB962C8B-B14F-4D97-AF65-F5344CB8AC3E}">
        <p14:creationId xmlns:p14="http://schemas.microsoft.com/office/powerpoint/2010/main" val="35700955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Duel: a prearranged contest with deadly weapons between two people in order to settle a point of </a:t>
            </a:r>
            <a:r>
              <a:rPr lang="en-US" dirty="0" err="1"/>
              <a:t>honour</a:t>
            </a:r>
            <a:r>
              <a:rPr lang="en-US" dirty="0"/>
              <a:t>. </a:t>
            </a:r>
          </a:p>
        </p:txBody>
      </p:sp>
      <p:sp>
        <p:nvSpPr>
          <p:cNvPr id="4" name="Slide Number Placeholder 3"/>
          <p:cNvSpPr>
            <a:spLocks noGrp="1"/>
          </p:cNvSpPr>
          <p:nvPr>
            <p:ph type="sldNum" sz="quarter" idx="10"/>
          </p:nvPr>
        </p:nvSpPr>
        <p:spPr/>
        <p:txBody>
          <a:bodyPr/>
          <a:lstStyle/>
          <a:p>
            <a:fld id="{367F031C-3B75-264B-B2EF-70CC4F820DDA}" type="slidenum">
              <a:rPr lang="en-US" smtClean="0"/>
              <a:t>35</a:t>
            </a:fld>
            <a:endParaRPr lang="en-US"/>
          </a:p>
        </p:txBody>
      </p:sp>
    </p:spTree>
    <p:extLst>
      <p:ext uri="{BB962C8B-B14F-4D97-AF65-F5344CB8AC3E}">
        <p14:creationId xmlns:p14="http://schemas.microsoft.com/office/powerpoint/2010/main" val="42938107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3200" dirty="0"/>
              <a:t>Galois Field GF(2m) Calculator</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3200" dirty="0"/>
          </a:p>
          <a:p>
            <a:pPr marL="0" marR="0" indent="0" algn="l" defTabSz="457200" rtl="0" eaLnBrk="1" fontAlgn="auto" latinLnBrk="0" hangingPunct="1">
              <a:lnSpc>
                <a:spcPct val="100000"/>
              </a:lnSpc>
              <a:spcBef>
                <a:spcPts val="0"/>
              </a:spcBef>
              <a:spcAft>
                <a:spcPts val="0"/>
              </a:spcAft>
              <a:buClrTx/>
              <a:buSzTx/>
              <a:buFontTx/>
              <a:buNone/>
              <a:tabLst/>
              <a:defRPr/>
            </a:pPr>
            <a:r>
              <a:rPr lang="en-US" sz="3200" dirty="0"/>
              <a:t>http://</a:t>
            </a:r>
            <a:r>
              <a:rPr lang="en-US" sz="3200" dirty="0" err="1"/>
              <a:t>www.ece.unb.ca</a:t>
            </a:r>
            <a:r>
              <a:rPr lang="en-US" sz="3200" dirty="0"/>
              <a:t>/</a:t>
            </a:r>
            <a:r>
              <a:rPr lang="en-US" sz="3200" dirty="0" err="1"/>
              <a:t>cgi</a:t>
            </a:r>
            <a:r>
              <a:rPr lang="en-US" sz="3200" dirty="0"/>
              <a:t>-bin/</a:t>
            </a:r>
            <a:r>
              <a:rPr lang="en-US" sz="3200" dirty="0" err="1"/>
              <a:t>tervo</a:t>
            </a:r>
            <a:r>
              <a:rPr lang="en-US" sz="3200" dirty="0"/>
              <a:t>/calc2.pl </a:t>
            </a:r>
          </a:p>
        </p:txBody>
      </p:sp>
      <p:sp>
        <p:nvSpPr>
          <p:cNvPr id="4" name="Slide Number Placeholder 3"/>
          <p:cNvSpPr>
            <a:spLocks noGrp="1"/>
          </p:cNvSpPr>
          <p:nvPr>
            <p:ph type="sldNum" sz="quarter" idx="10"/>
          </p:nvPr>
        </p:nvSpPr>
        <p:spPr/>
        <p:txBody>
          <a:bodyPr/>
          <a:lstStyle/>
          <a:p>
            <a:fld id="{367F031C-3B75-264B-B2EF-70CC4F820DDA}" type="slidenum">
              <a:rPr lang="en-US" smtClean="0"/>
              <a:t>36</a:t>
            </a:fld>
            <a:endParaRPr lang="en-US"/>
          </a:p>
        </p:txBody>
      </p:sp>
    </p:spTree>
    <p:extLst>
      <p:ext uri="{BB962C8B-B14F-4D97-AF65-F5344CB8AC3E}">
        <p14:creationId xmlns:p14="http://schemas.microsoft.com/office/powerpoint/2010/main" val="15476381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3200" dirty="0"/>
          </a:p>
        </p:txBody>
      </p:sp>
      <p:sp>
        <p:nvSpPr>
          <p:cNvPr id="4" name="Slide Number Placeholder 3"/>
          <p:cNvSpPr>
            <a:spLocks noGrp="1"/>
          </p:cNvSpPr>
          <p:nvPr>
            <p:ph type="sldNum" sz="quarter" idx="10"/>
          </p:nvPr>
        </p:nvSpPr>
        <p:spPr/>
        <p:txBody>
          <a:bodyPr/>
          <a:lstStyle/>
          <a:p>
            <a:fld id="{367F031C-3B75-264B-B2EF-70CC4F820DDA}" type="slidenum">
              <a:rPr lang="en-US" smtClean="0"/>
              <a:t>37</a:t>
            </a:fld>
            <a:endParaRPr lang="en-US"/>
          </a:p>
        </p:txBody>
      </p:sp>
    </p:spTree>
    <p:extLst>
      <p:ext uri="{BB962C8B-B14F-4D97-AF65-F5344CB8AC3E}">
        <p14:creationId xmlns:p14="http://schemas.microsoft.com/office/powerpoint/2010/main" val="555003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3200" dirty="0"/>
              <a:t>Galois Field GF(2m) Calculator</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3200" dirty="0"/>
          </a:p>
          <a:p>
            <a:pPr marL="0" marR="0" indent="0" algn="l" defTabSz="457200" rtl="0" eaLnBrk="1" fontAlgn="auto" latinLnBrk="0" hangingPunct="1">
              <a:lnSpc>
                <a:spcPct val="100000"/>
              </a:lnSpc>
              <a:spcBef>
                <a:spcPts val="0"/>
              </a:spcBef>
              <a:spcAft>
                <a:spcPts val="0"/>
              </a:spcAft>
              <a:buClrTx/>
              <a:buSzTx/>
              <a:buFontTx/>
              <a:buNone/>
              <a:tabLst/>
              <a:defRPr/>
            </a:pPr>
            <a:r>
              <a:rPr lang="en-US" sz="3200" dirty="0"/>
              <a:t>http://</a:t>
            </a:r>
            <a:r>
              <a:rPr lang="en-US" sz="3200" dirty="0" err="1"/>
              <a:t>www.ece.unb.ca</a:t>
            </a:r>
            <a:r>
              <a:rPr lang="en-US" sz="3200" dirty="0"/>
              <a:t>/</a:t>
            </a:r>
            <a:r>
              <a:rPr lang="en-US" sz="3200" dirty="0" err="1"/>
              <a:t>cgi</a:t>
            </a:r>
            <a:r>
              <a:rPr lang="en-US" sz="3200" dirty="0"/>
              <a:t>-bin/</a:t>
            </a:r>
            <a:r>
              <a:rPr lang="en-US" sz="3200" dirty="0" err="1"/>
              <a:t>tervo</a:t>
            </a:r>
            <a:r>
              <a:rPr lang="en-US" sz="3200" dirty="0"/>
              <a:t>/calc2.pl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3200" dirty="0"/>
          </a:p>
        </p:txBody>
      </p:sp>
      <p:sp>
        <p:nvSpPr>
          <p:cNvPr id="4" name="Slide Number Placeholder 3"/>
          <p:cNvSpPr>
            <a:spLocks noGrp="1"/>
          </p:cNvSpPr>
          <p:nvPr>
            <p:ph type="sldNum" sz="quarter" idx="10"/>
          </p:nvPr>
        </p:nvSpPr>
        <p:spPr/>
        <p:txBody>
          <a:bodyPr/>
          <a:lstStyle/>
          <a:p>
            <a:fld id="{367F031C-3B75-264B-B2EF-70CC4F820DDA}" type="slidenum">
              <a:rPr lang="en-US" smtClean="0"/>
              <a:t>38</a:t>
            </a:fld>
            <a:endParaRPr lang="en-US"/>
          </a:p>
        </p:txBody>
      </p:sp>
    </p:spTree>
    <p:extLst>
      <p:ext uri="{BB962C8B-B14F-4D97-AF65-F5344CB8AC3E}">
        <p14:creationId xmlns:p14="http://schemas.microsoft.com/office/powerpoint/2010/main" val="22405456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Key expansion is done very similarly to AES. The four nibbles in the key</a:t>
            </a:r>
          </a:p>
          <a:p>
            <a:r>
              <a:rPr lang="en-AU" dirty="0"/>
              <a:t>are grouped into two 8-bit “words”, which will be expanded into 6 words. The first part of the</a:t>
            </a:r>
          </a:p>
          <a:p>
            <a:r>
              <a:rPr lang="en-AU" dirty="0"/>
              <a:t>expansion, which produces the third and fourth words, is shown below. The rest of the expansion</a:t>
            </a:r>
          </a:p>
          <a:p>
            <a:r>
              <a:rPr lang="en-AU" dirty="0"/>
              <a:t>is done in exactly the same way, replacing W0 and W1 with W2 and W3, and replacing W2 and W3</a:t>
            </a:r>
          </a:p>
          <a:p>
            <a:r>
              <a:rPr lang="en-AU" dirty="0"/>
              <a:t>with W4 and W5.</a:t>
            </a:r>
          </a:p>
          <a:p>
            <a:endParaRPr lang="en-AU" dirty="0"/>
          </a:p>
          <a:p>
            <a:r>
              <a:rPr lang="en-AU" dirty="0"/>
              <a:t>The g function is shown in the next diagram. It is very similar to AES, first rotating the nibbles</a:t>
            </a:r>
          </a:p>
          <a:p>
            <a:r>
              <a:rPr lang="en-AU" dirty="0"/>
              <a:t>and then putting them through the S-boxes. The main difference is that the round constant is</a:t>
            </a:r>
          </a:p>
          <a:p>
            <a:r>
              <a:rPr lang="en-AU" dirty="0"/>
              <a:t>produced using x^{j+2}, where j is the number of the round of expansion. That is, the first time you</a:t>
            </a:r>
          </a:p>
          <a:p>
            <a:r>
              <a:rPr lang="en-AU" dirty="0"/>
              <a:t>expand the key you use a round constant of x3 = 1000 for the first nibble and 0000 for the second</a:t>
            </a:r>
          </a:p>
          <a:p>
            <a:r>
              <a:rPr lang="en-AU" dirty="0"/>
              <a:t>nibble. The second time you use x4 = 0011 for the first nibble and 0000 for the second nibble.</a:t>
            </a:r>
          </a:p>
          <a:p>
            <a:endParaRPr lang="en-AU" dirty="0"/>
          </a:p>
          <a:p>
            <a:endParaRPr lang="en-AU" dirty="0"/>
          </a:p>
        </p:txBody>
      </p:sp>
      <p:sp>
        <p:nvSpPr>
          <p:cNvPr id="4" name="Slide Number Placeholder 3"/>
          <p:cNvSpPr>
            <a:spLocks noGrp="1"/>
          </p:cNvSpPr>
          <p:nvPr>
            <p:ph type="sldNum" sz="quarter" idx="10"/>
          </p:nvPr>
        </p:nvSpPr>
        <p:spPr/>
        <p:txBody>
          <a:bodyPr/>
          <a:lstStyle/>
          <a:p>
            <a:fld id="{168014FF-01F7-47CB-AFFE-9356DF0CC689}" type="slidenum">
              <a:rPr lang="en-AU" smtClean="0"/>
              <a:pPr/>
              <a:t>39</a:t>
            </a:fld>
            <a:endParaRPr lang="en-AU"/>
          </a:p>
        </p:txBody>
      </p:sp>
    </p:spTree>
    <p:extLst>
      <p:ext uri="{BB962C8B-B14F-4D97-AF65-F5344CB8AC3E}">
        <p14:creationId xmlns:p14="http://schemas.microsoft.com/office/powerpoint/2010/main" val="38992356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168014FF-01F7-47CB-AFFE-9356DF0CC689}" type="slidenum">
              <a:rPr lang="en-AU" smtClean="0"/>
              <a:pPr/>
              <a:t>40</a:t>
            </a:fld>
            <a:endParaRPr lang="en-AU"/>
          </a:p>
        </p:txBody>
      </p:sp>
    </p:spTree>
    <p:extLst>
      <p:ext uri="{BB962C8B-B14F-4D97-AF65-F5344CB8AC3E}">
        <p14:creationId xmlns:p14="http://schemas.microsoft.com/office/powerpoint/2010/main" val="7307885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rotWithShape="0">
          <a:gsLst>
            <a:gs pos="0">
              <a:schemeClr val="bg2"/>
            </a:gs>
            <a:gs pos="50000">
              <a:schemeClr val="bg1"/>
            </a:gs>
            <a:gs pos="100000">
              <a:schemeClr val="bg2"/>
            </a:gs>
          </a:gsLst>
          <a:lin ang="5400000" scaled="1"/>
        </a:gradFill>
        <a:effectLst/>
      </p:bgPr>
    </p:bg>
    <p:spTree>
      <p:nvGrpSpPr>
        <p:cNvPr id="1" name=""/>
        <p:cNvGrpSpPr/>
        <p:nvPr/>
      </p:nvGrpSpPr>
      <p:grpSpPr>
        <a:xfrm>
          <a:off x="0" y="0"/>
          <a:ext cx="0" cy="0"/>
          <a:chOff x="0" y="0"/>
          <a:chExt cx="0" cy="0"/>
        </a:xfrm>
      </p:grpSpPr>
      <p:grpSp>
        <p:nvGrpSpPr>
          <p:cNvPr id="3074" name="Group 2"/>
          <p:cNvGrpSpPr>
            <a:grpSpLocks/>
          </p:cNvGrpSpPr>
          <p:nvPr/>
        </p:nvGrpSpPr>
        <p:grpSpPr bwMode="auto">
          <a:xfrm>
            <a:off x="0" y="0"/>
            <a:ext cx="1828800" cy="6856413"/>
            <a:chOff x="0" y="0"/>
            <a:chExt cx="1152" cy="4319"/>
          </a:xfrm>
        </p:grpSpPr>
        <p:sp>
          <p:nvSpPr>
            <p:cNvPr id="3075" name="Rectangle 3"/>
            <p:cNvSpPr>
              <a:spLocks noChangeArrowheads="1"/>
            </p:cNvSpPr>
            <p:nvPr/>
          </p:nvSpPr>
          <p:spPr bwMode="auto">
            <a:xfrm>
              <a:off x="0" y="0"/>
              <a:ext cx="1152" cy="1026"/>
            </a:xfrm>
            <a:prstGeom prst="rect">
              <a:avLst/>
            </a:prstGeom>
            <a:gradFill rotWithShape="0">
              <a:gsLst>
                <a:gs pos="0">
                  <a:schemeClr val="bg2"/>
                </a:gs>
                <a:gs pos="100000">
                  <a:schemeClr val="accent1"/>
                </a:gs>
              </a:gsLst>
              <a:lin ang="5400000" scaled="1"/>
            </a:gradFill>
            <a:ln w="9525">
              <a:noFill/>
              <a:miter lim="800000"/>
              <a:headEnd/>
              <a:tailEnd/>
            </a:ln>
            <a:effectLst/>
          </p:spPr>
          <p:txBody>
            <a:bodyPr wrap="none" lIns="92075" tIns="46038" rIns="92075" bIns="46038" anchor="ctr"/>
            <a:lstStyle/>
            <a:p>
              <a:pPr eaLnBrk="0" hangingPunct="0">
                <a:spcBef>
                  <a:spcPct val="50000"/>
                </a:spcBef>
              </a:pPr>
              <a:endParaRPr lang="en-US"/>
            </a:p>
          </p:txBody>
        </p:sp>
        <p:sp>
          <p:nvSpPr>
            <p:cNvPr id="3076" name="Rectangle 4"/>
            <p:cNvSpPr>
              <a:spLocks noChangeArrowheads="1"/>
            </p:cNvSpPr>
            <p:nvPr/>
          </p:nvSpPr>
          <p:spPr bwMode="auto">
            <a:xfrm>
              <a:off x="0" y="2400"/>
              <a:ext cx="1152" cy="1919"/>
            </a:xfrm>
            <a:prstGeom prst="rect">
              <a:avLst/>
            </a:prstGeom>
            <a:gradFill rotWithShape="0">
              <a:gsLst>
                <a:gs pos="0">
                  <a:schemeClr val="accent1"/>
                </a:gs>
                <a:gs pos="100000">
                  <a:schemeClr val="bg2"/>
                </a:gs>
              </a:gsLst>
              <a:lin ang="5400000" scaled="1"/>
            </a:gradFill>
            <a:ln w="9525">
              <a:noFill/>
              <a:miter lim="800000"/>
              <a:headEnd/>
              <a:tailEnd/>
            </a:ln>
            <a:effectLst/>
          </p:spPr>
          <p:txBody>
            <a:bodyPr wrap="none" lIns="92075" tIns="46038" rIns="92075" bIns="46038" anchor="ctr"/>
            <a:lstStyle/>
            <a:p>
              <a:pPr eaLnBrk="0" hangingPunct="0">
                <a:spcBef>
                  <a:spcPct val="50000"/>
                </a:spcBef>
              </a:pPr>
              <a:endParaRPr lang="en-US"/>
            </a:p>
          </p:txBody>
        </p:sp>
        <p:pic>
          <p:nvPicPr>
            <p:cNvPr id="3077" name="Picture 5"/>
            <p:cNvPicPr>
              <a:picLocks noChangeArrowheads="1"/>
            </p:cNvPicPr>
            <p:nvPr/>
          </p:nvPicPr>
          <p:blipFill>
            <a:blip r:embed="rId2" cstate="print"/>
            <a:srcRect/>
            <a:stretch>
              <a:fillRect/>
            </a:stretch>
          </p:blipFill>
          <p:spPr bwMode="auto">
            <a:xfrm>
              <a:off x="0" y="1028"/>
              <a:ext cx="1152" cy="1400"/>
            </a:xfrm>
            <a:prstGeom prst="rect">
              <a:avLst/>
            </a:prstGeom>
            <a:noFill/>
            <a:ln w="9525">
              <a:noFill/>
              <a:miter lim="800000"/>
              <a:headEnd/>
              <a:tailEnd/>
            </a:ln>
            <a:effectLst/>
          </p:spPr>
        </p:pic>
      </p:grpSp>
      <p:sp>
        <p:nvSpPr>
          <p:cNvPr id="3083" name="Rectangle 11"/>
          <p:cNvSpPr>
            <a:spLocks noGrp="1" noChangeArrowheads="1"/>
          </p:cNvSpPr>
          <p:nvPr>
            <p:ph type="ctrTitle" sz="quarter"/>
          </p:nvPr>
        </p:nvSpPr>
        <p:spPr>
          <a:xfrm>
            <a:off x="1905000" y="1676400"/>
            <a:ext cx="6934200" cy="2116138"/>
          </a:xfrm>
        </p:spPr>
        <p:txBody>
          <a:bodyPr/>
          <a:lstStyle>
            <a:lvl1pPr>
              <a:defRPr/>
            </a:lvl1pPr>
          </a:lstStyle>
          <a:p>
            <a:r>
              <a:rPr lang="en-AU"/>
              <a:t>Click to edit Master title style</a:t>
            </a:r>
          </a:p>
        </p:txBody>
      </p:sp>
      <p:sp>
        <p:nvSpPr>
          <p:cNvPr id="3084" name="Rectangle 12"/>
          <p:cNvSpPr>
            <a:spLocks noGrp="1" noChangeArrowheads="1"/>
          </p:cNvSpPr>
          <p:nvPr>
            <p:ph type="subTitle" sz="quarter" idx="1"/>
          </p:nvPr>
        </p:nvSpPr>
        <p:spPr>
          <a:xfrm>
            <a:off x="1911350" y="3968750"/>
            <a:ext cx="6400800" cy="1752600"/>
          </a:xfrm>
        </p:spPr>
        <p:txBody>
          <a:bodyPr/>
          <a:lstStyle>
            <a:lvl1pPr marL="0" indent="0">
              <a:buFont typeface="Symbol" pitchFamily="18" charset="2"/>
              <a:buNone/>
              <a:defRPr/>
            </a:lvl1pPr>
          </a:lstStyle>
          <a:p>
            <a:r>
              <a:rPr lang="en-AU"/>
              <a:t>Click to edit Master subtitle style</a:t>
            </a:r>
          </a:p>
        </p:txBody>
      </p:sp>
      <p:sp>
        <p:nvSpPr>
          <p:cNvPr id="3085" name="Rectangle 13"/>
          <p:cNvSpPr>
            <a:spLocks noGrp="1" noChangeArrowheads="1"/>
          </p:cNvSpPr>
          <p:nvPr>
            <p:ph type="dt" sz="quarter" idx="2"/>
          </p:nvPr>
        </p:nvSpPr>
        <p:spPr>
          <a:xfrm>
            <a:off x="1828800" y="6400800"/>
            <a:ext cx="1905000" cy="457200"/>
          </a:xfrm>
        </p:spPr>
        <p:txBody>
          <a:bodyPr/>
          <a:lstStyle>
            <a:lvl1pPr>
              <a:defRPr/>
            </a:lvl1pPr>
          </a:lstStyle>
          <a:p>
            <a:endParaRPr lang="en-AU"/>
          </a:p>
        </p:txBody>
      </p:sp>
      <p:sp>
        <p:nvSpPr>
          <p:cNvPr id="3086" name="Rectangle 14"/>
          <p:cNvSpPr>
            <a:spLocks noGrp="1" noChangeArrowheads="1"/>
          </p:cNvSpPr>
          <p:nvPr>
            <p:ph type="ftr" sz="quarter" idx="3"/>
          </p:nvPr>
        </p:nvSpPr>
        <p:spPr>
          <a:xfrm>
            <a:off x="3962400" y="6400800"/>
            <a:ext cx="2895600" cy="457200"/>
          </a:xfrm>
        </p:spPr>
        <p:txBody>
          <a:bodyPr/>
          <a:lstStyle>
            <a:lvl1pPr>
              <a:defRPr/>
            </a:lvl1pPr>
          </a:lstStyle>
          <a:p>
            <a:endParaRPr lang="en-AU"/>
          </a:p>
        </p:txBody>
      </p:sp>
      <p:sp>
        <p:nvSpPr>
          <p:cNvPr id="3087" name="Rectangle 15"/>
          <p:cNvSpPr>
            <a:spLocks noGrp="1" noChangeArrowheads="1"/>
          </p:cNvSpPr>
          <p:nvPr>
            <p:ph type="sldNum" sz="quarter" idx="4"/>
          </p:nvPr>
        </p:nvSpPr>
        <p:spPr/>
        <p:txBody>
          <a:bodyPr/>
          <a:lstStyle>
            <a:lvl1pPr>
              <a:defRPr/>
            </a:lvl1pPr>
          </a:lstStyle>
          <a:p>
            <a:fld id="{FFAFC50D-25AF-44F6-86CA-CAF98BF3CD02}" type="slidenum">
              <a:rPr lang="en-AU"/>
              <a:pPr/>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E1459F39-19B1-4EFE-B93E-FB45782751F6}" type="slidenum">
              <a:rPr lang="en-AU"/>
              <a:pPr/>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4A66B24A-7F71-43E2-841F-74A4477050DD}" type="slidenum">
              <a:rPr lang="en-AU"/>
              <a:pPr/>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19200" y="1600200"/>
            <a:ext cx="381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81600" y="1600200"/>
            <a:ext cx="381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497CB765-9150-4F54-9962-E758F95A24B0}" type="slidenum">
              <a:rPr lang="en-AU"/>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AU"/>
          </a:p>
        </p:txBody>
      </p:sp>
      <p:sp>
        <p:nvSpPr>
          <p:cNvPr id="8" name="Footer Placeholder 7"/>
          <p:cNvSpPr>
            <a:spLocks noGrp="1"/>
          </p:cNvSpPr>
          <p:nvPr>
            <p:ph type="ftr" sz="quarter" idx="11"/>
          </p:nvPr>
        </p:nvSpPr>
        <p:spPr/>
        <p:txBody>
          <a:bodyPr/>
          <a:lstStyle>
            <a:lvl1pPr>
              <a:defRPr/>
            </a:lvl1pPr>
          </a:lstStyle>
          <a:p>
            <a:endParaRPr lang="en-AU"/>
          </a:p>
        </p:txBody>
      </p:sp>
      <p:sp>
        <p:nvSpPr>
          <p:cNvPr id="9" name="Slide Number Placeholder 8"/>
          <p:cNvSpPr>
            <a:spLocks noGrp="1"/>
          </p:cNvSpPr>
          <p:nvPr>
            <p:ph type="sldNum" sz="quarter" idx="12"/>
          </p:nvPr>
        </p:nvSpPr>
        <p:spPr/>
        <p:txBody>
          <a:bodyPr/>
          <a:lstStyle>
            <a:lvl1pPr>
              <a:defRPr/>
            </a:lvl1pPr>
          </a:lstStyle>
          <a:p>
            <a:fld id="{5DF51296-6072-48E6-9378-EC7EBF0D46CA}" type="slidenum">
              <a:rPr lang="en-AU"/>
              <a:pPr/>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AU"/>
          </a:p>
        </p:txBody>
      </p:sp>
      <p:sp>
        <p:nvSpPr>
          <p:cNvPr id="4" name="Footer Placeholder 3"/>
          <p:cNvSpPr>
            <a:spLocks noGrp="1"/>
          </p:cNvSpPr>
          <p:nvPr>
            <p:ph type="ftr" sz="quarter" idx="11"/>
          </p:nvPr>
        </p:nvSpPr>
        <p:spPr/>
        <p:txBody>
          <a:bodyPr/>
          <a:lstStyle>
            <a:lvl1pPr>
              <a:defRPr/>
            </a:lvl1pPr>
          </a:lstStyle>
          <a:p>
            <a:endParaRPr lang="en-AU"/>
          </a:p>
        </p:txBody>
      </p:sp>
      <p:sp>
        <p:nvSpPr>
          <p:cNvPr id="5" name="Slide Number Placeholder 4"/>
          <p:cNvSpPr>
            <a:spLocks noGrp="1"/>
          </p:cNvSpPr>
          <p:nvPr>
            <p:ph type="sldNum" sz="quarter" idx="12"/>
          </p:nvPr>
        </p:nvSpPr>
        <p:spPr/>
        <p:txBody>
          <a:bodyPr/>
          <a:lstStyle>
            <a:lvl1pPr>
              <a:defRPr/>
            </a:lvl1pPr>
          </a:lstStyle>
          <a:p>
            <a:fld id="{56BB65B2-7E60-48A8-9CE8-71C1C096F266}" type="slidenum">
              <a:rPr lang="en-AU"/>
              <a:pPr/>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AU"/>
          </a:p>
        </p:txBody>
      </p:sp>
      <p:sp>
        <p:nvSpPr>
          <p:cNvPr id="3" name="Footer Placeholder 2"/>
          <p:cNvSpPr>
            <a:spLocks noGrp="1"/>
          </p:cNvSpPr>
          <p:nvPr>
            <p:ph type="ftr" sz="quarter" idx="11"/>
          </p:nvPr>
        </p:nvSpPr>
        <p:spPr/>
        <p:txBody>
          <a:bodyPr/>
          <a:lstStyle>
            <a:lvl1pPr>
              <a:defRPr/>
            </a:lvl1pPr>
          </a:lstStyle>
          <a:p>
            <a:endParaRPr lang="en-AU"/>
          </a:p>
        </p:txBody>
      </p:sp>
      <p:sp>
        <p:nvSpPr>
          <p:cNvPr id="4" name="Slide Number Placeholder 3"/>
          <p:cNvSpPr>
            <a:spLocks noGrp="1"/>
          </p:cNvSpPr>
          <p:nvPr>
            <p:ph type="sldNum" sz="quarter" idx="12"/>
          </p:nvPr>
        </p:nvSpPr>
        <p:spPr/>
        <p:txBody>
          <a:bodyPr/>
          <a:lstStyle>
            <a:lvl1pPr>
              <a:defRPr/>
            </a:lvl1pPr>
          </a:lstStyle>
          <a:p>
            <a:fld id="{F878BAD5-C850-4E54-A5C2-28DD74A4540E}" type="slidenum">
              <a:rPr lang="en-AU"/>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55E45CA3-F20D-45E8-81C1-E275D573DAFB}" type="slidenum">
              <a:rPr lang="en-AU"/>
              <a:pPr/>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E2F4D0B8-0D56-4D53-AAC2-496C4DA4F106}" type="slidenum">
              <a:rPr lang="en-AU"/>
              <a:pPr/>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E384D591-2703-48D7-90C7-BDEB13E89913}" type="slidenum">
              <a:rPr lang="en-AU"/>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48500" y="304800"/>
            <a:ext cx="1943100" cy="5791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19200" y="304800"/>
            <a:ext cx="5676900" cy="5791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57BD3748-958C-4778-86EE-E3CC8108B6DE}" type="slidenum">
              <a:rPr lang="en-AU"/>
              <a:pPr/>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2"/>
            </a:gs>
          </a:gsLst>
          <a:path path="shape">
            <a:fillToRect l="14166" t="5554" r="835" b="77779"/>
          </a:path>
        </a:gradFill>
        <a:effectLst/>
      </p:bgPr>
    </p:bg>
    <p:spTree>
      <p:nvGrpSpPr>
        <p:cNvPr id="1" name=""/>
        <p:cNvGrpSpPr/>
        <p:nvPr/>
      </p:nvGrpSpPr>
      <p:grpSpPr>
        <a:xfrm>
          <a:off x="0" y="0"/>
          <a:ext cx="0" cy="0"/>
          <a:chOff x="0" y="0"/>
          <a:chExt cx="0" cy="0"/>
        </a:xfrm>
      </p:grpSpPr>
      <p:grpSp>
        <p:nvGrpSpPr>
          <p:cNvPr id="2050" name="Group 2"/>
          <p:cNvGrpSpPr>
            <a:grpSpLocks/>
          </p:cNvGrpSpPr>
          <p:nvPr/>
        </p:nvGrpSpPr>
        <p:grpSpPr bwMode="auto">
          <a:xfrm>
            <a:off x="0" y="0"/>
            <a:ext cx="1143000" cy="6856413"/>
            <a:chOff x="0" y="0"/>
            <a:chExt cx="720" cy="4319"/>
          </a:xfrm>
        </p:grpSpPr>
        <p:sp>
          <p:nvSpPr>
            <p:cNvPr id="2051" name="Rectangle 3"/>
            <p:cNvSpPr>
              <a:spLocks noChangeArrowheads="1"/>
            </p:cNvSpPr>
            <p:nvPr/>
          </p:nvSpPr>
          <p:spPr bwMode="auto">
            <a:xfrm>
              <a:off x="0" y="0"/>
              <a:ext cx="720" cy="336"/>
            </a:xfrm>
            <a:prstGeom prst="rect">
              <a:avLst/>
            </a:prstGeom>
            <a:gradFill rotWithShape="0">
              <a:gsLst>
                <a:gs pos="0">
                  <a:schemeClr val="bg2"/>
                </a:gs>
                <a:gs pos="100000">
                  <a:schemeClr val="accent1"/>
                </a:gs>
              </a:gsLst>
              <a:lin ang="5400000" scaled="1"/>
            </a:gradFill>
            <a:ln w="9525">
              <a:noFill/>
              <a:miter lim="800000"/>
              <a:headEnd/>
              <a:tailEnd/>
            </a:ln>
            <a:effectLst/>
          </p:spPr>
          <p:txBody>
            <a:bodyPr wrap="none" lIns="92075" tIns="46038" rIns="92075" bIns="46038" anchor="ctr"/>
            <a:lstStyle/>
            <a:p>
              <a:pPr eaLnBrk="0" hangingPunct="0">
                <a:spcBef>
                  <a:spcPct val="50000"/>
                </a:spcBef>
              </a:pPr>
              <a:endParaRPr lang="en-US"/>
            </a:p>
          </p:txBody>
        </p:sp>
        <p:sp>
          <p:nvSpPr>
            <p:cNvPr id="2052" name="Rectangle 4"/>
            <p:cNvSpPr>
              <a:spLocks noChangeArrowheads="1"/>
            </p:cNvSpPr>
            <p:nvPr/>
          </p:nvSpPr>
          <p:spPr bwMode="auto">
            <a:xfrm>
              <a:off x="0" y="2016"/>
              <a:ext cx="720" cy="2303"/>
            </a:xfrm>
            <a:prstGeom prst="rect">
              <a:avLst/>
            </a:prstGeom>
            <a:gradFill rotWithShape="0">
              <a:gsLst>
                <a:gs pos="0">
                  <a:schemeClr val="accent1"/>
                </a:gs>
                <a:gs pos="100000">
                  <a:schemeClr val="bg2"/>
                </a:gs>
              </a:gsLst>
              <a:lin ang="5400000" scaled="1"/>
            </a:gradFill>
            <a:ln w="9525">
              <a:noFill/>
              <a:miter lim="800000"/>
              <a:headEnd/>
              <a:tailEnd/>
            </a:ln>
            <a:effectLst/>
          </p:spPr>
          <p:txBody>
            <a:bodyPr wrap="none" lIns="92075" tIns="46038" rIns="92075" bIns="46038" anchor="ctr"/>
            <a:lstStyle/>
            <a:p>
              <a:pPr eaLnBrk="0" hangingPunct="0">
                <a:spcBef>
                  <a:spcPct val="50000"/>
                </a:spcBef>
              </a:pPr>
              <a:endParaRPr lang="en-US"/>
            </a:p>
          </p:txBody>
        </p:sp>
        <p:pic>
          <p:nvPicPr>
            <p:cNvPr id="2053" name="Picture 5"/>
            <p:cNvPicPr>
              <a:picLocks noChangeArrowheads="1"/>
            </p:cNvPicPr>
            <p:nvPr/>
          </p:nvPicPr>
          <p:blipFill>
            <a:blip r:embed="rId13" cstate="print"/>
            <a:srcRect/>
            <a:stretch>
              <a:fillRect/>
            </a:stretch>
          </p:blipFill>
          <p:spPr bwMode="auto">
            <a:xfrm>
              <a:off x="0" y="312"/>
              <a:ext cx="720" cy="1872"/>
            </a:xfrm>
            <a:prstGeom prst="rect">
              <a:avLst/>
            </a:prstGeom>
            <a:noFill/>
            <a:ln w="9525">
              <a:noFill/>
              <a:miter lim="800000"/>
              <a:headEnd/>
              <a:tailEnd/>
            </a:ln>
            <a:effectLst/>
          </p:spPr>
        </p:pic>
      </p:grpSp>
      <p:sp>
        <p:nvSpPr>
          <p:cNvPr id="2059" name="Rectangle 11"/>
          <p:cNvSpPr>
            <a:spLocks noGrp="1" noChangeArrowheads="1"/>
          </p:cNvSpPr>
          <p:nvPr>
            <p:ph type="title"/>
          </p:nvPr>
        </p:nvSpPr>
        <p:spPr bwMode="auto">
          <a:xfrm>
            <a:off x="1219200" y="304800"/>
            <a:ext cx="7772400" cy="1206500"/>
          </a:xfrm>
          <a:prstGeom prst="rect">
            <a:avLst/>
          </a:prstGeom>
          <a:noFill/>
          <a:ln w="12700" cap="sq">
            <a:noFill/>
            <a:miter lim="800000"/>
            <a:headEnd type="none" w="sm" len="sm"/>
            <a:tailEnd type="none" w="sm" len="sm"/>
          </a:ln>
          <a:effectLst/>
        </p:spPr>
        <p:txBody>
          <a:bodyPr vert="horz" wrap="square" lIns="91440" tIns="45720" rIns="91440" bIns="45720" numCol="1" anchor="ctr" anchorCtr="0" compatLnSpc="1">
            <a:prstTxWarp prst="textNoShape">
              <a:avLst/>
            </a:prstTxWarp>
          </a:bodyPr>
          <a:lstStyle/>
          <a:p>
            <a:pPr lvl="0"/>
            <a:r>
              <a:rPr lang="en-AU"/>
              <a:t>Click to edit Master title style</a:t>
            </a:r>
          </a:p>
        </p:txBody>
      </p:sp>
      <p:sp>
        <p:nvSpPr>
          <p:cNvPr id="2060" name="Rectangle 12"/>
          <p:cNvSpPr>
            <a:spLocks noGrp="1" noChangeArrowheads="1"/>
          </p:cNvSpPr>
          <p:nvPr>
            <p:ph type="body" idx="1"/>
          </p:nvPr>
        </p:nvSpPr>
        <p:spPr bwMode="auto">
          <a:xfrm>
            <a:off x="1219200" y="1600200"/>
            <a:ext cx="7772400" cy="44958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p>
        </p:txBody>
      </p:sp>
      <p:sp>
        <p:nvSpPr>
          <p:cNvPr id="2061" name="Rectangle 13"/>
          <p:cNvSpPr>
            <a:spLocks noGrp="1" noChangeArrowheads="1"/>
          </p:cNvSpPr>
          <p:nvPr>
            <p:ph type="dt" sz="half" idx="2"/>
          </p:nvPr>
        </p:nvSpPr>
        <p:spPr bwMode="auto">
          <a:xfrm>
            <a:off x="1143000" y="64008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defRPr sz="1400"/>
            </a:lvl1pPr>
          </a:lstStyle>
          <a:p>
            <a:endParaRPr lang="en-AU"/>
          </a:p>
        </p:txBody>
      </p:sp>
      <p:sp>
        <p:nvSpPr>
          <p:cNvPr id="2062" name="Rectangle 14"/>
          <p:cNvSpPr>
            <a:spLocks noGrp="1" noChangeArrowheads="1"/>
          </p:cNvSpPr>
          <p:nvPr>
            <p:ph type="ftr" sz="quarter" idx="3"/>
          </p:nvPr>
        </p:nvSpPr>
        <p:spPr bwMode="auto">
          <a:xfrm>
            <a:off x="3581400" y="6400800"/>
            <a:ext cx="28956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ctr">
              <a:defRPr sz="1400"/>
            </a:lvl1pPr>
          </a:lstStyle>
          <a:p>
            <a:endParaRPr lang="en-AU"/>
          </a:p>
        </p:txBody>
      </p:sp>
      <p:sp>
        <p:nvSpPr>
          <p:cNvPr id="2063" name="Rectangle 15"/>
          <p:cNvSpPr>
            <a:spLocks noGrp="1" noChangeArrowheads="1"/>
          </p:cNvSpPr>
          <p:nvPr>
            <p:ph type="sldNum" sz="quarter" idx="4"/>
          </p:nvPr>
        </p:nvSpPr>
        <p:spPr bwMode="auto">
          <a:xfrm>
            <a:off x="7239000" y="64008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a:defRPr sz="1400"/>
            </a:lvl1pPr>
          </a:lstStyle>
          <a:p>
            <a:fld id="{2FFA88F7-4C56-46F0-B076-F2EEB25B9586}" type="slidenum">
              <a:rPr lang="en-AU"/>
              <a:pPr/>
              <a:t>‹#›</a:t>
            </a:fld>
            <a:endParaRPr lang="en-AU"/>
          </a:p>
        </p:txBody>
      </p:sp>
      <p:sp>
        <p:nvSpPr>
          <p:cNvPr id="3" name="TextBox 2">
            <a:extLst>
              <a:ext uri="{FF2B5EF4-FFF2-40B4-BE49-F238E27FC236}">
                <a16:creationId xmlns:a16="http://schemas.microsoft.com/office/drawing/2014/main" id="{57EC6E6C-79AE-C9FF-AC67-C64205C00463}"/>
              </a:ext>
            </a:extLst>
          </p:cNvPr>
          <p:cNvSpPr txBox="1"/>
          <p:nvPr userDrawn="1">
            <p:extLst>
              <p:ext uri="{1162E1C5-73C7-4A58-AE30-91384D911F3F}">
                <p184:classification xmlns:p184="http://schemas.microsoft.com/office/powerpoint/2018/4/main" val="hdr"/>
              </p:ext>
            </p:extLst>
          </p:nvPr>
        </p:nvSpPr>
        <p:spPr>
          <a:xfrm>
            <a:off x="3712337" y="190500"/>
            <a:ext cx="1754188" cy="182880"/>
          </a:xfrm>
          <a:prstGeom prst="rect">
            <a:avLst/>
          </a:prstGeom>
        </p:spPr>
        <p:txBody>
          <a:bodyPr horzOverflow="overflow" lIns="0" tIns="0" rIns="0" bIns="0">
            <a:spAutoFit/>
          </a:bodyPr>
          <a:lstStyle/>
          <a:p>
            <a:pPr algn="l"/>
            <a:r>
              <a:rPr lang="en-US" sz="1200">
                <a:solidFill>
                  <a:srgbClr val="EEDC00"/>
                </a:solidFill>
                <a:latin typeface="Calibri" panose="020F0502020204030204" pitchFamily="34" charset="0"/>
                <a:cs typeface="Calibri" panose="020F0502020204030204" pitchFamily="34" charset="0"/>
              </a:rPr>
              <a:t>RMIT Classification: Trusted</a:t>
            </a: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spcBef>
          <a:spcPct val="0"/>
        </a:spcBef>
        <a:spcAft>
          <a:spcPct val="0"/>
        </a:spcAft>
        <a:defRPr sz="4400">
          <a:solidFill>
            <a:schemeClr val="tx2"/>
          </a:solidFill>
          <a:latin typeface="+mj-lt"/>
          <a:ea typeface="+mj-ea"/>
          <a:cs typeface="+mj-cs"/>
        </a:defRPr>
      </a:lvl1pPr>
      <a:lvl2pPr algn="l" rtl="0" fontAlgn="base">
        <a:spcBef>
          <a:spcPct val="0"/>
        </a:spcBef>
        <a:spcAft>
          <a:spcPct val="0"/>
        </a:spcAft>
        <a:defRPr sz="4400">
          <a:solidFill>
            <a:schemeClr val="tx2"/>
          </a:solidFill>
          <a:latin typeface="Times New Roman" pitchFamily="18" charset="0"/>
        </a:defRPr>
      </a:lvl2pPr>
      <a:lvl3pPr algn="l" rtl="0" fontAlgn="base">
        <a:spcBef>
          <a:spcPct val="0"/>
        </a:spcBef>
        <a:spcAft>
          <a:spcPct val="0"/>
        </a:spcAft>
        <a:defRPr sz="4400">
          <a:solidFill>
            <a:schemeClr val="tx2"/>
          </a:solidFill>
          <a:latin typeface="Times New Roman" pitchFamily="18" charset="0"/>
        </a:defRPr>
      </a:lvl3pPr>
      <a:lvl4pPr algn="l" rtl="0" fontAlgn="base">
        <a:spcBef>
          <a:spcPct val="0"/>
        </a:spcBef>
        <a:spcAft>
          <a:spcPct val="0"/>
        </a:spcAft>
        <a:defRPr sz="4400">
          <a:solidFill>
            <a:schemeClr val="tx2"/>
          </a:solidFill>
          <a:latin typeface="Times New Roman" pitchFamily="18" charset="0"/>
        </a:defRPr>
      </a:lvl4pPr>
      <a:lvl5pPr algn="l" rtl="0" fontAlgn="base">
        <a:spcBef>
          <a:spcPct val="0"/>
        </a:spcBef>
        <a:spcAft>
          <a:spcPct val="0"/>
        </a:spcAft>
        <a:defRPr sz="4400">
          <a:solidFill>
            <a:schemeClr val="tx2"/>
          </a:solidFill>
          <a:latin typeface="Times New Roman" pitchFamily="18" charset="0"/>
        </a:defRPr>
      </a:lvl5pPr>
      <a:lvl6pPr marL="457200" algn="l" rtl="0" fontAlgn="base">
        <a:spcBef>
          <a:spcPct val="0"/>
        </a:spcBef>
        <a:spcAft>
          <a:spcPct val="0"/>
        </a:spcAft>
        <a:defRPr sz="4400">
          <a:solidFill>
            <a:schemeClr val="tx2"/>
          </a:solidFill>
          <a:latin typeface="Times New Roman" pitchFamily="18" charset="0"/>
        </a:defRPr>
      </a:lvl6pPr>
      <a:lvl7pPr marL="914400" algn="l" rtl="0" fontAlgn="base">
        <a:spcBef>
          <a:spcPct val="0"/>
        </a:spcBef>
        <a:spcAft>
          <a:spcPct val="0"/>
        </a:spcAft>
        <a:defRPr sz="4400">
          <a:solidFill>
            <a:schemeClr val="tx2"/>
          </a:solidFill>
          <a:latin typeface="Times New Roman" pitchFamily="18" charset="0"/>
        </a:defRPr>
      </a:lvl7pPr>
      <a:lvl8pPr marL="1371600" algn="l" rtl="0" fontAlgn="base">
        <a:spcBef>
          <a:spcPct val="0"/>
        </a:spcBef>
        <a:spcAft>
          <a:spcPct val="0"/>
        </a:spcAft>
        <a:defRPr sz="4400">
          <a:solidFill>
            <a:schemeClr val="tx2"/>
          </a:solidFill>
          <a:latin typeface="Times New Roman" pitchFamily="18" charset="0"/>
        </a:defRPr>
      </a:lvl8pPr>
      <a:lvl9pPr marL="1828800" algn="l" rtl="0" fontAlgn="base">
        <a:spcBef>
          <a:spcPct val="0"/>
        </a:spcBef>
        <a:spcAft>
          <a:spcPct val="0"/>
        </a:spcAft>
        <a:defRPr sz="4400">
          <a:solidFill>
            <a:schemeClr val="tx2"/>
          </a:solidFill>
          <a:latin typeface="Times New Roman" pitchFamily="18" charset="0"/>
        </a:defRPr>
      </a:lvl9pPr>
    </p:titleStyle>
    <p:bodyStyle>
      <a:lvl1pPr marL="342900" indent="-342900" algn="l" rtl="0" fontAlgn="base">
        <a:spcBef>
          <a:spcPct val="20000"/>
        </a:spcBef>
        <a:spcAft>
          <a:spcPct val="0"/>
        </a:spcAft>
        <a:buClr>
          <a:schemeClr val="tx2"/>
        </a:buClr>
        <a:buSzPct val="90000"/>
        <a:buFont typeface="Symbol" pitchFamily="18" charset="2"/>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gif"/><Relationship Id="rId4" Type="http://schemas.openxmlformats.org/officeDocument/2006/relationships/image" Target="../media/image6.wmf"/></Relationships>
</file>

<file path=ppt/slides/_rels/slide1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slideLayout" Target="../slideLayouts/slideLayout2.xml"/><Relationship Id="rId4" Type="http://schemas.openxmlformats.org/officeDocument/2006/relationships/image" Target="../media/image7.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gif"/><Relationship Id="rId4" Type="http://schemas.openxmlformats.org/officeDocument/2006/relationships/image" Target="../media/image6.wmf"/></Relationships>
</file>

<file path=ppt/slides/_rels/slide23.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3" Type="http://schemas.openxmlformats.org/officeDocument/2006/relationships/hyperlink" Target="http://en.wikipedia.org/wiki/File:Evariste_galois.jpg"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4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26"/>
          <p:cNvSpPr>
            <a:spLocks noGrp="1" noChangeArrowheads="1"/>
          </p:cNvSpPr>
          <p:nvPr>
            <p:ph type="ctrTitle"/>
          </p:nvPr>
        </p:nvSpPr>
        <p:spPr>
          <a:xfrm>
            <a:off x="1828800" y="1066800"/>
            <a:ext cx="7315200" cy="2116138"/>
          </a:xfrm>
        </p:spPr>
        <p:txBody>
          <a:bodyPr/>
          <a:lstStyle/>
          <a:p>
            <a:pPr algn="ctr"/>
            <a:r>
              <a:rPr lang="en-US" sz="4000" b="1" dirty="0">
                <a:latin typeface="Comic Sans MS" pitchFamily="66" charset="0"/>
              </a:rPr>
              <a:t>Chapter 2</a:t>
            </a:r>
            <a:br>
              <a:rPr lang="en-US" sz="4000" b="1" dirty="0">
                <a:latin typeface="Comic Sans MS" pitchFamily="66" charset="0"/>
              </a:rPr>
            </a:br>
            <a:r>
              <a:rPr lang="en-US" sz="4000" b="1" dirty="0">
                <a:latin typeface="Comic Sans MS" pitchFamily="66" charset="0"/>
              </a:rPr>
              <a:t>Secret Key Encryption Standard</a:t>
            </a:r>
            <a:endParaRPr lang="en-AU" sz="4000" b="1" dirty="0">
              <a:latin typeface="Comic Sans MS" pitchFamily="66" charset="0"/>
            </a:endParaRPr>
          </a:p>
        </p:txBody>
      </p:sp>
      <p:sp>
        <p:nvSpPr>
          <p:cNvPr id="28675" name="Rectangle 1027"/>
          <p:cNvSpPr>
            <a:spLocks noGrp="1" noChangeArrowheads="1"/>
          </p:cNvSpPr>
          <p:nvPr>
            <p:ph type="subTitle" idx="1"/>
          </p:nvPr>
        </p:nvSpPr>
        <p:spPr>
          <a:xfrm>
            <a:off x="1828800" y="3200400"/>
            <a:ext cx="7004050" cy="1447800"/>
          </a:xfrm>
        </p:spPr>
        <p:txBody>
          <a:bodyPr/>
          <a:lstStyle/>
          <a:p>
            <a:pPr algn="ctr"/>
            <a:r>
              <a:rPr lang="en-AU" b="1" dirty="0">
                <a:latin typeface="Comic Sans MS" pitchFamily="66" charset="0"/>
              </a:rPr>
              <a:t>Chapter 2.1</a:t>
            </a:r>
          </a:p>
          <a:p>
            <a:pPr algn="ctr"/>
            <a:r>
              <a:rPr lang="en-AU" b="1" dirty="0">
                <a:latin typeface="Comic Sans MS" pitchFamily="66" charset="0"/>
              </a:rPr>
              <a:t>Classical Encryption Principles</a:t>
            </a:r>
          </a:p>
        </p:txBody>
      </p:sp>
    </p:spTree>
    <p:extLst>
      <p:ext uri="{BB962C8B-B14F-4D97-AF65-F5344CB8AC3E}">
        <p14:creationId xmlns:p14="http://schemas.microsoft.com/office/powerpoint/2010/main" val="2447280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3" cstate="print"/>
          <a:srcRect/>
          <a:stretch>
            <a:fillRect/>
          </a:stretch>
        </p:blipFill>
        <p:spPr bwMode="auto">
          <a:xfrm>
            <a:off x="1120775" y="1524000"/>
            <a:ext cx="7724775" cy="4343400"/>
          </a:xfrm>
          <a:prstGeom prst="rect">
            <a:avLst/>
          </a:prstGeom>
          <a:noFill/>
        </p:spPr>
      </p:pic>
      <p:sp>
        <p:nvSpPr>
          <p:cNvPr id="20483" name="Rectangle 3"/>
          <p:cNvSpPr>
            <a:spLocks noGrp="1" noChangeArrowheads="1"/>
          </p:cNvSpPr>
          <p:nvPr>
            <p:ph type="title"/>
          </p:nvPr>
        </p:nvSpPr>
        <p:spPr>
          <a:xfrm>
            <a:off x="1108075" y="285750"/>
            <a:ext cx="8035925" cy="1009650"/>
          </a:xfrm>
        </p:spPr>
        <p:txBody>
          <a:bodyPr/>
          <a:lstStyle/>
          <a:p>
            <a:r>
              <a:rPr lang="en-US" sz="3600" b="1" dirty="0">
                <a:effectLst>
                  <a:outerShdw blurRad="38100" dist="38100" dir="2700000" algn="tl">
                    <a:srgbClr val="000000"/>
                  </a:outerShdw>
                </a:effectLst>
                <a:latin typeface="Comic Sans MS"/>
                <a:cs typeface="Comic Sans MS"/>
              </a:rPr>
              <a:t>Model of Conventional Encryption</a:t>
            </a:r>
          </a:p>
        </p:txBody>
      </p:sp>
      <p:sp>
        <p:nvSpPr>
          <p:cNvPr id="20484" name="AutoShape 4"/>
          <p:cNvSpPr>
            <a:spLocks noChangeArrowheads="1"/>
          </p:cNvSpPr>
          <p:nvPr/>
        </p:nvSpPr>
        <p:spPr bwMode="auto">
          <a:xfrm>
            <a:off x="3887788" y="4438650"/>
            <a:ext cx="2273300" cy="390525"/>
          </a:xfrm>
          <a:prstGeom prst="rightArrow">
            <a:avLst>
              <a:gd name="adj1" fmla="val 50000"/>
              <a:gd name="adj2" fmla="val 145528"/>
            </a:avLst>
          </a:prstGeom>
          <a:gradFill rotWithShape="0">
            <a:gsLst>
              <a:gs pos="0">
                <a:srgbClr val="FF6600">
                  <a:gamma/>
                  <a:shade val="46275"/>
                  <a:invGamma/>
                </a:srgbClr>
              </a:gs>
              <a:gs pos="50000">
                <a:srgbClr val="FF6600"/>
              </a:gs>
              <a:gs pos="100000">
                <a:srgbClr val="FF6600">
                  <a:gamma/>
                  <a:shade val="46275"/>
                  <a:invGamma/>
                </a:srgbClr>
              </a:gs>
            </a:gsLst>
            <a:lin ang="5400000" scaled="1"/>
          </a:gradFill>
          <a:ln w="12700" cap="sq">
            <a:solidFill>
              <a:schemeClr val="tx1"/>
            </a:solidFill>
            <a:miter lim="800000"/>
            <a:headEnd type="none" w="sm" len="sm"/>
            <a:tailEnd type="none" w="sm" len="sm"/>
          </a:ln>
          <a:effectLst/>
        </p:spPr>
        <p:txBody>
          <a:bodyPr wrap="none" anchor="ctr"/>
          <a:lstStyle/>
          <a:p>
            <a:endParaRPr lang="en-US"/>
          </a:p>
        </p:txBody>
      </p:sp>
      <p:sp>
        <p:nvSpPr>
          <p:cNvPr id="20485" name="AutoShape 5"/>
          <p:cNvSpPr>
            <a:spLocks noChangeArrowheads="1"/>
          </p:cNvSpPr>
          <p:nvPr/>
        </p:nvSpPr>
        <p:spPr bwMode="auto">
          <a:xfrm rot="-2425991">
            <a:off x="3544888" y="3033713"/>
            <a:ext cx="825500" cy="454025"/>
          </a:xfrm>
          <a:prstGeom prst="leftArrow">
            <a:avLst>
              <a:gd name="adj1" fmla="val 50000"/>
              <a:gd name="adj2" fmla="val 45455"/>
            </a:avLst>
          </a:prstGeom>
          <a:gradFill rotWithShape="0">
            <a:gsLst>
              <a:gs pos="0">
                <a:srgbClr val="FF0000">
                  <a:gamma/>
                  <a:shade val="46275"/>
                  <a:invGamma/>
                </a:srgbClr>
              </a:gs>
              <a:gs pos="50000">
                <a:srgbClr val="FF0000"/>
              </a:gs>
              <a:gs pos="100000">
                <a:srgbClr val="FF0000">
                  <a:gamma/>
                  <a:shade val="46275"/>
                  <a:invGamma/>
                </a:srgbClr>
              </a:gs>
            </a:gsLst>
            <a:lin ang="5400000" scaled="1"/>
          </a:gradFill>
          <a:ln w="12700" cap="sq">
            <a:solidFill>
              <a:schemeClr val="tx1"/>
            </a:solidFill>
            <a:miter lim="800000"/>
            <a:headEnd type="none" w="sm" len="sm"/>
            <a:tailEnd type="none" w="sm" len="sm"/>
          </a:ln>
          <a:effectLst/>
        </p:spPr>
        <p:txBody>
          <a:bodyPr wrap="none" anchor="ctr"/>
          <a:lstStyle/>
          <a:p>
            <a:endParaRPr lang="en-US"/>
          </a:p>
        </p:txBody>
      </p:sp>
      <p:sp>
        <p:nvSpPr>
          <p:cNvPr id="20486" name="AutoShape 6"/>
          <p:cNvSpPr>
            <a:spLocks noChangeArrowheads="1"/>
          </p:cNvSpPr>
          <p:nvPr/>
        </p:nvSpPr>
        <p:spPr bwMode="auto">
          <a:xfrm rot="1738239">
            <a:off x="5543550" y="2970213"/>
            <a:ext cx="838200" cy="466725"/>
          </a:xfrm>
          <a:prstGeom prst="rightArrow">
            <a:avLst>
              <a:gd name="adj1" fmla="val 50000"/>
              <a:gd name="adj2" fmla="val 44898"/>
            </a:avLst>
          </a:prstGeom>
          <a:gradFill rotWithShape="0">
            <a:gsLst>
              <a:gs pos="0">
                <a:srgbClr val="FF0000">
                  <a:gamma/>
                  <a:shade val="46275"/>
                  <a:invGamma/>
                </a:srgbClr>
              </a:gs>
              <a:gs pos="50000">
                <a:srgbClr val="FF0000"/>
              </a:gs>
              <a:gs pos="100000">
                <a:srgbClr val="FF0000">
                  <a:gamma/>
                  <a:shade val="46275"/>
                  <a:invGamma/>
                </a:srgbClr>
              </a:gs>
            </a:gsLst>
            <a:lin ang="5400000" scaled="1"/>
          </a:gradFill>
          <a:ln w="12700" cap="sq">
            <a:solidFill>
              <a:schemeClr val="tx1"/>
            </a:solidFill>
            <a:miter lim="800000"/>
            <a:headEnd type="none" w="sm" len="sm"/>
            <a:tailEnd type="none" w="sm" len="sm"/>
          </a:ln>
          <a:effectLst/>
        </p:spPr>
        <p:txBody>
          <a:bodyPr wrap="none" anchor="ctr"/>
          <a:lstStyle/>
          <a:p>
            <a:endParaRPr lang="en-US"/>
          </a:p>
        </p:txBody>
      </p:sp>
      <p:sp>
        <p:nvSpPr>
          <p:cNvPr id="20488" name="AutoShape 8"/>
          <p:cNvSpPr>
            <a:spLocks noChangeArrowheads="1"/>
          </p:cNvSpPr>
          <p:nvPr/>
        </p:nvSpPr>
        <p:spPr bwMode="auto">
          <a:xfrm>
            <a:off x="1143000" y="4400550"/>
            <a:ext cx="1271588" cy="333375"/>
          </a:xfrm>
          <a:prstGeom prst="rightArrow">
            <a:avLst>
              <a:gd name="adj1" fmla="val 50000"/>
              <a:gd name="adj2" fmla="val 95357"/>
            </a:avLst>
          </a:prstGeom>
          <a:gradFill rotWithShape="0">
            <a:gsLst>
              <a:gs pos="0">
                <a:srgbClr val="FF6600">
                  <a:gamma/>
                  <a:shade val="46275"/>
                  <a:invGamma/>
                </a:srgbClr>
              </a:gs>
              <a:gs pos="50000">
                <a:srgbClr val="FF6600"/>
              </a:gs>
              <a:gs pos="100000">
                <a:srgbClr val="FF6600">
                  <a:gamma/>
                  <a:shade val="46275"/>
                  <a:invGamma/>
                </a:srgbClr>
              </a:gs>
            </a:gsLst>
            <a:lin ang="5400000" scaled="1"/>
          </a:gradFill>
          <a:ln w="12700" cap="sq">
            <a:solidFill>
              <a:schemeClr val="tx1"/>
            </a:solidFill>
            <a:miter lim="800000"/>
            <a:headEnd type="none" w="sm" len="sm"/>
            <a:tailEnd type="none" w="sm" len="sm"/>
          </a:ln>
          <a:effectLst/>
        </p:spPr>
        <p:txBody>
          <a:bodyPr wrap="none" anchor="ctr"/>
          <a:lstStyle/>
          <a:p>
            <a:endParaRPr lang="en-US"/>
          </a:p>
        </p:txBody>
      </p:sp>
      <p:sp>
        <p:nvSpPr>
          <p:cNvPr id="20489" name="AutoShape 9"/>
          <p:cNvSpPr>
            <a:spLocks noChangeArrowheads="1"/>
          </p:cNvSpPr>
          <p:nvPr/>
        </p:nvSpPr>
        <p:spPr bwMode="auto">
          <a:xfrm>
            <a:off x="7591425" y="4495800"/>
            <a:ext cx="1112838" cy="352425"/>
          </a:xfrm>
          <a:prstGeom prst="rightArrow">
            <a:avLst>
              <a:gd name="adj1" fmla="val 50000"/>
              <a:gd name="adj2" fmla="val 78941"/>
            </a:avLst>
          </a:prstGeom>
          <a:gradFill rotWithShape="0">
            <a:gsLst>
              <a:gs pos="0">
                <a:srgbClr val="FF6600">
                  <a:gamma/>
                  <a:shade val="46275"/>
                  <a:invGamma/>
                </a:srgbClr>
              </a:gs>
              <a:gs pos="50000">
                <a:srgbClr val="FF6600"/>
              </a:gs>
              <a:gs pos="100000">
                <a:srgbClr val="FF6600">
                  <a:gamma/>
                  <a:shade val="46275"/>
                  <a:invGamma/>
                </a:srgbClr>
              </a:gs>
            </a:gsLst>
            <a:lin ang="5400000" scaled="1"/>
          </a:gradFill>
          <a:ln w="12700" cap="sq">
            <a:solidFill>
              <a:schemeClr val="tx1"/>
            </a:solidFill>
            <a:miter lim="800000"/>
            <a:headEnd type="none" w="sm" len="sm"/>
            <a:tailEnd type="none" w="sm" len="sm"/>
          </a:ln>
          <a:effectLst/>
        </p:spPr>
        <p:txBody>
          <a:bodyPr wrap="none" anchor="ctr"/>
          <a:lstStyle/>
          <a:p>
            <a:endParaRPr lang="en-US"/>
          </a:p>
        </p:txBody>
      </p:sp>
    </p:spTree>
    <p:extLst>
      <p:ext uri="{BB962C8B-B14F-4D97-AF65-F5344CB8AC3E}">
        <p14:creationId xmlns:p14="http://schemas.microsoft.com/office/powerpoint/2010/main" val="3579244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1371600" y="762000"/>
            <a:ext cx="7772400" cy="596900"/>
          </a:xfrm>
        </p:spPr>
        <p:txBody>
          <a:bodyPr/>
          <a:lstStyle/>
          <a:p>
            <a:r>
              <a:rPr lang="en-US" b="1">
                <a:effectLst>
                  <a:outerShdw blurRad="38100" dist="38100" dir="2700000" algn="tl">
                    <a:srgbClr val="000000"/>
                  </a:outerShdw>
                </a:effectLst>
              </a:rPr>
              <a:t>Substitution Cipher </a:t>
            </a:r>
          </a:p>
        </p:txBody>
      </p:sp>
      <p:sp>
        <p:nvSpPr>
          <p:cNvPr id="119813" name="Rectangle 5"/>
          <p:cNvSpPr>
            <a:spLocks noChangeArrowheads="1"/>
          </p:cNvSpPr>
          <p:nvPr/>
        </p:nvSpPr>
        <p:spPr bwMode="auto">
          <a:xfrm>
            <a:off x="1208088" y="1600200"/>
            <a:ext cx="7935912" cy="2590800"/>
          </a:xfrm>
          <a:prstGeom prst="rect">
            <a:avLst/>
          </a:prstGeom>
          <a:noFill/>
          <a:ln w="12700" cap="sq">
            <a:noFill/>
            <a:miter lim="800000"/>
            <a:headEnd type="none" w="sm" len="sm"/>
            <a:tailEnd type="none" w="sm" len="sm"/>
          </a:ln>
          <a:effectLst/>
        </p:spPr>
        <p:txBody>
          <a:bodyPr/>
          <a:lstStyle/>
          <a:p>
            <a:pPr marL="342900" indent="-342900" algn="l">
              <a:spcBef>
                <a:spcPct val="20000"/>
              </a:spcBef>
              <a:buClr>
                <a:schemeClr val="tx2"/>
              </a:buClr>
              <a:buSzPct val="90000"/>
            </a:pPr>
            <a:r>
              <a:rPr lang="en-US" sz="3200" b="1">
                <a:effectLst>
                  <a:outerShdw blurRad="38100" dist="38100" dir="2700000" algn="tl">
                    <a:srgbClr val="000000"/>
                  </a:outerShdw>
                </a:effectLst>
              </a:rPr>
              <a:t>Substitution cipher is one in which the letters of plaintext are replaced by other letters or by numbers or symbols.</a:t>
            </a:r>
          </a:p>
          <a:p>
            <a:pPr marL="342900" indent="-342900" algn="l">
              <a:spcBef>
                <a:spcPct val="20000"/>
              </a:spcBef>
              <a:buClr>
                <a:schemeClr val="tx2"/>
              </a:buClr>
              <a:buSzPct val="90000"/>
            </a:pPr>
            <a:r>
              <a:rPr lang="en-US" sz="3200" b="1">
                <a:effectLst>
                  <a:outerShdw blurRad="38100" dist="38100" dir="2700000" algn="tl">
                    <a:srgbClr val="000000"/>
                  </a:outerShdw>
                </a:effectLst>
              </a:rPr>
              <a:t>Caesar cipher is the earliest substitution cipher.</a:t>
            </a:r>
          </a:p>
        </p:txBody>
      </p:sp>
    </p:spTree>
    <p:extLst>
      <p:ext uri="{BB962C8B-B14F-4D97-AF65-F5344CB8AC3E}">
        <p14:creationId xmlns:p14="http://schemas.microsoft.com/office/powerpoint/2010/main" val="1489148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ChangeArrowheads="1"/>
          </p:cNvSpPr>
          <p:nvPr/>
        </p:nvSpPr>
        <p:spPr bwMode="auto">
          <a:xfrm>
            <a:off x="1143000" y="3810000"/>
            <a:ext cx="8001000" cy="1219200"/>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endParaRPr lang="en-US"/>
          </a:p>
        </p:txBody>
      </p:sp>
      <p:sp>
        <p:nvSpPr>
          <p:cNvPr id="102403" name="Rectangle 3"/>
          <p:cNvSpPr>
            <a:spLocks noGrp="1" noChangeArrowheads="1"/>
          </p:cNvSpPr>
          <p:nvPr>
            <p:ph type="title"/>
          </p:nvPr>
        </p:nvSpPr>
        <p:spPr>
          <a:xfrm>
            <a:off x="1371600" y="247650"/>
            <a:ext cx="7772400" cy="596900"/>
          </a:xfrm>
        </p:spPr>
        <p:txBody>
          <a:bodyPr/>
          <a:lstStyle/>
          <a:p>
            <a:r>
              <a:rPr lang="en-US" b="1">
                <a:effectLst>
                  <a:outerShdw blurRad="38100" dist="38100" dir="2700000" algn="tl">
                    <a:srgbClr val="000000"/>
                  </a:outerShdw>
                </a:effectLst>
              </a:rPr>
              <a:t>Caesar Cipher </a:t>
            </a:r>
          </a:p>
        </p:txBody>
      </p:sp>
      <p:sp>
        <p:nvSpPr>
          <p:cNvPr id="102406" name="Rectangle 6"/>
          <p:cNvSpPr>
            <a:spLocks noChangeArrowheads="1"/>
          </p:cNvSpPr>
          <p:nvPr/>
        </p:nvSpPr>
        <p:spPr bwMode="auto">
          <a:xfrm>
            <a:off x="1208088" y="1066800"/>
            <a:ext cx="7935912" cy="2590800"/>
          </a:xfrm>
          <a:prstGeom prst="rect">
            <a:avLst/>
          </a:prstGeom>
          <a:noFill/>
          <a:ln w="12700" cap="sq">
            <a:noFill/>
            <a:miter lim="800000"/>
            <a:headEnd type="none" w="sm" len="sm"/>
            <a:tailEnd type="none" w="sm" len="sm"/>
          </a:ln>
          <a:effectLst/>
        </p:spPr>
        <p:txBody>
          <a:bodyPr/>
          <a:lstStyle/>
          <a:p>
            <a:pPr marL="342900" indent="-342900" algn="l">
              <a:spcBef>
                <a:spcPct val="20000"/>
              </a:spcBef>
              <a:buClr>
                <a:schemeClr val="tx2"/>
              </a:buClr>
              <a:buSzPct val="90000"/>
            </a:pPr>
            <a:r>
              <a:rPr lang="en-US" sz="3200" b="1" dirty="0">
                <a:effectLst>
                  <a:outerShdw blurRad="38100" dist="38100" dir="2700000" algn="tl">
                    <a:srgbClr val="000000"/>
                  </a:outerShdw>
                </a:effectLst>
              </a:rPr>
              <a:t>The famous Roman commander-in-chief and statesman </a:t>
            </a:r>
            <a:r>
              <a:rPr lang="en-US" sz="3200" b="1" dirty="0" err="1">
                <a:effectLst>
                  <a:outerShdw blurRad="38100" dist="38100" dir="2700000" algn="tl">
                    <a:srgbClr val="000000"/>
                  </a:outerShdw>
                </a:effectLst>
              </a:rPr>
              <a:t>Juliu</a:t>
            </a:r>
            <a:r>
              <a:rPr lang="en-US" sz="3200" b="1" dirty="0">
                <a:effectLst>
                  <a:outerShdw blurRad="38100" dist="38100" dir="2700000" algn="tl">
                    <a:srgbClr val="000000"/>
                  </a:outerShdw>
                </a:effectLst>
              </a:rPr>
              <a:t> Caesar (100-44 B.C.)</a:t>
            </a:r>
          </a:p>
          <a:p>
            <a:pPr marL="342900" indent="-342900" algn="l">
              <a:spcBef>
                <a:spcPct val="20000"/>
              </a:spcBef>
              <a:buClr>
                <a:schemeClr val="tx2"/>
              </a:buClr>
              <a:buSzPct val="90000"/>
            </a:pPr>
            <a:r>
              <a:rPr lang="en-US" sz="3200" b="1" dirty="0">
                <a:effectLst>
                  <a:outerShdw blurRad="38100" dist="38100" dir="2700000" algn="tl">
                    <a:srgbClr val="000000"/>
                  </a:outerShdw>
                </a:effectLst>
              </a:rPr>
              <a:t>The Caesar cipher involves replacing each letter of the alphabet with letter standing three places further down the alphabet.  </a:t>
            </a:r>
          </a:p>
        </p:txBody>
      </p:sp>
      <p:sp>
        <p:nvSpPr>
          <p:cNvPr id="102407" name="Rectangle 7"/>
          <p:cNvSpPr>
            <a:spLocks noChangeArrowheads="1"/>
          </p:cNvSpPr>
          <p:nvPr/>
        </p:nvSpPr>
        <p:spPr bwMode="auto">
          <a:xfrm>
            <a:off x="1371600" y="5105400"/>
            <a:ext cx="7497763" cy="628650"/>
          </a:xfrm>
          <a:prstGeom prst="rect">
            <a:avLst/>
          </a:prstGeom>
          <a:noFill/>
          <a:ln w="12700" cap="sq">
            <a:noFill/>
            <a:miter lim="800000"/>
            <a:headEnd type="none" w="sm" len="sm"/>
            <a:tailEnd type="none" w="sm" len="sm"/>
          </a:ln>
          <a:effectLst/>
        </p:spPr>
        <p:txBody>
          <a:bodyPr/>
          <a:lstStyle/>
          <a:p>
            <a:pPr marL="342900" indent="-342900" algn="l">
              <a:spcBef>
                <a:spcPct val="20000"/>
              </a:spcBef>
              <a:buClr>
                <a:schemeClr val="tx2"/>
              </a:buClr>
              <a:buSzPct val="90000"/>
            </a:pPr>
            <a:r>
              <a:rPr lang="en-US" sz="3200" b="1" dirty="0">
                <a:effectLst>
                  <a:outerShdw blurRad="38100" dist="38100" dir="2700000" algn="tl">
                    <a:srgbClr val="000000"/>
                  </a:outerShdw>
                </a:effectLst>
              </a:rPr>
              <a:t>Plain = PLEASE CONFIRM RECEIPT </a:t>
            </a:r>
          </a:p>
        </p:txBody>
      </p:sp>
      <p:sp>
        <p:nvSpPr>
          <p:cNvPr id="102408" name="Rectangle 8"/>
          <p:cNvSpPr>
            <a:spLocks noChangeArrowheads="1"/>
          </p:cNvSpPr>
          <p:nvPr/>
        </p:nvSpPr>
        <p:spPr bwMode="auto">
          <a:xfrm>
            <a:off x="1295400" y="5638800"/>
            <a:ext cx="7848600" cy="609600"/>
          </a:xfrm>
          <a:prstGeom prst="rect">
            <a:avLst/>
          </a:prstGeom>
          <a:noFill/>
          <a:ln w="12700" cap="sq">
            <a:noFill/>
            <a:miter lim="800000"/>
            <a:headEnd type="none" w="sm" len="sm"/>
            <a:tailEnd type="none" w="sm" len="sm"/>
          </a:ln>
          <a:effectLst/>
        </p:spPr>
        <p:txBody>
          <a:bodyPr/>
          <a:lstStyle/>
          <a:p>
            <a:pPr marL="342900" indent="-342900" algn="l">
              <a:spcBef>
                <a:spcPct val="20000"/>
              </a:spcBef>
              <a:buClr>
                <a:schemeClr val="tx2"/>
              </a:buClr>
              <a:buSzPct val="90000"/>
            </a:pPr>
            <a:r>
              <a:rPr lang="en-US" sz="3200" b="1" dirty="0">
                <a:effectLst>
                  <a:outerShdw blurRad="38100" dist="38100" dir="2700000" algn="tl">
                    <a:srgbClr val="000000"/>
                  </a:outerShdw>
                </a:effectLst>
              </a:rPr>
              <a:t>Cipher = SOHDVE FRQILUP UHFHLSW </a:t>
            </a:r>
          </a:p>
        </p:txBody>
      </p:sp>
      <p:sp>
        <p:nvSpPr>
          <p:cNvPr id="102409" name="Text Box 9"/>
          <p:cNvSpPr txBox="1">
            <a:spLocks noChangeArrowheads="1"/>
          </p:cNvSpPr>
          <p:nvPr/>
        </p:nvSpPr>
        <p:spPr bwMode="auto">
          <a:xfrm>
            <a:off x="1143000" y="3871913"/>
            <a:ext cx="8001000" cy="1004887"/>
          </a:xfrm>
          <a:prstGeom prst="rect">
            <a:avLst/>
          </a:prstGeom>
          <a:noFill/>
          <a:ln w="12700" cap="sq">
            <a:noFill/>
            <a:miter lim="800000"/>
            <a:headEnd type="none" w="sm" len="sm"/>
            <a:tailEnd type="none" w="sm" len="sm"/>
          </a:ln>
          <a:effectLst/>
        </p:spPr>
        <p:txBody>
          <a:bodyPr>
            <a:spAutoFit/>
          </a:bodyPr>
          <a:lstStyle/>
          <a:p>
            <a:pPr algn="l">
              <a:spcBef>
                <a:spcPct val="50000"/>
              </a:spcBef>
            </a:pPr>
            <a:r>
              <a:rPr lang="en-US" b="1">
                <a:effectLst>
                  <a:outerShdw blurRad="38100" dist="38100" dir="2700000" algn="tl">
                    <a:srgbClr val="000000"/>
                  </a:outerShdw>
                </a:effectLst>
              </a:rPr>
              <a:t>Plaintext:    a b c d e f g h i  j  k l m n o p q  r s  t  u v w x y z</a:t>
            </a:r>
          </a:p>
          <a:p>
            <a:pPr algn="l">
              <a:spcBef>
                <a:spcPct val="50000"/>
              </a:spcBef>
            </a:pPr>
            <a:r>
              <a:rPr lang="en-US" b="1">
                <a:effectLst>
                  <a:outerShdw blurRad="38100" dist="38100" dir="2700000" algn="tl">
                    <a:srgbClr val="000000"/>
                  </a:outerShdw>
                </a:effectLst>
              </a:rPr>
              <a:t>Ciphertext: d e f  g h i j k l m n o p q  r s  t  u v w x y  z a b c</a:t>
            </a:r>
          </a:p>
        </p:txBody>
      </p:sp>
      <p:sp>
        <p:nvSpPr>
          <p:cNvPr id="102410" name="Rectangle 10"/>
          <p:cNvSpPr>
            <a:spLocks noChangeArrowheads="1"/>
          </p:cNvSpPr>
          <p:nvPr/>
        </p:nvSpPr>
        <p:spPr bwMode="auto">
          <a:xfrm>
            <a:off x="1295400" y="6248400"/>
            <a:ext cx="7848600" cy="609600"/>
          </a:xfrm>
          <a:prstGeom prst="rect">
            <a:avLst/>
          </a:prstGeom>
          <a:noFill/>
          <a:ln w="12700" cap="sq">
            <a:noFill/>
            <a:miter lim="800000"/>
            <a:headEnd type="none" w="sm" len="sm"/>
            <a:tailEnd type="none" w="sm" len="sm"/>
          </a:ln>
          <a:effectLst/>
        </p:spPr>
        <p:txBody>
          <a:bodyPr/>
          <a:lstStyle/>
          <a:p>
            <a:pPr marL="342900" indent="-342900" algn="l">
              <a:spcBef>
                <a:spcPct val="20000"/>
              </a:spcBef>
              <a:buClr>
                <a:schemeClr val="tx2"/>
              </a:buClr>
              <a:buSzPct val="90000"/>
            </a:pPr>
            <a:r>
              <a:rPr lang="en-US" sz="3200" b="1">
                <a:effectLst>
                  <a:outerShdw blurRad="38100" dist="38100" dir="2700000" algn="tl">
                    <a:srgbClr val="000000"/>
                  </a:outerShdw>
                </a:effectLst>
              </a:rPr>
              <a:t>Key = 3 </a:t>
            </a:r>
          </a:p>
        </p:txBody>
      </p:sp>
    </p:spTree>
    <p:extLst>
      <p:ext uri="{BB962C8B-B14F-4D97-AF65-F5344CB8AC3E}">
        <p14:creationId xmlns:p14="http://schemas.microsoft.com/office/powerpoint/2010/main" val="778046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2" name="Picture 2"/>
          <p:cNvPicPr>
            <a:picLocks noChangeAspect="1" noChangeArrowheads="1"/>
          </p:cNvPicPr>
          <p:nvPr/>
        </p:nvPicPr>
        <p:blipFill>
          <a:blip r:embed="rId3" cstate="print"/>
          <a:srcRect/>
          <a:stretch>
            <a:fillRect/>
          </a:stretch>
        </p:blipFill>
        <p:spPr bwMode="auto">
          <a:xfrm>
            <a:off x="2819400" y="914400"/>
            <a:ext cx="5218113" cy="5562600"/>
          </a:xfrm>
          <a:prstGeom prst="rect">
            <a:avLst/>
          </a:prstGeom>
          <a:noFill/>
        </p:spPr>
      </p:pic>
      <p:sp>
        <p:nvSpPr>
          <p:cNvPr id="117763" name="Rectangle 3"/>
          <p:cNvSpPr>
            <a:spLocks noGrp="1" noChangeArrowheads="1"/>
          </p:cNvSpPr>
          <p:nvPr>
            <p:ph type="title"/>
          </p:nvPr>
        </p:nvSpPr>
        <p:spPr>
          <a:xfrm>
            <a:off x="1371600" y="247650"/>
            <a:ext cx="7772400" cy="596900"/>
          </a:xfrm>
        </p:spPr>
        <p:txBody>
          <a:bodyPr/>
          <a:lstStyle/>
          <a:p>
            <a:pPr algn="ctr"/>
            <a:r>
              <a:rPr lang="en-US" b="1">
                <a:effectLst>
                  <a:outerShdw blurRad="38100" dist="38100" dir="2700000" algn="tl">
                    <a:srgbClr val="000000"/>
                  </a:outerShdw>
                </a:effectLst>
              </a:rPr>
              <a:t>Shift Ciphers</a:t>
            </a:r>
          </a:p>
        </p:txBody>
      </p:sp>
      <p:sp>
        <p:nvSpPr>
          <p:cNvPr id="117767" name="Line 7"/>
          <p:cNvSpPr>
            <a:spLocks noChangeShapeType="1"/>
          </p:cNvSpPr>
          <p:nvPr/>
        </p:nvSpPr>
        <p:spPr bwMode="auto">
          <a:xfrm>
            <a:off x="2362200" y="1752600"/>
            <a:ext cx="5715000" cy="0"/>
          </a:xfrm>
          <a:prstGeom prst="line">
            <a:avLst/>
          </a:prstGeom>
          <a:noFill/>
          <a:ln w="12700" cap="sq">
            <a:solidFill>
              <a:srgbClr val="FF0000"/>
            </a:solidFill>
            <a:round/>
            <a:headEnd type="none" w="sm" len="sm"/>
            <a:tailEnd type="none" w="sm" len="sm"/>
          </a:ln>
          <a:effectLst/>
        </p:spPr>
        <p:txBody>
          <a:bodyPr wrap="none"/>
          <a:lstStyle/>
          <a:p>
            <a:endParaRPr lang="en-US"/>
          </a:p>
        </p:txBody>
      </p:sp>
      <p:sp>
        <p:nvSpPr>
          <p:cNvPr id="117768" name="Text Box 8"/>
          <p:cNvSpPr txBox="1">
            <a:spLocks noChangeArrowheads="1"/>
          </p:cNvSpPr>
          <p:nvPr/>
        </p:nvSpPr>
        <p:spPr bwMode="auto">
          <a:xfrm>
            <a:off x="1143000" y="1447800"/>
            <a:ext cx="1295400" cy="457200"/>
          </a:xfrm>
          <a:prstGeom prst="rect">
            <a:avLst/>
          </a:prstGeom>
          <a:noFill/>
          <a:ln w="12700" cap="sq">
            <a:noFill/>
            <a:miter lim="800000"/>
            <a:headEnd type="none" w="sm" len="sm"/>
            <a:tailEnd type="none" w="sm" len="sm"/>
          </a:ln>
          <a:effectLst/>
        </p:spPr>
        <p:txBody>
          <a:bodyPr>
            <a:spAutoFit/>
          </a:bodyPr>
          <a:lstStyle/>
          <a:p>
            <a:pPr>
              <a:spcBef>
                <a:spcPct val="50000"/>
              </a:spcBef>
            </a:pPr>
            <a:r>
              <a:rPr lang="en-US" b="1">
                <a:effectLst>
                  <a:outerShdw blurRad="38100" dist="38100" dir="2700000" algn="tl">
                    <a:srgbClr val="000000"/>
                  </a:outerShdw>
                </a:effectLst>
              </a:rPr>
              <a:t>Caesar</a:t>
            </a:r>
          </a:p>
        </p:txBody>
      </p:sp>
    </p:spTree>
    <p:extLst>
      <p:ext uri="{BB962C8B-B14F-4D97-AF65-F5344CB8AC3E}">
        <p14:creationId xmlns:p14="http://schemas.microsoft.com/office/powerpoint/2010/main" val="1618560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a:xfrm>
            <a:off x="1143000" y="304800"/>
            <a:ext cx="8001000" cy="1295400"/>
          </a:xfrm>
        </p:spPr>
        <p:txBody>
          <a:bodyPr/>
          <a:lstStyle/>
          <a:p>
            <a:r>
              <a:rPr lang="en-US" b="1" dirty="0">
                <a:effectLst>
                  <a:outerShdw blurRad="38100" dist="38100" dir="2700000" algn="tl">
                    <a:srgbClr val="000000"/>
                  </a:outerShdw>
                </a:effectLst>
              </a:rPr>
              <a:t>Cryptosystem </a:t>
            </a:r>
          </a:p>
        </p:txBody>
      </p:sp>
      <p:sp>
        <p:nvSpPr>
          <p:cNvPr id="121860" name="Rectangle 4"/>
          <p:cNvSpPr>
            <a:spLocks noChangeArrowheads="1"/>
          </p:cNvSpPr>
          <p:nvPr/>
        </p:nvSpPr>
        <p:spPr bwMode="auto">
          <a:xfrm>
            <a:off x="1208088" y="1828800"/>
            <a:ext cx="7935912" cy="4800600"/>
          </a:xfrm>
          <a:prstGeom prst="rect">
            <a:avLst/>
          </a:prstGeom>
          <a:noFill/>
          <a:ln w="12700" cap="sq">
            <a:noFill/>
            <a:miter lim="800000"/>
            <a:headEnd type="none" w="sm" len="sm"/>
            <a:tailEnd type="none" w="sm" len="sm"/>
          </a:ln>
          <a:effectLst/>
        </p:spPr>
        <p:txBody>
          <a:bodyPr/>
          <a:lstStyle/>
          <a:p>
            <a:pPr marL="457200" indent="-457200" algn="l">
              <a:spcBef>
                <a:spcPct val="20000"/>
              </a:spcBef>
              <a:buClr>
                <a:schemeClr val="tx2"/>
              </a:buClr>
              <a:buSzPct val="90000"/>
            </a:pPr>
            <a:r>
              <a:rPr lang="en-US" sz="2800" b="1" dirty="0">
                <a:effectLst>
                  <a:outerShdw blurRad="38100" dist="38100" dir="2700000" algn="tl">
                    <a:srgbClr val="000000"/>
                  </a:outerShdw>
                </a:effectLst>
              </a:rPr>
              <a:t>A cryptosystem is a five-</a:t>
            </a:r>
            <a:r>
              <a:rPr lang="en-US" sz="2800" b="1" dirty="0" err="1">
                <a:effectLst>
                  <a:outerShdw blurRad="38100" dist="38100" dir="2700000" algn="tl">
                    <a:srgbClr val="000000"/>
                  </a:outerShdw>
                </a:effectLst>
              </a:rPr>
              <a:t>tuple</a:t>
            </a:r>
            <a:r>
              <a:rPr lang="en-US" sz="2800" b="1" dirty="0">
                <a:effectLst>
                  <a:outerShdw blurRad="38100" dist="38100" dir="2700000" algn="tl">
                    <a:srgbClr val="000000"/>
                  </a:outerShdw>
                </a:effectLst>
              </a:rPr>
              <a:t> (P, C, K, E, D), where the following conditions are satisfied:</a:t>
            </a:r>
          </a:p>
          <a:p>
            <a:pPr marL="457200" indent="-457200" algn="l">
              <a:spcBef>
                <a:spcPct val="20000"/>
              </a:spcBef>
              <a:buClr>
                <a:schemeClr val="tx2"/>
              </a:buClr>
              <a:buSzPct val="90000"/>
              <a:buFontTx/>
              <a:buAutoNum type="arabicParenR"/>
            </a:pPr>
            <a:r>
              <a:rPr lang="en-US" sz="2800" b="1" dirty="0">
                <a:effectLst>
                  <a:outerShdw blurRad="38100" dist="38100" dir="2700000" algn="tl">
                    <a:srgbClr val="000000"/>
                  </a:outerShdw>
                </a:effectLst>
              </a:rPr>
              <a:t>P is a finite set of possible plaintexts</a:t>
            </a:r>
          </a:p>
          <a:p>
            <a:pPr marL="457200" indent="-457200" algn="l">
              <a:spcBef>
                <a:spcPct val="20000"/>
              </a:spcBef>
              <a:buClr>
                <a:schemeClr val="tx2"/>
              </a:buClr>
              <a:buSzPct val="90000"/>
              <a:buFontTx/>
              <a:buAutoNum type="arabicParenR"/>
            </a:pPr>
            <a:r>
              <a:rPr lang="en-US" sz="2800" b="1" dirty="0">
                <a:effectLst>
                  <a:outerShdw blurRad="38100" dist="38100" dir="2700000" algn="tl">
                    <a:srgbClr val="000000"/>
                  </a:outerShdw>
                </a:effectLst>
              </a:rPr>
              <a:t>C is a finite set of possible </a:t>
            </a:r>
            <a:r>
              <a:rPr lang="en-US" sz="2800" b="1" dirty="0" err="1">
                <a:effectLst>
                  <a:outerShdw blurRad="38100" dist="38100" dir="2700000" algn="tl">
                    <a:srgbClr val="000000"/>
                  </a:outerShdw>
                </a:effectLst>
              </a:rPr>
              <a:t>ciphertexts</a:t>
            </a:r>
            <a:endParaRPr lang="en-US" sz="2800" b="1" dirty="0">
              <a:effectLst>
                <a:outerShdw blurRad="38100" dist="38100" dir="2700000" algn="tl">
                  <a:srgbClr val="000000"/>
                </a:outerShdw>
              </a:effectLst>
            </a:endParaRPr>
          </a:p>
          <a:p>
            <a:pPr marL="457200" indent="-457200" algn="l">
              <a:spcBef>
                <a:spcPct val="20000"/>
              </a:spcBef>
              <a:buClr>
                <a:schemeClr val="tx2"/>
              </a:buClr>
              <a:buSzPct val="90000"/>
              <a:buFontTx/>
              <a:buAutoNum type="arabicParenR"/>
            </a:pPr>
            <a:r>
              <a:rPr lang="en-US" sz="2800" b="1" dirty="0">
                <a:effectLst>
                  <a:outerShdw blurRad="38100" dist="38100" dir="2700000" algn="tl">
                    <a:srgbClr val="000000"/>
                  </a:outerShdw>
                </a:effectLst>
              </a:rPr>
              <a:t>K, the </a:t>
            </a:r>
            <a:r>
              <a:rPr lang="en-US" sz="2800" b="1" dirty="0" err="1">
                <a:effectLst>
                  <a:outerShdw blurRad="38100" dist="38100" dir="2700000" algn="tl">
                    <a:srgbClr val="000000"/>
                  </a:outerShdw>
                </a:effectLst>
              </a:rPr>
              <a:t>keyspace</a:t>
            </a:r>
            <a:r>
              <a:rPr lang="en-US" sz="2800" b="1" dirty="0">
                <a:effectLst>
                  <a:outerShdw blurRad="38100" dist="38100" dir="2700000" algn="tl">
                    <a:srgbClr val="000000"/>
                  </a:outerShdw>
                </a:effectLst>
              </a:rPr>
              <a:t>, is a finite set of possible keys</a:t>
            </a:r>
          </a:p>
          <a:p>
            <a:pPr marL="457200" indent="-457200" algn="l">
              <a:spcBef>
                <a:spcPct val="20000"/>
              </a:spcBef>
              <a:buClr>
                <a:schemeClr val="tx2"/>
              </a:buClr>
              <a:buSzPct val="90000"/>
              <a:buFontTx/>
              <a:buAutoNum type="arabicParenR"/>
            </a:pPr>
            <a:r>
              <a:rPr lang="en-US" sz="2800" b="1" dirty="0">
                <a:effectLst>
                  <a:outerShdw blurRad="38100" dist="38100" dir="2700000" algn="tl">
                    <a:srgbClr val="000000"/>
                  </a:outerShdw>
                </a:effectLst>
              </a:rPr>
              <a:t>For each K, there is an encryption rule </a:t>
            </a:r>
            <a:r>
              <a:rPr lang="en-US" sz="2800" b="1" dirty="0" err="1">
                <a:effectLst>
                  <a:outerShdw blurRad="38100" dist="38100" dir="2700000" algn="tl">
                    <a:srgbClr val="000000"/>
                  </a:outerShdw>
                </a:effectLst>
              </a:rPr>
              <a:t>e</a:t>
            </a:r>
            <a:r>
              <a:rPr lang="en-US" sz="2800" b="1" baseline="-25000" dirty="0" err="1">
                <a:effectLst>
                  <a:outerShdw blurRad="38100" dist="38100" dir="2700000" algn="tl">
                    <a:srgbClr val="000000"/>
                  </a:outerShdw>
                </a:effectLst>
              </a:rPr>
              <a:t>K</a:t>
            </a:r>
            <a:r>
              <a:rPr lang="en-US" sz="2800" b="1" dirty="0">
                <a:effectLst>
                  <a:outerShdw blurRad="38100" dist="38100" dir="2700000" algn="tl">
                    <a:srgbClr val="000000"/>
                  </a:outerShdw>
                </a:effectLst>
              </a:rPr>
              <a:t>  in E and a corresponding decryption rule </a:t>
            </a:r>
            <a:r>
              <a:rPr lang="en-US" sz="2800" b="1" dirty="0" err="1">
                <a:effectLst>
                  <a:outerShdw blurRad="38100" dist="38100" dir="2700000" algn="tl">
                    <a:srgbClr val="000000"/>
                  </a:outerShdw>
                </a:effectLst>
              </a:rPr>
              <a:t>d</a:t>
            </a:r>
            <a:r>
              <a:rPr lang="en-US" sz="2800" b="1" baseline="-25000" dirty="0" err="1">
                <a:effectLst>
                  <a:outerShdw blurRad="38100" dist="38100" dir="2700000" algn="tl">
                    <a:srgbClr val="000000"/>
                  </a:outerShdw>
                </a:effectLst>
              </a:rPr>
              <a:t>K</a:t>
            </a:r>
            <a:r>
              <a:rPr lang="en-US" sz="2800" b="1" baseline="-25000">
                <a:effectLst>
                  <a:outerShdw blurRad="38100" dist="38100" dir="2700000" algn="tl">
                    <a:srgbClr val="000000"/>
                  </a:outerShdw>
                </a:effectLst>
              </a:rPr>
              <a:t> </a:t>
            </a:r>
            <a:r>
              <a:rPr lang="en-US" sz="2800" b="1">
                <a:effectLst>
                  <a:outerShdw blurRad="38100" dist="38100" dir="2700000" algn="tl">
                    <a:srgbClr val="000000"/>
                  </a:outerShdw>
                </a:effectLst>
              </a:rPr>
              <a:t>in D.  </a:t>
            </a:r>
            <a:r>
              <a:rPr lang="en-US" sz="2800" b="1" dirty="0" err="1">
                <a:effectLst>
                  <a:outerShdw blurRad="38100" dist="38100" dir="2700000" algn="tl">
                    <a:srgbClr val="000000"/>
                  </a:outerShdw>
                </a:effectLst>
              </a:rPr>
              <a:t>e</a:t>
            </a:r>
            <a:r>
              <a:rPr lang="en-US" sz="2800" b="1" baseline="-25000" dirty="0" err="1">
                <a:effectLst>
                  <a:outerShdw blurRad="38100" dist="38100" dir="2700000" algn="tl">
                    <a:srgbClr val="000000"/>
                  </a:outerShdw>
                </a:effectLst>
              </a:rPr>
              <a:t>K</a:t>
            </a:r>
            <a:r>
              <a:rPr lang="en-US" sz="2800" b="1" dirty="0">
                <a:effectLst>
                  <a:outerShdw blurRad="38100" dist="38100" dir="2700000" algn="tl">
                    <a:srgbClr val="000000"/>
                  </a:outerShdw>
                </a:effectLst>
              </a:rPr>
              <a:t> : P </a:t>
            </a:r>
            <a:r>
              <a:rPr lang="en-US" sz="2800" b="1" dirty="0">
                <a:effectLst>
                  <a:outerShdw blurRad="38100" dist="38100" dir="2700000" algn="tl">
                    <a:srgbClr val="000000"/>
                  </a:outerShdw>
                </a:effectLst>
                <a:sym typeface="Wingdings" pitchFamily="2" charset="2"/>
              </a:rPr>
              <a:t></a:t>
            </a:r>
            <a:r>
              <a:rPr lang="en-US" sz="2800" b="1" dirty="0">
                <a:effectLst>
                  <a:outerShdw blurRad="38100" dist="38100" dir="2700000" algn="tl">
                    <a:srgbClr val="000000"/>
                  </a:outerShdw>
                </a:effectLst>
              </a:rPr>
              <a:t> C and </a:t>
            </a:r>
            <a:r>
              <a:rPr lang="en-US" sz="2800" b="1" dirty="0" err="1">
                <a:effectLst>
                  <a:outerShdw blurRad="38100" dist="38100" dir="2700000" algn="tl">
                    <a:srgbClr val="000000"/>
                  </a:outerShdw>
                </a:effectLst>
              </a:rPr>
              <a:t>d</a:t>
            </a:r>
            <a:r>
              <a:rPr lang="en-US" sz="2800" b="1" baseline="-25000" dirty="0" err="1">
                <a:effectLst>
                  <a:outerShdw blurRad="38100" dist="38100" dir="2700000" algn="tl">
                    <a:srgbClr val="000000"/>
                  </a:outerShdw>
                </a:effectLst>
              </a:rPr>
              <a:t>K</a:t>
            </a:r>
            <a:r>
              <a:rPr lang="en-US" sz="2800" b="1" dirty="0">
                <a:effectLst>
                  <a:outerShdw blurRad="38100" dist="38100" dir="2700000" algn="tl">
                    <a:srgbClr val="000000"/>
                  </a:outerShdw>
                </a:effectLst>
              </a:rPr>
              <a:t> : C </a:t>
            </a:r>
            <a:r>
              <a:rPr lang="en-US" sz="2800" b="1" dirty="0">
                <a:effectLst>
                  <a:outerShdw blurRad="38100" dist="38100" dir="2700000" algn="tl">
                    <a:srgbClr val="000000"/>
                  </a:outerShdw>
                </a:effectLst>
                <a:sym typeface="Wingdings" pitchFamily="2" charset="2"/>
              </a:rPr>
              <a:t></a:t>
            </a:r>
            <a:r>
              <a:rPr lang="en-US" sz="2800" b="1" dirty="0">
                <a:effectLst>
                  <a:outerShdw blurRad="38100" dist="38100" dir="2700000" algn="tl">
                    <a:srgbClr val="000000"/>
                  </a:outerShdw>
                </a:effectLst>
              </a:rPr>
              <a:t>P are function such that </a:t>
            </a:r>
            <a:r>
              <a:rPr lang="en-US" sz="2800" b="1" dirty="0" err="1">
                <a:effectLst>
                  <a:outerShdw blurRad="38100" dist="38100" dir="2700000" algn="tl">
                    <a:srgbClr val="000000"/>
                  </a:outerShdw>
                </a:effectLst>
              </a:rPr>
              <a:t>d</a:t>
            </a:r>
            <a:r>
              <a:rPr lang="en-US" sz="2800" b="1" baseline="-25000" dirty="0" err="1">
                <a:effectLst>
                  <a:outerShdw blurRad="38100" dist="38100" dir="2700000" algn="tl">
                    <a:srgbClr val="000000"/>
                  </a:outerShdw>
                </a:effectLst>
              </a:rPr>
              <a:t>K</a:t>
            </a:r>
            <a:r>
              <a:rPr lang="en-US" sz="2800" b="1" dirty="0">
                <a:effectLst>
                  <a:outerShdw blurRad="38100" dist="38100" dir="2700000" algn="tl">
                    <a:srgbClr val="000000"/>
                  </a:outerShdw>
                </a:effectLst>
              </a:rPr>
              <a:t> (</a:t>
            </a:r>
            <a:r>
              <a:rPr lang="en-US" sz="2800" b="1" dirty="0" err="1">
                <a:effectLst>
                  <a:outerShdw blurRad="38100" dist="38100" dir="2700000" algn="tl">
                    <a:srgbClr val="000000"/>
                  </a:outerShdw>
                </a:effectLst>
              </a:rPr>
              <a:t>e</a:t>
            </a:r>
            <a:r>
              <a:rPr lang="en-US" sz="2800" b="1" baseline="-25000" dirty="0" err="1">
                <a:effectLst>
                  <a:outerShdw blurRad="38100" dist="38100" dir="2700000" algn="tl">
                    <a:srgbClr val="000000"/>
                  </a:outerShdw>
                </a:effectLst>
              </a:rPr>
              <a:t>K</a:t>
            </a:r>
            <a:r>
              <a:rPr lang="en-US" sz="2800" b="1" dirty="0">
                <a:effectLst>
                  <a:outerShdw blurRad="38100" dist="38100" dir="2700000" algn="tl">
                    <a:srgbClr val="000000"/>
                  </a:outerShdw>
                </a:effectLst>
              </a:rPr>
              <a:t> (x)) = x for every plaintext x in P.</a:t>
            </a:r>
          </a:p>
        </p:txBody>
      </p:sp>
    </p:spTree>
    <p:extLst>
      <p:ext uri="{BB962C8B-B14F-4D97-AF65-F5344CB8AC3E}">
        <p14:creationId xmlns:p14="http://schemas.microsoft.com/office/powerpoint/2010/main" val="3041226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ChangeArrowheads="1"/>
          </p:cNvSpPr>
          <p:nvPr/>
        </p:nvSpPr>
        <p:spPr bwMode="auto">
          <a:xfrm>
            <a:off x="0" y="1905000"/>
            <a:ext cx="9144000" cy="990600"/>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endParaRPr lang="en-US"/>
          </a:p>
        </p:txBody>
      </p:sp>
      <p:sp>
        <p:nvSpPr>
          <p:cNvPr id="122883" name="Rectangle 3"/>
          <p:cNvSpPr>
            <a:spLocks noGrp="1" noChangeArrowheads="1"/>
          </p:cNvSpPr>
          <p:nvPr>
            <p:ph type="title"/>
          </p:nvPr>
        </p:nvSpPr>
        <p:spPr>
          <a:xfrm>
            <a:off x="1143000" y="0"/>
            <a:ext cx="8001000" cy="1276350"/>
          </a:xfrm>
        </p:spPr>
        <p:txBody>
          <a:bodyPr/>
          <a:lstStyle/>
          <a:p>
            <a:r>
              <a:rPr lang="en-US" b="1">
                <a:effectLst>
                  <a:outerShdw blurRad="38100" dist="38100" dir="2700000" algn="tl">
                    <a:srgbClr val="000000"/>
                  </a:outerShdw>
                </a:effectLst>
              </a:rPr>
              <a:t>Mathematical Representation of Shift Cipher</a:t>
            </a:r>
          </a:p>
        </p:txBody>
      </p:sp>
      <p:sp>
        <p:nvSpPr>
          <p:cNvPr id="122884" name="Rectangle 4"/>
          <p:cNvSpPr>
            <a:spLocks noChangeArrowheads="1"/>
          </p:cNvSpPr>
          <p:nvPr/>
        </p:nvSpPr>
        <p:spPr bwMode="auto">
          <a:xfrm>
            <a:off x="1676400" y="3581400"/>
            <a:ext cx="6705600" cy="1752600"/>
          </a:xfrm>
          <a:prstGeom prst="rect">
            <a:avLst/>
          </a:prstGeom>
          <a:noFill/>
          <a:ln w="12700" cap="sq">
            <a:noFill/>
            <a:miter lim="800000"/>
            <a:headEnd type="none" w="sm" len="sm"/>
            <a:tailEnd type="none" w="sm" len="sm"/>
          </a:ln>
          <a:effectLst/>
        </p:spPr>
        <p:txBody>
          <a:bodyPr/>
          <a:lstStyle/>
          <a:p>
            <a:pPr marL="342900" indent="-342900" algn="l">
              <a:spcBef>
                <a:spcPct val="20000"/>
              </a:spcBef>
              <a:buClr>
                <a:schemeClr val="tx2"/>
              </a:buClr>
              <a:buSzPct val="90000"/>
            </a:pPr>
            <a:r>
              <a:rPr lang="en-US" sz="3200" b="1">
                <a:effectLst>
                  <a:outerShdw blurRad="38100" dist="38100" dir="2700000" algn="tl">
                    <a:srgbClr val="000000"/>
                  </a:outerShdw>
                </a:effectLst>
              </a:rPr>
              <a:t>P= Z</a:t>
            </a:r>
            <a:r>
              <a:rPr lang="en-US" sz="3200" b="1" baseline="-25000">
                <a:effectLst>
                  <a:outerShdw blurRad="38100" dist="38100" dir="2700000" algn="tl">
                    <a:srgbClr val="000000"/>
                  </a:outerShdw>
                </a:effectLst>
              </a:rPr>
              <a:t>26</a:t>
            </a:r>
            <a:r>
              <a:rPr lang="en-US" sz="3200" b="1">
                <a:effectLst>
                  <a:outerShdw blurRad="38100" dist="38100" dir="2700000" algn="tl">
                    <a:srgbClr val="000000"/>
                  </a:outerShdw>
                </a:effectLst>
              </a:rPr>
              <a:t>, C= Z</a:t>
            </a:r>
            <a:r>
              <a:rPr lang="en-US" sz="3200" b="1" baseline="-25000">
                <a:effectLst>
                  <a:outerShdw blurRad="38100" dist="38100" dir="2700000" algn="tl">
                    <a:srgbClr val="000000"/>
                  </a:outerShdw>
                </a:effectLst>
              </a:rPr>
              <a:t>26</a:t>
            </a:r>
            <a:r>
              <a:rPr lang="en-US" sz="3200" b="1">
                <a:effectLst>
                  <a:outerShdw blurRad="38100" dist="38100" dir="2700000" algn="tl">
                    <a:srgbClr val="000000"/>
                  </a:outerShdw>
                </a:effectLst>
              </a:rPr>
              <a:t>, K={0,1,2, …,25}</a:t>
            </a:r>
          </a:p>
          <a:p>
            <a:pPr marL="342900" indent="-342900" algn="l">
              <a:spcBef>
                <a:spcPct val="20000"/>
              </a:spcBef>
              <a:buClr>
                <a:schemeClr val="tx2"/>
              </a:buClr>
              <a:buSzPct val="90000"/>
            </a:pPr>
            <a:r>
              <a:rPr lang="en-US" sz="3200" b="1">
                <a:effectLst>
                  <a:outerShdw blurRad="38100" dist="38100" dir="2700000" algn="tl">
                    <a:srgbClr val="000000"/>
                  </a:outerShdw>
                </a:effectLst>
              </a:rPr>
              <a:t>Encryption: c=E(p)=p+k (mod 26)</a:t>
            </a:r>
          </a:p>
          <a:p>
            <a:pPr marL="342900" indent="-342900" algn="l">
              <a:spcBef>
                <a:spcPct val="20000"/>
              </a:spcBef>
              <a:buClr>
                <a:schemeClr val="tx2"/>
              </a:buClr>
              <a:buSzPct val="90000"/>
            </a:pPr>
            <a:r>
              <a:rPr lang="en-US" sz="3200" b="1">
                <a:effectLst>
                  <a:outerShdw blurRad="38100" dist="38100" dir="2700000" algn="tl">
                    <a:srgbClr val="000000"/>
                  </a:outerShdw>
                </a:effectLst>
              </a:rPr>
              <a:t>Decryption: p=D(c)=c-k (mod 26)   </a:t>
            </a:r>
          </a:p>
        </p:txBody>
      </p:sp>
      <p:sp>
        <p:nvSpPr>
          <p:cNvPr id="122885" name="Text Box 5"/>
          <p:cNvSpPr txBox="1">
            <a:spLocks noChangeArrowheads="1"/>
          </p:cNvSpPr>
          <p:nvPr/>
        </p:nvSpPr>
        <p:spPr bwMode="auto">
          <a:xfrm>
            <a:off x="0" y="1981200"/>
            <a:ext cx="9144000" cy="854075"/>
          </a:xfrm>
          <a:prstGeom prst="rect">
            <a:avLst/>
          </a:prstGeom>
          <a:noFill/>
          <a:ln w="12700" cap="sq">
            <a:noFill/>
            <a:miter lim="800000"/>
            <a:headEnd type="none" w="sm" len="sm"/>
            <a:tailEnd type="none" w="sm" len="sm"/>
          </a:ln>
          <a:effectLst/>
        </p:spPr>
        <p:txBody>
          <a:bodyPr>
            <a:spAutoFit/>
          </a:bodyPr>
          <a:lstStyle/>
          <a:p>
            <a:pPr algn="l">
              <a:spcBef>
                <a:spcPct val="50000"/>
              </a:spcBef>
            </a:pPr>
            <a:r>
              <a:rPr lang="en-US" sz="2000" b="1">
                <a:effectLst>
                  <a:outerShdw blurRad="38100" dist="38100" dir="2700000" algn="tl">
                    <a:srgbClr val="000000"/>
                  </a:outerShdw>
                </a:effectLst>
              </a:rPr>
              <a:t> A   B  C  D E  F  G  H  I  J   K   L   M  N   O    P   Q   R   S   T    U  V   W  X   Y   Z </a:t>
            </a:r>
          </a:p>
          <a:p>
            <a:pPr algn="l">
              <a:spcBef>
                <a:spcPct val="50000"/>
              </a:spcBef>
            </a:pPr>
            <a:r>
              <a:rPr lang="en-US" sz="2000" b="1">
                <a:solidFill>
                  <a:srgbClr val="FF0000"/>
                </a:solidFill>
                <a:effectLst>
                  <a:outerShdw blurRad="38100" dist="38100" dir="2700000" algn="tl">
                    <a:srgbClr val="000000"/>
                  </a:outerShdw>
                </a:effectLst>
              </a:rPr>
              <a:t>  0   1  2   3  4   5   6  7   8  9  10  11  12  13  14  15  16  17  18  19  20  21  22  23  24  25</a:t>
            </a:r>
            <a:r>
              <a:rPr lang="en-US" sz="2000" b="1">
                <a:effectLst>
                  <a:outerShdw blurRad="38100" dist="38100" dir="2700000" algn="tl">
                    <a:srgbClr val="000000"/>
                  </a:outerShdw>
                </a:effectLst>
              </a:rPr>
              <a:t> </a:t>
            </a:r>
          </a:p>
        </p:txBody>
      </p:sp>
      <p:sp>
        <p:nvSpPr>
          <p:cNvPr id="122886" name="Rectangle 6"/>
          <p:cNvSpPr>
            <a:spLocks noChangeArrowheads="1"/>
          </p:cNvSpPr>
          <p:nvPr/>
        </p:nvSpPr>
        <p:spPr bwMode="auto">
          <a:xfrm>
            <a:off x="1676400" y="3581400"/>
            <a:ext cx="6705600" cy="1981200"/>
          </a:xfrm>
          <a:prstGeom prst="rect">
            <a:avLst/>
          </a:prstGeom>
          <a:noFill/>
          <a:ln w="38100" cap="sq">
            <a:solidFill>
              <a:schemeClr val="tx1"/>
            </a:solidFill>
            <a:miter lim="800000"/>
            <a:headEnd type="none" w="sm" len="sm"/>
            <a:tailEnd type="none" w="sm" len="sm"/>
          </a:ln>
          <a:effectLst/>
        </p:spPr>
        <p:txBody>
          <a:bodyPr wrap="none" anchor="ctr"/>
          <a:lstStyle/>
          <a:p>
            <a:endParaRPr lang="en-US"/>
          </a:p>
        </p:txBody>
      </p:sp>
      <p:sp>
        <p:nvSpPr>
          <p:cNvPr id="122887" name="Text Box 7"/>
          <p:cNvSpPr txBox="1">
            <a:spLocks noChangeArrowheads="1"/>
          </p:cNvSpPr>
          <p:nvPr/>
        </p:nvSpPr>
        <p:spPr bwMode="auto">
          <a:xfrm>
            <a:off x="0" y="1371600"/>
            <a:ext cx="9144000" cy="457200"/>
          </a:xfrm>
          <a:prstGeom prst="rect">
            <a:avLst/>
          </a:prstGeom>
          <a:noFill/>
          <a:ln w="12700" cap="sq">
            <a:noFill/>
            <a:miter lim="800000"/>
            <a:headEnd type="none" w="sm" len="sm"/>
            <a:tailEnd type="none" w="sm" len="sm"/>
          </a:ln>
          <a:effectLst/>
        </p:spPr>
        <p:txBody>
          <a:bodyPr>
            <a:spAutoFit/>
          </a:bodyPr>
          <a:lstStyle/>
          <a:p>
            <a:pPr>
              <a:spcBef>
                <a:spcPct val="50000"/>
              </a:spcBef>
            </a:pPr>
            <a:r>
              <a:rPr lang="en-US" b="1">
                <a:effectLst>
                  <a:outerShdw blurRad="38100" dist="38100" dir="2700000" algn="tl">
                    <a:srgbClr val="000000"/>
                  </a:outerShdw>
                </a:effectLst>
              </a:rPr>
              <a:t>Corresponding table between alphabetic and natural number</a:t>
            </a:r>
          </a:p>
        </p:txBody>
      </p:sp>
      <p:sp>
        <p:nvSpPr>
          <p:cNvPr id="122888" name="Text Box 8"/>
          <p:cNvSpPr txBox="1">
            <a:spLocks noChangeArrowheads="1"/>
          </p:cNvSpPr>
          <p:nvPr/>
        </p:nvSpPr>
        <p:spPr bwMode="auto">
          <a:xfrm>
            <a:off x="1143000" y="2895600"/>
            <a:ext cx="7239000" cy="579438"/>
          </a:xfrm>
          <a:prstGeom prst="rect">
            <a:avLst/>
          </a:prstGeom>
          <a:noFill/>
          <a:ln w="12700" cap="sq">
            <a:noFill/>
            <a:miter lim="800000"/>
            <a:headEnd type="none" w="sm" len="sm"/>
            <a:tailEnd type="none" w="sm" len="sm"/>
          </a:ln>
          <a:effectLst/>
        </p:spPr>
        <p:txBody>
          <a:bodyPr>
            <a:spAutoFit/>
          </a:bodyPr>
          <a:lstStyle/>
          <a:p>
            <a:pPr>
              <a:spcBef>
                <a:spcPct val="50000"/>
              </a:spcBef>
            </a:pPr>
            <a:r>
              <a:rPr lang="en-US" sz="3200" b="1">
                <a:effectLst>
                  <a:outerShdw blurRad="38100" dist="38100" dir="2700000" algn="tl">
                    <a:srgbClr val="000000"/>
                  </a:outerShdw>
                </a:effectLst>
              </a:rPr>
              <a:t>Z</a:t>
            </a:r>
            <a:r>
              <a:rPr lang="en-US" sz="3200" b="1" baseline="-25000">
                <a:effectLst>
                  <a:outerShdw blurRad="38100" dist="38100" dir="2700000" algn="tl">
                    <a:srgbClr val="000000"/>
                  </a:outerShdw>
                </a:effectLst>
              </a:rPr>
              <a:t>26</a:t>
            </a:r>
            <a:r>
              <a:rPr lang="en-US" sz="3200" b="1">
                <a:effectLst>
                  <a:outerShdw blurRad="38100" dist="38100" dir="2700000" algn="tl">
                    <a:srgbClr val="000000"/>
                  </a:outerShdw>
                </a:effectLst>
              </a:rPr>
              <a:t>={0,1,2,…,25}</a:t>
            </a:r>
          </a:p>
        </p:txBody>
      </p:sp>
      <p:sp>
        <p:nvSpPr>
          <p:cNvPr id="122889" name="Text Box 9"/>
          <p:cNvSpPr txBox="1">
            <a:spLocks noChangeArrowheads="1"/>
          </p:cNvSpPr>
          <p:nvPr/>
        </p:nvSpPr>
        <p:spPr bwMode="auto">
          <a:xfrm>
            <a:off x="990600" y="5715000"/>
            <a:ext cx="8153400" cy="579438"/>
          </a:xfrm>
          <a:prstGeom prst="rect">
            <a:avLst/>
          </a:prstGeom>
          <a:noFill/>
          <a:ln w="12700" cap="sq">
            <a:noFill/>
            <a:miter lim="800000"/>
            <a:headEnd type="none" w="sm" len="sm"/>
            <a:tailEnd type="none" w="sm" len="sm"/>
          </a:ln>
          <a:effectLst/>
        </p:spPr>
        <p:txBody>
          <a:bodyPr>
            <a:spAutoFit/>
          </a:bodyPr>
          <a:lstStyle/>
          <a:p>
            <a:pPr algn="l">
              <a:spcBef>
                <a:spcPct val="50000"/>
              </a:spcBef>
            </a:pPr>
            <a:r>
              <a:rPr lang="en-US" sz="3200" b="1">
                <a:effectLst>
                  <a:outerShdw blurRad="38100" dist="38100" dir="2700000" algn="tl">
                    <a:srgbClr val="000000"/>
                  </a:outerShdw>
                </a:effectLst>
              </a:rPr>
              <a:t>      D(c)=c-k=(p+k)-k=p </a:t>
            </a:r>
            <a:r>
              <a:rPr lang="en-US" sz="3200" b="1">
                <a:effectLst>
                  <a:outerShdw blurRad="38100" dist="38100" dir="2700000" algn="tl">
                    <a:srgbClr val="000000"/>
                  </a:outerShdw>
                </a:effectLst>
                <a:sym typeface="Wingdings" pitchFamily="2" charset="2"/>
              </a:rPr>
              <a:t> D(E(p))=p</a:t>
            </a:r>
            <a:r>
              <a:rPr lang="en-US" sz="3200" b="1">
                <a:effectLst>
                  <a:outerShdw blurRad="38100" dist="38100" dir="2700000" algn="tl">
                    <a:srgbClr val="000000"/>
                  </a:outerShdw>
                </a:effectLst>
              </a:rPr>
              <a:t> </a:t>
            </a:r>
          </a:p>
        </p:txBody>
      </p:sp>
      <p:sp>
        <p:nvSpPr>
          <p:cNvPr id="122890" name="Text Box 10"/>
          <p:cNvSpPr txBox="1">
            <a:spLocks noChangeArrowheads="1"/>
          </p:cNvSpPr>
          <p:nvPr/>
        </p:nvSpPr>
        <p:spPr bwMode="auto">
          <a:xfrm>
            <a:off x="1371600" y="6400800"/>
            <a:ext cx="7543800" cy="457200"/>
          </a:xfrm>
          <a:prstGeom prst="rect">
            <a:avLst/>
          </a:prstGeom>
          <a:noFill/>
          <a:ln w="12700" cap="sq">
            <a:noFill/>
            <a:miter lim="800000"/>
            <a:headEnd type="none" w="sm" len="sm"/>
            <a:tailEnd type="none" w="sm" len="sm"/>
          </a:ln>
          <a:effectLst/>
        </p:spPr>
        <p:txBody>
          <a:bodyPr>
            <a:spAutoFit/>
          </a:bodyPr>
          <a:lstStyle/>
          <a:p>
            <a:pPr algn="l">
              <a:spcBef>
                <a:spcPct val="50000"/>
              </a:spcBef>
            </a:pPr>
            <a:r>
              <a:rPr lang="en-US" b="1">
                <a:effectLst>
                  <a:outerShdw blurRad="38100" dist="38100" dir="2700000" algn="tl">
                    <a:srgbClr val="000000"/>
                  </a:outerShdw>
                </a:effectLst>
              </a:rPr>
              <a:t>    Caesar Cipher is a shift cipher with k=3. </a:t>
            </a:r>
          </a:p>
        </p:txBody>
      </p:sp>
    </p:spTree>
    <p:extLst>
      <p:ext uri="{BB962C8B-B14F-4D97-AF65-F5344CB8AC3E}">
        <p14:creationId xmlns:p14="http://schemas.microsoft.com/office/powerpoint/2010/main" val="1835249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1143000" y="0"/>
            <a:ext cx="8001000" cy="914400"/>
          </a:xfrm>
        </p:spPr>
        <p:txBody>
          <a:bodyPr/>
          <a:lstStyle/>
          <a:p>
            <a:r>
              <a:rPr lang="en-US" b="1" dirty="0">
                <a:effectLst>
                  <a:outerShdw blurRad="38100" dist="38100" dir="2700000" algn="tl">
                    <a:srgbClr val="000000"/>
                  </a:outerShdw>
                </a:effectLst>
              </a:rPr>
              <a:t>Modular Arithmetic</a:t>
            </a:r>
          </a:p>
        </p:txBody>
      </p:sp>
      <p:sp>
        <p:nvSpPr>
          <p:cNvPr id="123908" name="Text Box 4"/>
          <p:cNvSpPr txBox="1">
            <a:spLocks noChangeArrowheads="1"/>
          </p:cNvSpPr>
          <p:nvPr/>
        </p:nvSpPr>
        <p:spPr bwMode="auto">
          <a:xfrm>
            <a:off x="1143000" y="1143000"/>
            <a:ext cx="8001000" cy="3539431"/>
          </a:xfrm>
          <a:prstGeom prst="rect">
            <a:avLst/>
          </a:prstGeom>
          <a:noFill/>
          <a:ln w="12700" cap="sq">
            <a:noFill/>
            <a:miter lim="800000"/>
            <a:headEnd type="none" w="sm" len="sm"/>
            <a:tailEnd type="none" w="sm" len="sm"/>
          </a:ln>
          <a:effectLst/>
        </p:spPr>
        <p:txBody>
          <a:bodyPr>
            <a:spAutoFit/>
          </a:bodyPr>
          <a:lstStyle/>
          <a:p>
            <a:pPr algn="l">
              <a:spcBef>
                <a:spcPct val="50000"/>
              </a:spcBef>
            </a:pPr>
            <a:r>
              <a:rPr lang="en-US" sz="3200" b="1" dirty="0">
                <a:effectLst>
                  <a:outerShdw blurRad="38100" dist="38100" dir="2700000" algn="tl">
                    <a:srgbClr val="000000"/>
                  </a:outerShdw>
                </a:effectLst>
              </a:rPr>
              <a:t>Definition:</a:t>
            </a:r>
          </a:p>
          <a:p>
            <a:pPr algn="l">
              <a:spcBef>
                <a:spcPct val="50000"/>
              </a:spcBef>
            </a:pPr>
            <a:r>
              <a:rPr lang="en-US" sz="3200" b="1" dirty="0">
                <a:effectLst>
                  <a:outerShdw blurRad="38100" dist="38100" dir="2700000" algn="tl">
                    <a:srgbClr val="000000"/>
                  </a:outerShdw>
                </a:effectLst>
              </a:rPr>
              <a:t>x (mod n) = the remainder of x divided by n.</a:t>
            </a:r>
          </a:p>
          <a:p>
            <a:pPr algn="l">
              <a:spcBef>
                <a:spcPct val="50000"/>
              </a:spcBef>
            </a:pPr>
            <a:r>
              <a:rPr lang="en-US" sz="3200" b="1" dirty="0">
                <a:effectLst>
                  <a:outerShdw blurRad="38100" dist="38100" dir="2700000" algn="tl">
                    <a:srgbClr val="000000"/>
                  </a:outerShdw>
                </a:effectLst>
              </a:rPr>
              <a:t>For example, 34 (mod 26) = 8</a:t>
            </a:r>
          </a:p>
          <a:p>
            <a:pPr algn="l">
              <a:spcBef>
                <a:spcPct val="50000"/>
              </a:spcBef>
            </a:pPr>
            <a:endParaRPr lang="en-US" sz="3200" b="1" dirty="0">
              <a:effectLst>
                <a:outerShdw blurRad="38100" dist="38100" dir="2700000" algn="tl">
                  <a:srgbClr val="000000"/>
                </a:outerShdw>
              </a:effectLst>
            </a:endParaRPr>
          </a:p>
          <a:p>
            <a:pPr algn="l">
              <a:spcBef>
                <a:spcPct val="50000"/>
              </a:spcBef>
            </a:pPr>
            <a:endParaRPr lang="en-US" sz="3200" b="1" dirty="0">
              <a:effectLst>
                <a:outerShdw blurRad="38100" dist="38100" dir="2700000" algn="tl">
                  <a:srgbClr val="000000"/>
                </a:outerShdw>
              </a:effectLst>
            </a:endParaRPr>
          </a:p>
        </p:txBody>
      </p:sp>
    </p:spTree>
    <p:extLst>
      <p:ext uri="{BB962C8B-B14F-4D97-AF65-F5344CB8AC3E}">
        <p14:creationId xmlns:p14="http://schemas.microsoft.com/office/powerpoint/2010/main" val="2006439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a:xfrm>
            <a:off x="1143000" y="0"/>
            <a:ext cx="8001000" cy="914400"/>
          </a:xfrm>
        </p:spPr>
        <p:txBody>
          <a:bodyPr/>
          <a:lstStyle/>
          <a:p>
            <a:r>
              <a:rPr lang="en-US" b="1">
                <a:effectLst>
                  <a:outerShdw blurRad="38100" dist="38100" dir="2700000" algn="tl">
                    <a:srgbClr val="000000"/>
                  </a:outerShdw>
                </a:effectLst>
              </a:rPr>
              <a:t>Example of Caesar Cipher</a:t>
            </a:r>
          </a:p>
        </p:txBody>
      </p:sp>
      <p:sp>
        <p:nvSpPr>
          <p:cNvPr id="125956" name="Text Box 4"/>
          <p:cNvSpPr txBox="1">
            <a:spLocks noChangeArrowheads="1"/>
          </p:cNvSpPr>
          <p:nvPr/>
        </p:nvSpPr>
        <p:spPr bwMode="auto">
          <a:xfrm>
            <a:off x="1143000" y="990600"/>
            <a:ext cx="8001000" cy="4238625"/>
          </a:xfrm>
          <a:prstGeom prst="rect">
            <a:avLst/>
          </a:prstGeom>
          <a:noFill/>
          <a:ln w="12700" cap="sq">
            <a:noFill/>
            <a:miter lim="800000"/>
            <a:headEnd type="none" w="sm" len="sm"/>
            <a:tailEnd type="none" w="sm" len="sm"/>
          </a:ln>
          <a:effectLst/>
        </p:spPr>
        <p:txBody>
          <a:bodyPr>
            <a:spAutoFit/>
          </a:bodyPr>
          <a:lstStyle/>
          <a:p>
            <a:pPr algn="l">
              <a:spcBef>
                <a:spcPct val="50000"/>
              </a:spcBef>
            </a:pPr>
            <a:r>
              <a:rPr lang="en-US" sz="3200" b="1">
                <a:effectLst>
                  <a:outerShdw blurRad="38100" dist="38100" dir="2700000" algn="tl">
                    <a:srgbClr val="000000"/>
                  </a:outerShdw>
                </a:effectLst>
              </a:rPr>
              <a:t>p=“y”=24, </a:t>
            </a:r>
          </a:p>
          <a:p>
            <a:pPr algn="l">
              <a:spcBef>
                <a:spcPct val="50000"/>
              </a:spcBef>
            </a:pPr>
            <a:r>
              <a:rPr lang="en-US" sz="3200" b="1">
                <a:effectLst>
                  <a:outerShdw blurRad="38100" dist="38100" dir="2700000" algn="tl">
                    <a:srgbClr val="000000"/>
                  </a:outerShdw>
                </a:effectLst>
              </a:rPr>
              <a:t>Encryption:</a:t>
            </a:r>
          </a:p>
          <a:p>
            <a:pPr>
              <a:spcBef>
                <a:spcPct val="50000"/>
              </a:spcBef>
            </a:pPr>
            <a:r>
              <a:rPr lang="en-US" sz="3200" b="1">
                <a:effectLst>
                  <a:outerShdw blurRad="38100" dist="38100" dir="2700000" algn="tl">
                    <a:srgbClr val="000000"/>
                  </a:outerShdw>
                </a:effectLst>
              </a:rPr>
              <a:t>        c=p+3=24+3=27=26+1=1 (mod 26)=“b”</a:t>
            </a:r>
          </a:p>
          <a:p>
            <a:pPr algn="l">
              <a:spcBef>
                <a:spcPct val="50000"/>
              </a:spcBef>
            </a:pPr>
            <a:r>
              <a:rPr lang="en-US" sz="3200" b="1">
                <a:effectLst>
                  <a:outerShdw blurRad="38100" dist="38100" dir="2700000" algn="tl">
                    <a:srgbClr val="000000"/>
                  </a:outerShdw>
                </a:effectLst>
              </a:rPr>
              <a:t>c=“b”=1, </a:t>
            </a:r>
          </a:p>
          <a:p>
            <a:pPr algn="l">
              <a:spcBef>
                <a:spcPct val="50000"/>
              </a:spcBef>
            </a:pPr>
            <a:r>
              <a:rPr lang="en-US" sz="3200" b="1">
                <a:effectLst>
                  <a:outerShdw blurRad="38100" dist="38100" dir="2700000" algn="tl">
                    <a:srgbClr val="000000"/>
                  </a:outerShdw>
                </a:effectLst>
              </a:rPr>
              <a:t>Decryption:</a:t>
            </a:r>
          </a:p>
          <a:p>
            <a:pPr>
              <a:spcBef>
                <a:spcPct val="50000"/>
              </a:spcBef>
            </a:pPr>
            <a:r>
              <a:rPr lang="en-US" sz="3200" b="1">
                <a:effectLst>
                  <a:outerShdw blurRad="38100" dist="38100" dir="2700000" algn="tl">
                    <a:srgbClr val="000000"/>
                  </a:outerShdw>
                </a:effectLst>
              </a:rPr>
              <a:t>p=c-3=1-3=-2=-2+26=24 (mod 26)=“y”</a:t>
            </a:r>
          </a:p>
        </p:txBody>
      </p:sp>
    </p:spTree>
    <p:extLst>
      <p:ext uri="{BB962C8B-B14F-4D97-AF65-F5344CB8AC3E}">
        <p14:creationId xmlns:p14="http://schemas.microsoft.com/office/powerpoint/2010/main" val="142001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a:xfrm>
            <a:off x="1066800" y="0"/>
            <a:ext cx="7772400" cy="1276350"/>
          </a:xfrm>
        </p:spPr>
        <p:txBody>
          <a:bodyPr/>
          <a:lstStyle/>
          <a:p>
            <a:r>
              <a:rPr lang="en-US" b="1">
                <a:effectLst>
                  <a:outerShdw blurRad="38100" dist="38100" dir="2700000" algn="tl">
                    <a:srgbClr val="000000"/>
                  </a:outerShdw>
                </a:effectLst>
              </a:rPr>
              <a:t>Example of Shift Cipher</a:t>
            </a:r>
          </a:p>
        </p:txBody>
      </p:sp>
      <p:sp>
        <p:nvSpPr>
          <p:cNvPr id="126981" name="Rectangle 5"/>
          <p:cNvSpPr>
            <a:spLocks noChangeArrowheads="1"/>
          </p:cNvSpPr>
          <p:nvPr/>
        </p:nvSpPr>
        <p:spPr bwMode="auto">
          <a:xfrm>
            <a:off x="1219200" y="1295400"/>
            <a:ext cx="7924800" cy="5562600"/>
          </a:xfrm>
          <a:prstGeom prst="rect">
            <a:avLst/>
          </a:prstGeom>
          <a:noFill/>
          <a:ln w="12700" cap="sq">
            <a:noFill/>
            <a:miter lim="800000"/>
            <a:headEnd type="none" w="sm" len="sm"/>
            <a:tailEnd type="none" w="sm" len="sm"/>
          </a:ln>
          <a:effectLst/>
        </p:spPr>
        <p:txBody>
          <a:bodyPr/>
          <a:lstStyle/>
          <a:p>
            <a:pPr marL="342900" indent="-342900" algn="l">
              <a:spcBef>
                <a:spcPct val="20000"/>
              </a:spcBef>
              <a:buClr>
                <a:schemeClr val="tx2"/>
              </a:buClr>
              <a:buSzPct val="90000"/>
            </a:pPr>
            <a:r>
              <a:rPr lang="en-US" sz="3200" b="1">
                <a:effectLst>
                  <a:outerShdw blurRad="38100" dist="38100" dir="2700000" algn="tl">
                    <a:srgbClr val="000000"/>
                  </a:outerShdw>
                </a:effectLst>
              </a:rPr>
              <a:t>k=5</a:t>
            </a:r>
          </a:p>
          <a:p>
            <a:pPr marL="342900" indent="-342900" algn="l">
              <a:spcBef>
                <a:spcPct val="20000"/>
              </a:spcBef>
              <a:buClr>
                <a:schemeClr val="tx2"/>
              </a:buClr>
              <a:buSzPct val="90000"/>
            </a:pPr>
            <a:r>
              <a:rPr lang="en-US" sz="3200" b="1">
                <a:effectLst>
                  <a:outerShdw blurRad="38100" dist="38100" dir="2700000" algn="tl">
                    <a:srgbClr val="000000"/>
                  </a:outerShdw>
                </a:effectLst>
              </a:rPr>
              <a:t>Plaintext=“security” </a:t>
            </a:r>
            <a:r>
              <a:rPr lang="en-US" sz="3200" b="1">
                <a:effectLst>
                  <a:outerShdw blurRad="38100" dist="38100" dir="2700000" algn="tl">
                    <a:srgbClr val="000000"/>
                  </a:outerShdw>
                </a:effectLst>
                <a:sym typeface="Wingdings" pitchFamily="2" charset="2"/>
              </a:rPr>
              <a:t>(18,4,2,20,17,8,19,24)</a:t>
            </a:r>
          </a:p>
          <a:p>
            <a:pPr marL="342900" indent="-342900" algn="l">
              <a:spcBef>
                <a:spcPct val="20000"/>
              </a:spcBef>
              <a:buClr>
                <a:schemeClr val="tx2"/>
              </a:buClr>
              <a:buSzPct val="90000"/>
            </a:pPr>
            <a:r>
              <a:rPr lang="en-US" sz="3200" b="1">
                <a:effectLst>
                  <a:outerShdw blurRad="38100" dist="38100" dir="2700000" algn="tl">
                    <a:srgbClr val="000000"/>
                  </a:outerShdw>
                </a:effectLst>
              </a:rPr>
              <a:t>c=E(p)=p+5 (mod 26)</a:t>
            </a:r>
          </a:p>
          <a:p>
            <a:pPr marL="342900" indent="-342900" algn="l">
              <a:spcBef>
                <a:spcPct val="20000"/>
              </a:spcBef>
              <a:buClr>
                <a:schemeClr val="tx2"/>
              </a:buClr>
              <a:buSzPct val="90000"/>
            </a:pPr>
            <a:r>
              <a:rPr lang="en-US" sz="3200" b="1">
                <a:effectLst>
                  <a:outerShdw blurRad="38100" dist="38100" dir="2700000" algn="tl">
                    <a:srgbClr val="000000"/>
                  </a:outerShdw>
                </a:effectLst>
                <a:sym typeface="Wingdings" pitchFamily="2" charset="2"/>
              </a:rPr>
              <a:t>E: </a:t>
            </a:r>
            <a:r>
              <a:rPr lang="en-US" sz="2800" b="1">
                <a:effectLst>
                  <a:outerShdw blurRad="38100" dist="38100" dir="2700000" algn="tl">
                    <a:srgbClr val="000000"/>
                  </a:outerShdw>
                </a:effectLst>
                <a:sym typeface="Wingdings" pitchFamily="2" charset="2"/>
              </a:rPr>
              <a:t>(18,4,2,20,17,8,19,24) +(5,5,5,5,5,5,5)</a:t>
            </a:r>
          </a:p>
          <a:p>
            <a:pPr marL="342900" indent="-342900" algn="l">
              <a:spcBef>
                <a:spcPct val="20000"/>
              </a:spcBef>
              <a:buClr>
                <a:schemeClr val="tx2"/>
              </a:buClr>
              <a:buSzPct val="90000"/>
            </a:pPr>
            <a:r>
              <a:rPr lang="en-US" sz="2800" b="1">
                <a:effectLst>
                  <a:outerShdw blurRad="38100" dist="38100" dir="2700000" algn="tl">
                    <a:srgbClr val="000000"/>
                  </a:outerShdw>
                </a:effectLst>
              </a:rPr>
              <a:t>      (23,9,7,25,22,13,24,3) (mod 26)</a:t>
            </a:r>
          </a:p>
          <a:p>
            <a:pPr marL="342900" indent="-342900" algn="l">
              <a:spcBef>
                <a:spcPct val="20000"/>
              </a:spcBef>
              <a:buClr>
                <a:schemeClr val="tx2"/>
              </a:buClr>
              <a:buSzPct val="90000"/>
            </a:pPr>
            <a:r>
              <a:rPr lang="en-US" sz="3200" b="1">
                <a:effectLst>
                  <a:outerShdw blurRad="38100" dist="38100" dir="2700000" algn="tl">
                    <a:srgbClr val="000000"/>
                  </a:outerShdw>
                </a:effectLst>
              </a:rPr>
              <a:t>p=D(c )=c-5 (mod 26)</a:t>
            </a:r>
          </a:p>
          <a:p>
            <a:pPr marL="342900" indent="-342900" algn="l">
              <a:spcBef>
                <a:spcPct val="20000"/>
              </a:spcBef>
              <a:buClr>
                <a:schemeClr val="tx2"/>
              </a:buClr>
              <a:buSzPct val="90000"/>
            </a:pPr>
            <a:r>
              <a:rPr lang="en-US" sz="3200" b="1">
                <a:effectLst>
                  <a:outerShdw blurRad="38100" dist="38100" dir="2700000" algn="tl">
                    <a:srgbClr val="000000"/>
                  </a:outerShdw>
                </a:effectLst>
              </a:rPr>
              <a:t>D: </a:t>
            </a:r>
            <a:r>
              <a:rPr lang="en-US" sz="2800" b="1">
                <a:effectLst>
                  <a:outerShdw blurRad="38100" dist="38100" dir="2700000" algn="tl">
                    <a:srgbClr val="000000"/>
                  </a:outerShdw>
                </a:effectLst>
              </a:rPr>
              <a:t>(23,9,7,25,22,13,24,3)-</a:t>
            </a:r>
            <a:r>
              <a:rPr lang="en-US" sz="2800" b="1">
                <a:effectLst>
                  <a:outerShdw blurRad="38100" dist="38100" dir="2700000" algn="tl">
                    <a:srgbClr val="000000"/>
                  </a:outerShdw>
                </a:effectLst>
                <a:sym typeface="Wingdings" pitchFamily="2" charset="2"/>
              </a:rPr>
              <a:t>(5,5,5,5,5,5,5)</a:t>
            </a:r>
          </a:p>
          <a:p>
            <a:pPr marL="342900" indent="-342900" algn="l">
              <a:spcBef>
                <a:spcPct val="20000"/>
              </a:spcBef>
              <a:buClr>
                <a:schemeClr val="tx2"/>
              </a:buClr>
              <a:buSzPct val="90000"/>
            </a:pPr>
            <a:r>
              <a:rPr lang="en-US" sz="2800" b="1">
                <a:effectLst>
                  <a:outerShdw blurRad="38100" dist="38100" dir="2700000" algn="tl">
                    <a:srgbClr val="000000"/>
                  </a:outerShdw>
                </a:effectLst>
                <a:sym typeface="Wingdings" pitchFamily="2" charset="2"/>
              </a:rPr>
              <a:t>      (18,4,2,20,17,8,19,24) (mod 26)</a:t>
            </a:r>
          </a:p>
          <a:p>
            <a:pPr marL="342900" indent="-342900" algn="l">
              <a:spcBef>
                <a:spcPct val="20000"/>
              </a:spcBef>
              <a:buClr>
                <a:schemeClr val="tx2"/>
              </a:buClr>
              <a:buSzPct val="90000"/>
            </a:pPr>
            <a:r>
              <a:rPr lang="en-US" sz="2800" b="1">
                <a:effectLst>
                  <a:outerShdw blurRad="38100" dist="38100" dir="2700000" algn="tl">
                    <a:srgbClr val="000000"/>
                  </a:outerShdw>
                </a:effectLst>
                <a:sym typeface="Wingdings" pitchFamily="2" charset="2"/>
              </a:rPr>
              <a:t>         s  e c  u   r   i  t   y</a:t>
            </a:r>
          </a:p>
        </p:txBody>
      </p:sp>
    </p:spTree>
    <p:extLst>
      <p:ext uri="{BB962C8B-B14F-4D97-AF65-F5344CB8AC3E}">
        <p14:creationId xmlns:p14="http://schemas.microsoft.com/office/powerpoint/2010/main" val="573785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4" name="Rectangle 4"/>
          <p:cNvSpPr>
            <a:spLocks noChangeArrowheads="1"/>
          </p:cNvSpPr>
          <p:nvPr/>
        </p:nvSpPr>
        <p:spPr bwMode="auto">
          <a:xfrm>
            <a:off x="3810000" y="381000"/>
            <a:ext cx="3200400" cy="1143000"/>
          </a:xfrm>
          <a:prstGeom prst="rect">
            <a:avLst/>
          </a:prstGeom>
          <a:noFill/>
          <a:ln w="12700" cap="sq">
            <a:noFill/>
            <a:miter lim="800000"/>
            <a:headEnd type="none" w="sm" len="sm"/>
            <a:tailEnd type="none" w="sm" len="sm"/>
          </a:ln>
          <a:effectLst/>
        </p:spPr>
        <p:txBody>
          <a:bodyPr anchor="ctr"/>
          <a:lstStyle/>
          <a:p>
            <a:pPr algn="l"/>
            <a:r>
              <a:rPr lang="en-US" sz="4400" b="1">
                <a:solidFill>
                  <a:schemeClr val="tx2"/>
                </a:solidFill>
                <a:effectLst>
                  <a:outerShdw blurRad="38100" dist="38100" dir="2700000" algn="tl">
                    <a:srgbClr val="000000"/>
                  </a:outerShdw>
                </a:effectLst>
              </a:rPr>
              <a:t>Question</a:t>
            </a:r>
          </a:p>
        </p:txBody>
      </p:sp>
      <p:pic>
        <p:nvPicPr>
          <p:cNvPr id="128005" name="Picture 5" descr="C:\WINDOWS\Application Data\Microsoft\Media Catalog\Downloaded Clips\cl82\j0326228.wmf"/>
          <p:cNvPicPr>
            <a:picLocks noChangeAspect="1" noChangeArrowheads="1"/>
          </p:cNvPicPr>
          <p:nvPr/>
        </p:nvPicPr>
        <p:blipFill>
          <a:blip r:embed="rId3" cstate="print"/>
          <a:srcRect/>
          <a:stretch>
            <a:fillRect/>
          </a:stretch>
        </p:blipFill>
        <p:spPr bwMode="auto">
          <a:xfrm>
            <a:off x="7488238" y="0"/>
            <a:ext cx="1655762" cy="1844675"/>
          </a:xfrm>
          <a:prstGeom prst="rect">
            <a:avLst/>
          </a:prstGeom>
          <a:noFill/>
        </p:spPr>
      </p:pic>
      <p:pic>
        <p:nvPicPr>
          <p:cNvPr id="128006" name="Picture 6" descr="C:\WINDOWS\Application Data\Microsoft\Media Catalog\Downloaded Clips\cl82\j0326226.wmf"/>
          <p:cNvPicPr>
            <a:picLocks noChangeAspect="1" noChangeArrowheads="1"/>
          </p:cNvPicPr>
          <p:nvPr/>
        </p:nvPicPr>
        <p:blipFill>
          <a:blip r:embed="rId4" cstate="print"/>
          <a:srcRect/>
          <a:stretch>
            <a:fillRect/>
          </a:stretch>
        </p:blipFill>
        <p:spPr bwMode="auto">
          <a:xfrm>
            <a:off x="1143000" y="0"/>
            <a:ext cx="1689100" cy="1887538"/>
          </a:xfrm>
          <a:prstGeom prst="rect">
            <a:avLst/>
          </a:prstGeom>
          <a:noFill/>
        </p:spPr>
      </p:pic>
      <p:pic>
        <p:nvPicPr>
          <p:cNvPr id="128007" name="Picture 7" descr="C:\WINDOWS\Application Data\Microsoft\Media Catalog\Downloaded Clips\cl45\j0172629.gif"/>
          <p:cNvPicPr>
            <a:picLocks noChangeAspect="1" noChangeArrowheads="1" noCrop="1"/>
          </p:cNvPicPr>
          <p:nvPr/>
        </p:nvPicPr>
        <p:blipFill>
          <a:blip r:embed="rId5" cstate="print"/>
          <a:srcRect/>
          <a:stretch>
            <a:fillRect/>
          </a:stretch>
        </p:blipFill>
        <p:spPr bwMode="auto">
          <a:xfrm>
            <a:off x="8183563" y="5761038"/>
            <a:ext cx="960437" cy="1096962"/>
          </a:xfrm>
          <a:prstGeom prst="rect">
            <a:avLst/>
          </a:prstGeom>
          <a:noFill/>
        </p:spPr>
      </p:pic>
      <p:sp>
        <p:nvSpPr>
          <p:cNvPr id="128008" name="Rectangle 8"/>
          <p:cNvSpPr>
            <a:spLocks noChangeArrowheads="1"/>
          </p:cNvSpPr>
          <p:nvPr/>
        </p:nvSpPr>
        <p:spPr bwMode="auto">
          <a:xfrm>
            <a:off x="1052018" y="2070101"/>
            <a:ext cx="7953375" cy="3733800"/>
          </a:xfrm>
          <a:prstGeom prst="rect">
            <a:avLst/>
          </a:prstGeom>
          <a:noFill/>
          <a:ln w="12700" cap="sq">
            <a:noFill/>
            <a:miter lim="800000"/>
            <a:headEnd type="none" w="sm" len="sm"/>
            <a:tailEnd type="none" w="sm" len="sm"/>
          </a:ln>
          <a:effectLst/>
        </p:spPr>
        <p:txBody>
          <a:bodyPr/>
          <a:lstStyle/>
          <a:p>
            <a:pPr marL="342900" indent="-342900" algn="l">
              <a:spcBef>
                <a:spcPct val="20000"/>
              </a:spcBef>
              <a:buClr>
                <a:schemeClr val="tx2"/>
              </a:buClr>
              <a:buSzPct val="90000"/>
            </a:pPr>
            <a:r>
              <a:rPr lang="en-US" sz="3200" b="1" dirty="0">
                <a:solidFill>
                  <a:srgbClr val="99FF33"/>
                </a:solidFill>
                <a:effectLst>
                  <a:outerShdw blurRad="38100" dist="38100" dir="2700000" algn="tl">
                    <a:srgbClr val="000000"/>
                  </a:outerShdw>
                </a:effectLst>
              </a:rPr>
              <a:t>   Is it difficult to decrypt the shift cipher without knowing key? Decrypt the following  shift ciphertext?</a:t>
            </a:r>
          </a:p>
          <a:p>
            <a:pPr marL="342900" indent="-342900" algn="l">
              <a:spcBef>
                <a:spcPct val="20000"/>
              </a:spcBef>
              <a:buClr>
                <a:schemeClr val="tx2"/>
              </a:buClr>
              <a:buSzPct val="90000"/>
            </a:pPr>
            <a:endParaRPr lang="en-US" sz="3200" b="1" dirty="0">
              <a:solidFill>
                <a:srgbClr val="99FF33"/>
              </a:solidFill>
              <a:effectLst>
                <a:outerShdw blurRad="38100" dist="38100" dir="2700000" algn="tl">
                  <a:srgbClr val="000000"/>
                </a:outerShdw>
              </a:effectLst>
            </a:endParaRPr>
          </a:p>
          <a:p>
            <a:pPr marL="342900" indent="-342900" algn="l">
              <a:spcBef>
                <a:spcPct val="20000"/>
              </a:spcBef>
              <a:buClr>
                <a:schemeClr val="tx2"/>
              </a:buClr>
              <a:buSzPct val="90000"/>
            </a:pPr>
            <a:r>
              <a:rPr lang="en-US" sz="3200" b="1" dirty="0">
                <a:solidFill>
                  <a:srgbClr val="99FF33"/>
                </a:solidFill>
                <a:effectLst>
                  <a:outerShdw blurRad="38100" dist="38100" dir="2700000" algn="tl">
                    <a:srgbClr val="000000"/>
                  </a:outerShdw>
                </a:effectLst>
              </a:rPr>
              <a:t>   </a:t>
            </a:r>
            <a:r>
              <a:rPr lang="en-US" sz="3200" b="1" dirty="0" err="1">
                <a:solidFill>
                  <a:srgbClr val="99FF33"/>
                </a:solidFill>
                <a:effectLst>
                  <a:outerShdw blurRad="38100" dist="38100" dir="2700000" algn="tl">
                    <a:srgbClr val="000000"/>
                  </a:outerShdw>
                </a:effectLst>
              </a:rPr>
              <a:t>fev</a:t>
            </a:r>
            <a:r>
              <a:rPr lang="en-US" sz="3200" b="1" dirty="0">
                <a:solidFill>
                  <a:srgbClr val="99FF33"/>
                </a:solidFill>
                <a:effectLst>
                  <a:outerShdw blurRad="38100" dist="38100" dir="2700000" algn="tl">
                    <a:srgbClr val="000000"/>
                  </a:outerShdw>
                </a:effectLst>
              </a:rPr>
              <a:t> </a:t>
            </a:r>
            <a:r>
              <a:rPr lang="en-US" sz="3200" b="1" dirty="0" err="1">
                <a:solidFill>
                  <a:srgbClr val="99FF33"/>
                </a:solidFill>
                <a:effectLst>
                  <a:outerShdw blurRad="38100" dist="38100" dir="2700000" algn="tl">
                    <a:srgbClr val="000000"/>
                  </a:outerShdw>
                </a:effectLst>
              </a:rPr>
              <a:t>gfleu</a:t>
            </a:r>
            <a:r>
              <a:rPr lang="en-US" sz="3200" b="1" dirty="0">
                <a:solidFill>
                  <a:srgbClr val="99FF33"/>
                </a:solidFill>
                <a:effectLst>
                  <a:outerShdw blurRad="38100" dist="38100" dir="2700000" algn="tl">
                    <a:srgbClr val="000000"/>
                  </a:outerShdw>
                </a:effectLst>
              </a:rPr>
              <a:t> </a:t>
            </a:r>
            <a:r>
              <a:rPr lang="en-US" sz="3200" b="1" dirty="0" err="1">
                <a:solidFill>
                  <a:srgbClr val="99FF33"/>
                </a:solidFill>
                <a:effectLst>
                  <a:outerShdw blurRad="38100" dist="38100" dir="2700000" algn="tl">
                    <a:srgbClr val="000000"/>
                  </a:outerShdw>
                </a:effectLst>
              </a:rPr>
              <a:t>fw</a:t>
            </a:r>
            <a:r>
              <a:rPr lang="en-US" sz="3200" b="1" dirty="0">
                <a:solidFill>
                  <a:srgbClr val="99FF33"/>
                </a:solidFill>
                <a:effectLst>
                  <a:outerShdw blurRad="38100" dist="38100" dir="2700000" algn="tl">
                    <a:srgbClr val="000000"/>
                  </a:outerShdw>
                </a:effectLst>
              </a:rPr>
              <a:t> </a:t>
            </a:r>
            <a:r>
              <a:rPr lang="en-US" sz="3200" b="1" dirty="0" err="1">
                <a:solidFill>
                  <a:srgbClr val="99FF33"/>
                </a:solidFill>
                <a:effectLst>
                  <a:outerShdw blurRad="38100" dist="38100" dir="2700000" algn="tl">
                    <a:srgbClr val="000000"/>
                  </a:outerShdw>
                </a:effectLst>
              </a:rPr>
              <a:t>cvriezex</a:t>
            </a:r>
            <a:r>
              <a:rPr lang="en-US" sz="3200" b="1" dirty="0">
                <a:solidFill>
                  <a:srgbClr val="99FF33"/>
                </a:solidFill>
                <a:effectLst>
                  <a:outerShdw blurRad="38100" dist="38100" dir="2700000" algn="tl">
                    <a:srgbClr val="000000"/>
                  </a:outerShdw>
                </a:effectLst>
              </a:rPr>
              <a:t> </a:t>
            </a:r>
            <a:r>
              <a:rPr lang="en-US" sz="3200" b="1" dirty="0" err="1">
                <a:solidFill>
                  <a:srgbClr val="99FF33"/>
                </a:solidFill>
                <a:effectLst>
                  <a:outerShdw blurRad="38100" dist="38100" dir="2700000" algn="tl">
                    <a:srgbClr val="000000"/>
                  </a:outerShdw>
                </a:effectLst>
              </a:rPr>
              <a:t>ivhlzivj</a:t>
            </a:r>
            <a:r>
              <a:rPr lang="en-US" sz="3200" b="1" dirty="0">
                <a:solidFill>
                  <a:srgbClr val="99FF33"/>
                </a:solidFill>
                <a:effectLst>
                  <a:outerShdw blurRad="38100" dist="38100" dir="2700000" algn="tl">
                    <a:srgbClr val="000000"/>
                  </a:outerShdw>
                </a:effectLst>
              </a:rPr>
              <a:t> </a:t>
            </a:r>
            <a:r>
              <a:rPr lang="en-US" sz="3200" b="1" dirty="0" err="1">
                <a:solidFill>
                  <a:srgbClr val="99FF33"/>
                </a:solidFill>
                <a:effectLst>
                  <a:outerShdw blurRad="38100" dist="38100" dir="2700000" algn="tl">
                    <a:srgbClr val="000000"/>
                  </a:outerShdw>
                </a:effectLst>
              </a:rPr>
              <a:t>kve</a:t>
            </a:r>
            <a:r>
              <a:rPr lang="en-US" sz="3200" b="1" dirty="0">
                <a:solidFill>
                  <a:srgbClr val="99FF33"/>
                </a:solidFill>
                <a:effectLst>
                  <a:outerShdw blurRad="38100" dist="38100" dir="2700000" algn="tl">
                    <a:srgbClr val="000000"/>
                  </a:outerShdw>
                </a:effectLst>
              </a:rPr>
              <a:t> </a:t>
            </a:r>
            <a:r>
              <a:rPr lang="en-US" sz="3200" b="1" dirty="0" err="1">
                <a:solidFill>
                  <a:srgbClr val="99FF33"/>
                </a:solidFill>
                <a:effectLst>
                  <a:outerShdw blurRad="38100" dist="38100" dir="2700000" algn="tl">
                    <a:srgbClr val="000000"/>
                  </a:outerShdw>
                </a:effectLst>
              </a:rPr>
              <a:t>gfleuj</a:t>
            </a:r>
            <a:r>
              <a:rPr lang="en-US" sz="3200" b="1" dirty="0">
                <a:solidFill>
                  <a:srgbClr val="99FF33"/>
                </a:solidFill>
                <a:effectLst>
                  <a:outerShdw blurRad="38100" dist="38100" dir="2700000" algn="tl">
                    <a:srgbClr val="000000"/>
                  </a:outerShdw>
                </a:effectLst>
              </a:rPr>
              <a:t> </a:t>
            </a:r>
            <a:r>
              <a:rPr lang="en-US" sz="3200" b="1" dirty="0" err="1">
                <a:solidFill>
                  <a:srgbClr val="99FF33"/>
                </a:solidFill>
                <a:effectLst>
                  <a:outerShdw blurRad="38100" dist="38100" dir="2700000" algn="tl">
                    <a:srgbClr val="000000"/>
                  </a:outerShdw>
                </a:effectLst>
              </a:rPr>
              <a:t>fw</a:t>
            </a:r>
            <a:r>
              <a:rPr lang="en-US" sz="3200" b="1" dirty="0">
                <a:solidFill>
                  <a:srgbClr val="99FF33"/>
                </a:solidFill>
                <a:effectLst>
                  <a:outerShdw blurRad="38100" dist="38100" dir="2700000" algn="tl">
                    <a:srgbClr val="000000"/>
                  </a:outerShdw>
                </a:effectLst>
              </a:rPr>
              <a:t> </a:t>
            </a:r>
            <a:r>
              <a:rPr lang="en-US" sz="3200" b="1" dirty="0" err="1">
                <a:solidFill>
                  <a:srgbClr val="99FF33"/>
                </a:solidFill>
                <a:effectLst>
                  <a:outerShdw blurRad="38100" dist="38100" dir="2700000" algn="tl">
                    <a:srgbClr val="000000"/>
                  </a:outerShdw>
                </a:effectLst>
              </a:rPr>
              <a:t>tfddfe</a:t>
            </a:r>
            <a:r>
              <a:rPr lang="en-US" sz="3200" b="1" dirty="0">
                <a:solidFill>
                  <a:srgbClr val="99FF33"/>
                </a:solidFill>
                <a:effectLst>
                  <a:outerShdw blurRad="38100" dist="38100" dir="2700000" algn="tl">
                    <a:srgbClr val="000000"/>
                  </a:outerShdw>
                </a:effectLst>
              </a:rPr>
              <a:t> </a:t>
            </a:r>
            <a:r>
              <a:rPr lang="en-US" sz="3200" b="1" dirty="0" err="1">
                <a:solidFill>
                  <a:srgbClr val="99FF33"/>
                </a:solidFill>
                <a:effectLst>
                  <a:outerShdw blurRad="38100" dist="38100" dir="2700000" algn="tl">
                    <a:srgbClr val="000000"/>
                  </a:outerShdw>
                </a:effectLst>
              </a:rPr>
              <a:t>jvejv</a:t>
            </a:r>
            <a:r>
              <a:rPr lang="en-US" sz="3200" b="1" dirty="0">
                <a:solidFill>
                  <a:srgbClr val="99FF33"/>
                </a:solidFill>
                <a:effectLst>
                  <a:outerShdw blurRad="38100" dist="38100" dir="2700000" algn="tl">
                    <a:srgbClr val="000000"/>
                  </a:outerShdw>
                </a:effectLst>
              </a:rPr>
              <a:t> </a:t>
            </a:r>
            <a:r>
              <a:rPr lang="en-US" sz="3200" b="1" dirty="0" err="1">
                <a:solidFill>
                  <a:srgbClr val="99FF33"/>
                </a:solidFill>
                <a:effectLst>
                  <a:outerShdw blurRad="38100" dist="38100" dir="2700000" algn="tl">
                    <a:srgbClr val="000000"/>
                  </a:outerShdw>
                </a:effectLst>
              </a:rPr>
              <a:t>kf</a:t>
            </a:r>
            <a:r>
              <a:rPr lang="en-US" sz="3200" b="1" dirty="0">
                <a:solidFill>
                  <a:srgbClr val="99FF33"/>
                </a:solidFill>
                <a:effectLst>
                  <a:outerShdw blurRad="38100" dist="38100" dir="2700000" algn="tl">
                    <a:srgbClr val="000000"/>
                  </a:outerShdw>
                </a:effectLst>
              </a:rPr>
              <a:t> </a:t>
            </a:r>
            <a:r>
              <a:rPr lang="en-US" sz="3200" b="1" dirty="0" err="1">
                <a:solidFill>
                  <a:srgbClr val="99FF33"/>
                </a:solidFill>
                <a:effectLst>
                  <a:outerShdw blurRad="38100" dist="38100" dir="2700000" algn="tl">
                    <a:srgbClr val="000000"/>
                  </a:outerShdw>
                </a:effectLst>
              </a:rPr>
              <a:t>rggcp</a:t>
            </a:r>
            <a:r>
              <a:rPr lang="en-US" sz="3200" b="1" dirty="0">
                <a:solidFill>
                  <a:srgbClr val="99FF33"/>
                </a:solidFill>
                <a:effectLst>
                  <a:outerShdw blurRad="38100" dist="38100" dir="2700000" algn="tl">
                    <a:srgbClr val="000000"/>
                  </a:outerShdw>
                </a:effectLst>
              </a:rPr>
              <a:t> </a:t>
            </a:r>
            <a:r>
              <a:rPr lang="en-US" sz="3200" b="1" dirty="0" err="1">
                <a:solidFill>
                  <a:srgbClr val="99FF33"/>
                </a:solidFill>
                <a:effectLst>
                  <a:outerShdw blurRad="38100" dist="38100" dir="2700000" algn="tl">
                    <a:srgbClr val="000000"/>
                  </a:outerShdw>
                </a:effectLst>
              </a:rPr>
              <a:t>zk</a:t>
            </a:r>
            <a:endParaRPr lang="en-US" sz="3200" b="1" dirty="0">
              <a:solidFill>
                <a:srgbClr val="99FF33"/>
              </a:solidFill>
              <a:effectLst>
                <a:outerShdw blurRad="38100" dist="38100" dir="2700000" algn="tl">
                  <a:srgbClr val="000000"/>
                </a:outerShdw>
              </a:effectLst>
            </a:endParaRPr>
          </a:p>
        </p:txBody>
      </p:sp>
    </p:spTree>
    <p:extLst>
      <p:ext uri="{BB962C8B-B14F-4D97-AF65-F5344CB8AC3E}">
        <p14:creationId xmlns:p14="http://schemas.microsoft.com/office/powerpoint/2010/main" val="34685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6" name="Picture 2" descr="C:\WINDOWS\Application Data\Microsoft\Media Catalog\Downloaded Clips\cl1f\j0078743.wmf"/>
          <p:cNvPicPr>
            <a:picLocks noChangeAspect="1" noChangeArrowheads="1"/>
          </p:cNvPicPr>
          <p:nvPr/>
        </p:nvPicPr>
        <p:blipFill>
          <a:blip r:embed="rId2" cstate="print"/>
          <a:srcRect/>
          <a:stretch>
            <a:fillRect/>
          </a:stretch>
        </p:blipFill>
        <p:spPr bwMode="auto">
          <a:xfrm>
            <a:off x="7464425" y="0"/>
            <a:ext cx="1679575" cy="2286000"/>
          </a:xfrm>
          <a:prstGeom prst="rect">
            <a:avLst/>
          </a:prstGeom>
          <a:noFill/>
        </p:spPr>
      </p:pic>
      <p:sp>
        <p:nvSpPr>
          <p:cNvPr id="129028" name="Rectangle 4"/>
          <p:cNvSpPr>
            <a:spLocks noChangeArrowheads="1"/>
          </p:cNvSpPr>
          <p:nvPr/>
        </p:nvSpPr>
        <p:spPr bwMode="auto">
          <a:xfrm>
            <a:off x="4038600" y="609600"/>
            <a:ext cx="2438400" cy="838200"/>
          </a:xfrm>
          <a:prstGeom prst="rect">
            <a:avLst/>
          </a:prstGeom>
          <a:noFill/>
          <a:ln w="12700" cap="sq">
            <a:noFill/>
            <a:miter lim="800000"/>
            <a:headEnd type="none" w="sm" len="sm"/>
            <a:tailEnd type="none" w="sm" len="sm"/>
          </a:ln>
          <a:effectLst/>
        </p:spPr>
        <p:txBody>
          <a:bodyPr anchor="ctr"/>
          <a:lstStyle/>
          <a:p>
            <a:pPr algn="l"/>
            <a:r>
              <a:rPr lang="en-US" sz="4400" b="1">
                <a:solidFill>
                  <a:schemeClr val="tx2"/>
                </a:solidFill>
                <a:effectLst>
                  <a:outerShdw blurRad="38100" dist="38100" dir="2700000" algn="tl">
                    <a:srgbClr val="000000"/>
                  </a:outerShdw>
                </a:effectLst>
              </a:rPr>
              <a:t>Answer</a:t>
            </a:r>
          </a:p>
        </p:txBody>
      </p:sp>
      <p:pic>
        <p:nvPicPr>
          <p:cNvPr id="129029" name="Picture 5" descr="C:\WINDOWS\Application Data\Microsoft\Media Catalog\Downloaded Clips\cl20\j0082283.wmf"/>
          <p:cNvPicPr>
            <a:picLocks noChangeAspect="1" noChangeArrowheads="1"/>
          </p:cNvPicPr>
          <p:nvPr/>
        </p:nvPicPr>
        <p:blipFill>
          <a:blip r:embed="rId3" cstate="print"/>
          <a:srcRect/>
          <a:stretch>
            <a:fillRect/>
          </a:stretch>
        </p:blipFill>
        <p:spPr bwMode="auto">
          <a:xfrm>
            <a:off x="1143000" y="0"/>
            <a:ext cx="1803400" cy="1862138"/>
          </a:xfrm>
          <a:prstGeom prst="rect">
            <a:avLst/>
          </a:prstGeom>
          <a:noFill/>
        </p:spPr>
      </p:pic>
      <p:sp>
        <p:nvSpPr>
          <p:cNvPr id="129030" name="Rectangle 6"/>
          <p:cNvSpPr>
            <a:spLocks noChangeArrowheads="1"/>
          </p:cNvSpPr>
          <p:nvPr/>
        </p:nvSpPr>
        <p:spPr bwMode="auto">
          <a:xfrm>
            <a:off x="0" y="1752600"/>
            <a:ext cx="9144000" cy="4238625"/>
          </a:xfrm>
          <a:prstGeom prst="rect">
            <a:avLst/>
          </a:prstGeom>
          <a:noFill/>
          <a:ln w="12700" cap="sq">
            <a:noFill/>
            <a:miter lim="800000"/>
            <a:headEnd type="none" w="sm" len="sm"/>
            <a:tailEnd type="none" w="sm" len="sm"/>
          </a:ln>
          <a:effectLst/>
        </p:spPr>
        <p:txBody>
          <a:bodyPr>
            <a:spAutoFit/>
          </a:bodyPr>
          <a:lstStyle/>
          <a:p>
            <a:pPr algn="l">
              <a:spcBef>
                <a:spcPct val="50000"/>
              </a:spcBef>
              <a:buClr>
                <a:schemeClr val="tx2"/>
              </a:buClr>
              <a:buSzPct val="90000"/>
            </a:pPr>
            <a:r>
              <a:rPr lang="en-US" sz="3200" b="1" dirty="0">
                <a:effectLst>
                  <a:outerShdw blurRad="38100" dist="38100" dir="2700000" algn="tl">
                    <a:srgbClr val="000000"/>
                  </a:outerShdw>
                </a:effectLst>
              </a:rPr>
              <a:t>P: a b c d e  f  g h </a:t>
            </a:r>
            <a:r>
              <a:rPr lang="en-US" sz="3200" b="1" dirty="0" err="1">
                <a:effectLst>
                  <a:outerShdw blurRad="38100" dist="38100" dir="2700000" algn="tl">
                    <a:srgbClr val="000000"/>
                  </a:outerShdw>
                </a:effectLst>
              </a:rPr>
              <a:t>i</a:t>
            </a:r>
            <a:r>
              <a:rPr lang="en-US" sz="3200" b="1" dirty="0">
                <a:effectLst>
                  <a:outerShdw blurRad="38100" dist="38100" dir="2700000" algn="tl">
                    <a:srgbClr val="000000"/>
                  </a:outerShdw>
                </a:effectLst>
              </a:rPr>
              <a:t>  j k  l  m n o p q  r s t u v  w x y z</a:t>
            </a:r>
          </a:p>
          <a:p>
            <a:pPr algn="l">
              <a:spcBef>
                <a:spcPct val="50000"/>
              </a:spcBef>
              <a:buClr>
                <a:schemeClr val="tx2"/>
              </a:buClr>
              <a:buSzPct val="90000"/>
            </a:pPr>
            <a:r>
              <a:rPr lang="en-US" sz="3200" b="1" dirty="0">
                <a:effectLst>
                  <a:outerShdw blurRad="38100" dist="38100" dir="2700000" algn="tl">
                    <a:srgbClr val="000000"/>
                  </a:outerShdw>
                </a:effectLst>
              </a:rPr>
              <a:t>C: r s  t  u v w x y z a b  c d  e  f g  h </a:t>
            </a:r>
            <a:r>
              <a:rPr lang="en-US" sz="3200" b="1" dirty="0" err="1">
                <a:effectLst>
                  <a:outerShdw blurRad="38100" dist="38100" dir="2700000" algn="tl">
                    <a:srgbClr val="000000"/>
                  </a:outerShdw>
                </a:effectLst>
              </a:rPr>
              <a:t>i</a:t>
            </a:r>
            <a:r>
              <a:rPr lang="en-US" sz="3200" b="1" dirty="0">
                <a:effectLst>
                  <a:outerShdw blurRad="38100" dist="38100" dir="2700000" algn="tl">
                    <a:srgbClr val="000000"/>
                  </a:outerShdw>
                </a:effectLst>
              </a:rPr>
              <a:t>  j k l m n o p q </a:t>
            </a:r>
          </a:p>
          <a:p>
            <a:pPr algn="l">
              <a:spcBef>
                <a:spcPct val="50000"/>
              </a:spcBef>
              <a:buClr>
                <a:schemeClr val="tx2"/>
              </a:buClr>
              <a:buSzPct val="90000"/>
            </a:pPr>
            <a:r>
              <a:rPr lang="en-US" sz="3200" b="1" dirty="0">
                <a:effectLst>
                  <a:outerShdw blurRad="38100" dist="38100" dir="2700000" algn="tl">
                    <a:srgbClr val="000000"/>
                  </a:outerShdw>
                </a:effectLst>
              </a:rPr>
              <a:t>P: one pound of learning requires ten pounds of </a:t>
            </a:r>
          </a:p>
          <a:p>
            <a:pPr algn="l">
              <a:spcBef>
                <a:spcPct val="50000"/>
              </a:spcBef>
              <a:buClr>
                <a:schemeClr val="tx2"/>
              </a:buClr>
              <a:buSzPct val="90000"/>
            </a:pPr>
            <a:r>
              <a:rPr lang="en-US" sz="3200" b="1" dirty="0">
                <a:effectLst>
                  <a:outerShdw blurRad="38100" dist="38100" dir="2700000" algn="tl">
                    <a:srgbClr val="000000"/>
                  </a:outerShdw>
                </a:effectLst>
              </a:rPr>
              <a:t>     common sense to apply it</a:t>
            </a:r>
          </a:p>
          <a:p>
            <a:pPr algn="l">
              <a:spcBef>
                <a:spcPct val="50000"/>
              </a:spcBef>
              <a:buClr>
                <a:schemeClr val="tx2"/>
              </a:buClr>
              <a:buSzPct val="90000"/>
            </a:pPr>
            <a:r>
              <a:rPr lang="en-US" sz="3200" b="1" dirty="0">
                <a:effectLst>
                  <a:outerShdw blurRad="38100" dist="38100" dir="2700000" algn="tl">
                    <a:srgbClr val="000000"/>
                  </a:outerShdw>
                </a:effectLst>
              </a:rPr>
              <a:t>C: </a:t>
            </a:r>
            <a:r>
              <a:rPr lang="en-US" sz="3200" b="1" dirty="0" err="1">
                <a:effectLst>
                  <a:outerShdw blurRad="38100" dist="38100" dir="2700000" algn="tl">
                    <a:srgbClr val="000000"/>
                  </a:outerShdw>
                </a:effectLst>
              </a:rPr>
              <a:t>fev</a:t>
            </a:r>
            <a:r>
              <a:rPr lang="en-US" sz="3200" b="1" dirty="0">
                <a:effectLst>
                  <a:outerShdw blurRad="38100" dist="38100" dir="2700000" algn="tl">
                    <a:srgbClr val="000000"/>
                  </a:outerShdw>
                </a:effectLst>
              </a:rPr>
              <a:t> </a:t>
            </a:r>
            <a:r>
              <a:rPr lang="en-US" sz="3200" b="1" dirty="0" err="1">
                <a:effectLst>
                  <a:outerShdw blurRad="38100" dist="38100" dir="2700000" algn="tl">
                    <a:srgbClr val="000000"/>
                  </a:outerShdw>
                </a:effectLst>
              </a:rPr>
              <a:t>gfleu</a:t>
            </a:r>
            <a:r>
              <a:rPr lang="en-US" sz="3200" b="1" dirty="0">
                <a:effectLst>
                  <a:outerShdw blurRad="38100" dist="38100" dir="2700000" algn="tl">
                    <a:srgbClr val="000000"/>
                  </a:outerShdw>
                </a:effectLst>
              </a:rPr>
              <a:t> </a:t>
            </a:r>
            <a:r>
              <a:rPr lang="en-US" sz="3200" b="1" dirty="0" err="1">
                <a:effectLst>
                  <a:outerShdw blurRad="38100" dist="38100" dir="2700000" algn="tl">
                    <a:srgbClr val="000000"/>
                  </a:outerShdw>
                </a:effectLst>
              </a:rPr>
              <a:t>fw</a:t>
            </a:r>
            <a:r>
              <a:rPr lang="en-US" sz="3200" b="1" dirty="0">
                <a:effectLst>
                  <a:outerShdw blurRad="38100" dist="38100" dir="2700000" algn="tl">
                    <a:srgbClr val="000000"/>
                  </a:outerShdw>
                </a:effectLst>
              </a:rPr>
              <a:t> </a:t>
            </a:r>
            <a:r>
              <a:rPr lang="en-US" sz="3200" b="1" dirty="0" err="1">
                <a:effectLst>
                  <a:outerShdw blurRad="38100" dist="38100" dir="2700000" algn="tl">
                    <a:srgbClr val="000000"/>
                  </a:outerShdw>
                </a:effectLst>
              </a:rPr>
              <a:t>cvriezex</a:t>
            </a:r>
            <a:r>
              <a:rPr lang="en-US" sz="3200" b="1" dirty="0">
                <a:effectLst>
                  <a:outerShdw blurRad="38100" dist="38100" dir="2700000" algn="tl">
                    <a:srgbClr val="000000"/>
                  </a:outerShdw>
                </a:effectLst>
              </a:rPr>
              <a:t> </a:t>
            </a:r>
            <a:r>
              <a:rPr lang="en-US" sz="3200" b="1" dirty="0" err="1">
                <a:effectLst>
                  <a:outerShdw blurRad="38100" dist="38100" dir="2700000" algn="tl">
                    <a:srgbClr val="000000"/>
                  </a:outerShdw>
                </a:effectLst>
              </a:rPr>
              <a:t>ivhlzivj</a:t>
            </a:r>
            <a:r>
              <a:rPr lang="en-US" sz="3200" b="1" dirty="0">
                <a:effectLst>
                  <a:outerShdw blurRad="38100" dist="38100" dir="2700000" algn="tl">
                    <a:srgbClr val="000000"/>
                  </a:outerShdw>
                </a:effectLst>
              </a:rPr>
              <a:t> </a:t>
            </a:r>
            <a:r>
              <a:rPr lang="en-US" sz="3200" b="1" dirty="0" err="1">
                <a:effectLst>
                  <a:outerShdw blurRad="38100" dist="38100" dir="2700000" algn="tl">
                    <a:srgbClr val="000000"/>
                  </a:outerShdw>
                </a:effectLst>
              </a:rPr>
              <a:t>kve</a:t>
            </a:r>
            <a:r>
              <a:rPr lang="en-US" sz="3200" b="1" dirty="0">
                <a:effectLst>
                  <a:outerShdw blurRad="38100" dist="38100" dir="2700000" algn="tl">
                    <a:srgbClr val="000000"/>
                  </a:outerShdw>
                </a:effectLst>
              </a:rPr>
              <a:t> </a:t>
            </a:r>
            <a:r>
              <a:rPr lang="en-US" sz="3200" b="1" dirty="0" err="1">
                <a:effectLst>
                  <a:outerShdw blurRad="38100" dist="38100" dir="2700000" algn="tl">
                    <a:srgbClr val="000000"/>
                  </a:outerShdw>
                </a:effectLst>
              </a:rPr>
              <a:t>gfleuj</a:t>
            </a:r>
            <a:r>
              <a:rPr lang="en-US" sz="3200" b="1" dirty="0">
                <a:effectLst>
                  <a:outerShdw blurRad="38100" dist="38100" dir="2700000" algn="tl">
                    <a:srgbClr val="000000"/>
                  </a:outerShdw>
                </a:effectLst>
              </a:rPr>
              <a:t> </a:t>
            </a:r>
            <a:r>
              <a:rPr lang="en-US" sz="3200" b="1" dirty="0" err="1">
                <a:effectLst>
                  <a:outerShdw blurRad="38100" dist="38100" dir="2700000" algn="tl">
                    <a:srgbClr val="000000"/>
                  </a:outerShdw>
                </a:effectLst>
              </a:rPr>
              <a:t>fw</a:t>
            </a:r>
            <a:r>
              <a:rPr lang="en-US" sz="3200" b="1" dirty="0">
                <a:effectLst>
                  <a:outerShdw blurRad="38100" dist="38100" dir="2700000" algn="tl">
                    <a:srgbClr val="000000"/>
                  </a:outerShdw>
                </a:effectLst>
              </a:rPr>
              <a:t> </a:t>
            </a:r>
          </a:p>
          <a:p>
            <a:pPr algn="l">
              <a:spcBef>
                <a:spcPct val="50000"/>
              </a:spcBef>
              <a:buClr>
                <a:schemeClr val="tx2"/>
              </a:buClr>
              <a:buSzPct val="90000"/>
            </a:pPr>
            <a:r>
              <a:rPr lang="en-US" sz="3200" b="1" dirty="0">
                <a:effectLst>
                  <a:outerShdw blurRad="38100" dist="38100" dir="2700000" algn="tl">
                    <a:srgbClr val="000000"/>
                  </a:outerShdw>
                </a:effectLst>
              </a:rPr>
              <a:t>     </a:t>
            </a:r>
            <a:r>
              <a:rPr lang="en-US" sz="3200" b="1" dirty="0" err="1">
                <a:effectLst>
                  <a:outerShdw blurRad="38100" dist="38100" dir="2700000" algn="tl">
                    <a:srgbClr val="000000"/>
                  </a:outerShdw>
                </a:effectLst>
              </a:rPr>
              <a:t>tfddfe</a:t>
            </a:r>
            <a:r>
              <a:rPr lang="en-US" sz="3200" b="1" dirty="0">
                <a:effectLst>
                  <a:outerShdw blurRad="38100" dist="38100" dir="2700000" algn="tl">
                    <a:srgbClr val="000000"/>
                  </a:outerShdw>
                </a:effectLst>
              </a:rPr>
              <a:t> </a:t>
            </a:r>
            <a:r>
              <a:rPr lang="en-US" sz="3200" b="1" dirty="0" err="1">
                <a:effectLst>
                  <a:outerShdw blurRad="38100" dist="38100" dir="2700000" algn="tl">
                    <a:srgbClr val="000000"/>
                  </a:outerShdw>
                </a:effectLst>
              </a:rPr>
              <a:t>jvejv</a:t>
            </a:r>
            <a:r>
              <a:rPr lang="en-US" sz="3200" b="1" dirty="0">
                <a:effectLst>
                  <a:outerShdw blurRad="38100" dist="38100" dir="2700000" algn="tl">
                    <a:srgbClr val="000000"/>
                  </a:outerShdw>
                </a:effectLst>
              </a:rPr>
              <a:t> </a:t>
            </a:r>
            <a:r>
              <a:rPr lang="en-US" sz="3200" b="1" dirty="0" err="1">
                <a:effectLst>
                  <a:outerShdw blurRad="38100" dist="38100" dir="2700000" algn="tl">
                    <a:srgbClr val="000000"/>
                  </a:outerShdw>
                </a:effectLst>
              </a:rPr>
              <a:t>kf</a:t>
            </a:r>
            <a:r>
              <a:rPr lang="en-US" sz="3200" b="1" dirty="0">
                <a:effectLst>
                  <a:outerShdw blurRad="38100" dist="38100" dir="2700000" algn="tl">
                    <a:srgbClr val="000000"/>
                  </a:outerShdw>
                </a:effectLst>
              </a:rPr>
              <a:t> </a:t>
            </a:r>
            <a:r>
              <a:rPr lang="en-US" sz="3200" b="1" dirty="0" err="1">
                <a:effectLst>
                  <a:outerShdw blurRad="38100" dist="38100" dir="2700000" algn="tl">
                    <a:srgbClr val="000000"/>
                  </a:outerShdw>
                </a:effectLst>
              </a:rPr>
              <a:t>rggcp</a:t>
            </a:r>
            <a:r>
              <a:rPr lang="en-US" sz="3200" b="1" dirty="0">
                <a:effectLst>
                  <a:outerShdw blurRad="38100" dist="38100" dir="2700000" algn="tl">
                    <a:srgbClr val="000000"/>
                  </a:outerShdw>
                </a:effectLst>
              </a:rPr>
              <a:t> </a:t>
            </a:r>
            <a:r>
              <a:rPr lang="en-US" sz="3200" b="1" dirty="0" err="1">
                <a:effectLst>
                  <a:outerShdw blurRad="38100" dist="38100" dir="2700000" algn="tl">
                    <a:srgbClr val="000000"/>
                  </a:outerShdw>
                </a:effectLst>
              </a:rPr>
              <a:t>zk</a:t>
            </a:r>
            <a:endParaRPr lang="en-US" sz="3200" b="1" dirty="0">
              <a:effectLst>
                <a:outerShdw blurRad="38100" dist="38100" dir="2700000" algn="tl">
                  <a:srgbClr val="000000"/>
                </a:outerShdw>
              </a:effectLst>
            </a:endParaRPr>
          </a:p>
        </p:txBody>
      </p:sp>
      <p:sp>
        <p:nvSpPr>
          <p:cNvPr id="129031" name="Text Box 7"/>
          <p:cNvSpPr txBox="1">
            <a:spLocks noChangeArrowheads="1"/>
          </p:cNvSpPr>
          <p:nvPr/>
        </p:nvSpPr>
        <p:spPr bwMode="auto">
          <a:xfrm>
            <a:off x="2047407" y="6228413"/>
            <a:ext cx="7086600" cy="584775"/>
          </a:xfrm>
          <a:prstGeom prst="rect">
            <a:avLst/>
          </a:prstGeom>
          <a:noFill/>
          <a:ln w="12700" cap="sq">
            <a:noFill/>
            <a:miter lim="800000"/>
            <a:headEnd type="none" w="sm" len="sm"/>
            <a:tailEnd type="none" w="sm" len="sm"/>
          </a:ln>
          <a:effectLst/>
        </p:spPr>
        <p:txBody>
          <a:bodyPr wrap="square">
            <a:spAutoFit/>
          </a:bodyPr>
          <a:lstStyle/>
          <a:p>
            <a:pPr>
              <a:spcBef>
                <a:spcPct val="50000"/>
              </a:spcBef>
            </a:pPr>
            <a:r>
              <a:rPr lang="en-US" sz="3200" b="1" dirty="0">
                <a:solidFill>
                  <a:schemeClr val="accent1"/>
                </a:solidFill>
                <a:effectLst>
                  <a:outerShdw blurRad="38100" dist="38100" dir="2700000" algn="tl">
                    <a:srgbClr val="000000"/>
                  </a:outerShdw>
                </a:effectLst>
              </a:rPr>
              <a:t>Comment:  </a:t>
            </a:r>
            <a:r>
              <a:rPr lang="en-US" sz="3200" b="1" dirty="0">
                <a:effectLst>
                  <a:outerShdw blurRad="38100" dist="38100" dir="2700000" algn="tl">
                    <a:srgbClr val="000000"/>
                  </a:outerShdw>
                </a:effectLst>
              </a:rPr>
              <a:t>Shift cipher is insecure!</a:t>
            </a:r>
          </a:p>
        </p:txBody>
      </p:sp>
    </p:spTree>
    <p:extLst>
      <p:ext uri="{BB962C8B-B14F-4D97-AF65-F5344CB8AC3E}">
        <p14:creationId xmlns:p14="http://schemas.microsoft.com/office/powerpoint/2010/main" val="2179554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1143000" y="247650"/>
            <a:ext cx="8001000" cy="742950"/>
          </a:xfrm>
        </p:spPr>
        <p:txBody>
          <a:bodyPr/>
          <a:lstStyle/>
          <a:p>
            <a:r>
              <a:rPr lang="en-US" b="1">
                <a:effectLst>
                  <a:outerShdw blurRad="38100" dist="38100" dir="2700000" algn="tl">
                    <a:srgbClr val="000000"/>
                  </a:outerShdw>
                </a:effectLst>
              </a:rPr>
              <a:t>Affine Cipher</a:t>
            </a:r>
          </a:p>
        </p:txBody>
      </p:sp>
      <p:sp>
        <p:nvSpPr>
          <p:cNvPr id="131077" name="Rectangle 5"/>
          <p:cNvSpPr>
            <a:spLocks noChangeArrowheads="1"/>
          </p:cNvSpPr>
          <p:nvPr/>
        </p:nvSpPr>
        <p:spPr bwMode="auto">
          <a:xfrm>
            <a:off x="1219200" y="1295400"/>
            <a:ext cx="7924800" cy="5257800"/>
          </a:xfrm>
          <a:prstGeom prst="rect">
            <a:avLst/>
          </a:prstGeom>
          <a:noFill/>
          <a:ln w="12700" cap="sq">
            <a:noFill/>
            <a:miter lim="800000"/>
            <a:headEnd type="none" w="sm" len="sm"/>
            <a:tailEnd type="none" w="sm" len="sm"/>
          </a:ln>
          <a:effectLst/>
        </p:spPr>
        <p:txBody>
          <a:bodyPr/>
          <a:lstStyle/>
          <a:p>
            <a:pPr marL="342900" indent="-342900" algn="l">
              <a:spcBef>
                <a:spcPct val="20000"/>
              </a:spcBef>
              <a:buClr>
                <a:schemeClr val="tx2"/>
              </a:buClr>
              <a:buSzPct val="90000"/>
            </a:pPr>
            <a:r>
              <a:rPr lang="en-US" sz="3200" b="1" dirty="0">
                <a:effectLst>
                  <a:outerShdw blurRad="38100" dist="38100" dir="2700000" algn="tl">
                    <a:srgbClr val="000000"/>
                  </a:outerShdw>
                </a:effectLst>
              </a:rPr>
              <a:t>P=C=Z</a:t>
            </a:r>
            <a:r>
              <a:rPr lang="en-US" sz="3200" b="1" baseline="-25000" dirty="0">
                <a:effectLst>
                  <a:outerShdw blurRad="38100" dist="38100" dir="2700000" algn="tl">
                    <a:srgbClr val="000000"/>
                  </a:outerShdw>
                </a:effectLst>
              </a:rPr>
              <a:t>26</a:t>
            </a:r>
            <a:r>
              <a:rPr lang="en-US" sz="3200" b="1" dirty="0">
                <a:effectLst>
                  <a:outerShdw blurRad="38100" dist="38100" dir="2700000" algn="tl">
                    <a:srgbClr val="000000"/>
                  </a:outerShdw>
                </a:effectLst>
              </a:rPr>
              <a:t> </a:t>
            </a:r>
          </a:p>
          <a:p>
            <a:pPr marL="342900" indent="-342900" algn="l">
              <a:spcBef>
                <a:spcPct val="20000"/>
              </a:spcBef>
              <a:buClr>
                <a:schemeClr val="tx2"/>
              </a:buClr>
              <a:buSzPct val="90000"/>
            </a:pPr>
            <a:r>
              <a:rPr lang="en-US" sz="3200" b="1" dirty="0">
                <a:effectLst>
                  <a:outerShdw blurRad="38100" dist="38100" dir="2700000" algn="tl">
                    <a:srgbClr val="000000"/>
                  </a:outerShdw>
                </a:effectLst>
              </a:rPr>
              <a:t>K={(k</a:t>
            </a:r>
            <a:r>
              <a:rPr lang="en-US" sz="3200" b="1" baseline="-25000" dirty="0">
                <a:effectLst>
                  <a:outerShdw blurRad="38100" dist="38100" dir="2700000" algn="tl">
                    <a:srgbClr val="000000"/>
                  </a:outerShdw>
                </a:effectLst>
              </a:rPr>
              <a:t>1</a:t>
            </a:r>
            <a:r>
              <a:rPr lang="en-US" sz="3200" b="1" dirty="0">
                <a:effectLst>
                  <a:outerShdw blurRad="38100" dist="38100" dir="2700000" algn="tl">
                    <a:srgbClr val="000000"/>
                  </a:outerShdw>
                </a:effectLst>
              </a:rPr>
              <a:t>,k</a:t>
            </a:r>
            <a:r>
              <a:rPr lang="en-US" sz="3200" b="1" baseline="-25000" dirty="0">
                <a:effectLst>
                  <a:outerShdw blurRad="38100" dist="38100" dir="2700000" algn="tl">
                    <a:srgbClr val="000000"/>
                  </a:outerShdw>
                </a:effectLst>
              </a:rPr>
              <a:t>2</a:t>
            </a:r>
            <a:r>
              <a:rPr lang="en-US" sz="3200" b="1" dirty="0">
                <a:effectLst>
                  <a:outerShdw blurRad="38100" dist="38100" dir="2700000" algn="tl">
                    <a:srgbClr val="000000"/>
                  </a:outerShdw>
                </a:effectLst>
              </a:rPr>
              <a:t>)| k</a:t>
            </a:r>
            <a:r>
              <a:rPr lang="en-US" sz="3200" b="1" baseline="-25000" dirty="0">
                <a:effectLst>
                  <a:outerShdw blurRad="38100" dist="38100" dir="2700000" algn="tl">
                    <a:srgbClr val="000000"/>
                  </a:outerShdw>
                </a:effectLst>
              </a:rPr>
              <a:t>1</a:t>
            </a:r>
            <a:r>
              <a:rPr lang="en-US" sz="3200" b="1" dirty="0">
                <a:effectLst>
                  <a:outerShdw blurRad="38100" dist="38100" dir="2700000" algn="tl">
                    <a:srgbClr val="000000"/>
                  </a:outerShdw>
                </a:effectLst>
              </a:rPr>
              <a:t>,k</a:t>
            </a:r>
            <a:r>
              <a:rPr lang="en-US" sz="3200" b="1" baseline="-25000" dirty="0">
                <a:effectLst>
                  <a:outerShdw blurRad="38100" dist="38100" dir="2700000" algn="tl">
                    <a:srgbClr val="000000"/>
                  </a:outerShdw>
                </a:effectLst>
              </a:rPr>
              <a:t>2</a:t>
            </a:r>
            <a:r>
              <a:rPr lang="en-US" sz="3200" b="1" dirty="0">
                <a:effectLst>
                  <a:outerShdw blurRad="38100" dist="38100" dir="2700000" algn="tl">
                    <a:srgbClr val="000000"/>
                  </a:outerShdw>
                </a:effectLst>
              </a:rPr>
              <a:t> </a:t>
            </a:r>
            <a:r>
              <a:rPr lang="en-US" sz="3200" b="1" dirty="0">
                <a:effectLst>
                  <a:outerShdw blurRad="38100" dist="38100" dir="2700000" algn="tl">
                    <a:srgbClr val="000000"/>
                  </a:outerShdw>
                </a:effectLst>
                <a:sym typeface="Symbol" pitchFamily="18" charset="2"/>
              </a:rPr>
              <a:t> </a:t>
            </a:r>
            <a:r>
              <a:rPr lang="en-US" sz="3200" b="1" dirty="0">
                <a:effectLst>
                  <a:outerShdw blurRad="38100" dist="38100" dir="2700000" algn="tl">
                    <a:srgbClr val="000000"/>
                  </a:outerShdw>
                </a:effectLst>
              </a:rPr>
              <a:t>Z</a:t>
            </a:r>
            <a:r>
              <a:rPr lang="en-US" sz="3200" b="1" baseline="-25000" dirty="0">
                <a:effectLst>
                  <a:outerShdw blurRad="38100" dist="38100" dir="2700000" algn="tl">
                    <a:srgbClr val="000000"/>
                  </a:outerShdw>
                </a:effectLst>
              </a:rPr>
              <a:t>26</a:t>
            </a:r>
            <a:r>
              <a:rPr lang="en-US" sz="3200" b="1" dirty="0">
                <a:effectLst>
                  <a:outerShdw blurRad="38100" dist="38100" dir="2700000" algn="tl">
                    <a:srgbClr val="000000"/>
                  </a:outerShdw>
                </a:effectLst>
                <a:sym typeface="Symbol" pitchFamily="18" charset="2"/>
              </a:rPr>
              <a:t>, </a:t>
            </a:r>
            <a:r>
              <a:rPr lang="en-US" sz="3200" b="1" dirty="0" err="1">
                <a:effectLst>
                  <a:outerShdw blurRad="38100" dist="38100" dir="2700000" algn="tl">
                    <a:srgbClr val="000000"/>
                  </a:outerShdw>
                </a:effectLst>
              </a:rPr>
              <a:t>gcd</a:t>
            </a:r>
            <a:r>
              <a:rPr lang="en-US" sz="3200" b="1" dirty="0">
                <a:effectLst>
                  <a:outerShdw blurRad="38100" dist="38100" dir="2700000" algn="tl">
                    <a:srgbClr val="000000"/>
                  </a:outerShdw>
                </a:effectLst>
              </a:rPr>
              <a:t>(k</a:t>
            </a:r>
            <a:r>
              <a:rPr lang="en-US" sz="3200" b="1" baseline="-25000" dirty="0">
                <a:effectLst>
                  <a:outerShdw blurRad="38100" dist="38100" dir="2700000" algn="tl">
                    <a:srgbClr val="000000"/>
                  </a:outerShdw>
                </a:effectLst>
              </a:rPr>
              <a:t>1</a:t>
            </a:r>
            <a:r>
              <a:rPr lang="en-US" sz="3200" b="1" dirty="0">
                <a:effectLst>
                  <a:outerShdw blurRad="38100" dist="38100" dir="2700000" algn="tl">
                    <a:srgbClr val="000000"/>
                  </a:outerShdw>
                </a:effectLst>
              </a:rPr>
              <a:t>,26)=1}</a:t>
            </a:r>
          </a:p>
          <a:p>
            <a:pPr marL="342900" indent="-342900" algn="l">
              <a:spcBef>
                <a:spcPct val="20000"/>
              </a:spcBef>
              <a:buClr>
                <a:schemeClr val="tx2"/>
              </a:buClr>
              <a:buSzPct val="90000"/>
            </a:pPr>
            <a:r>
              <a:rPr lang="en-US" sz="3200" b="1" dirty="0">
                <a:effectLst>
                  <a:outerShdw blurRad="38100" dist="38100" dir="2700000" algn="tl">
                    <a:srgbClr val="000000"/>
                  </a:outerShdw>
                </a:effectLst>
              </a:rPr>
              <a:t>E:   c=E(p)=k</a:t>
            </a:r>
            <a:r>
              <a:rPr lang="en-US" sz="3200" b="1" baseline="-25000" dirty="0">
                <a:effectLst>
                  <a:outerShdw blurRad="38100" dist="38100" dir="2700000" algn="tl">
                    <a:srgbClr val="000000"/>
                  </a:outerShdw>
                </a:effectLst>
              </a:rPr>
              <a:t>1</a:t>
            </a:r>
            <a:r>
              <a:rPr lang="en-US" sz="3200" b="1" dirty="0">
                <a:effectLst>
                  <a:outerShdw blurRad="38100" dist="38100" dir="2700000" algn="tl">
                    <a:srgbClr val="000000"/>
                  </a:outerShdw>
                </a:effectLst>
              </a:rPr>
              <a:t>p+k</a:t>
            </a:r>
            <a:r>
              <a:rPr lang="en-US" sz="3200" b="1" baseline="-25000" dirty="0">
                <a:effectLst>
                  <a:outerShdw blurRad="38100" dist="38100" dir="2700000" algn="tl">
                    <a:srgbClr val="000000"/>
                  </a:outerShdw>
                </a:effectLst>
              </a:rPr>
              <a:t>2</a:t>
            </a:r>
            <a:r>
              <a:rPr lang="en-US" sz="3200" b="1" dirty="0">
                <a:effectLst>
                  <a:outerShdw blurRad="38100" dist="38100" dir="2700000" algn="tl">
                    <a:srgbClr val="000000"/>
                  </a:outerShdw>
                </a:effectLst>
              </a:rPr>
              <a:t> (mod 26)</a:t>
            </a:r>
          </a:p>
          <a:p>
            <a:pPr marL="342900" indent="-342900" algn="l">
              <a:spcBef>
                <a:spcPct val="20000"/>
              </a:spcBef>
              <a:buClr>
                <a:schemeClr val="tx2"/>
              </a:buClr>
              <a:buSzPct val="90000"/>
            </a:pPr>
            <a:r>
              <a:rPr lang="en-US" sz="3200" b="1" dirty="0">
                <a:effectLst>
                  <a:outerShdw blurRad="38100" dist="38100" dir="2700000" algn="tl">
                    <a:srgbClr val="000000"/>
                  </a:outerShdw>
                </a:effectLst>
              </a:rPr>
              <a:t>D:   p=D(c )=k</a:t>
            </a:r>
            <a:r>
              <a:rPr lang="en-US" sz="3200" b="1" baseline="-25000" dirty="0">
                <a:effectLst>
                  <a:outerShdw blurRad="38100" dist="38100" dir="2700000" algn="tl">
                    <a:srgbClr val="000000"/>
                  </a:outerShdw>
                </a:effectLst>
              </a:rPr>
              <a:t>1</a:t>
            </a:r>
            <a:r>
              <a:rPr lang="en-US" sz="3200" b="1" baseline="30000" dirty="0">
                <a:effectLst>
                  <a:outerShdw blurRad="38100" dist="38100" dir="2700000" algn="tl">
                    <a:srgbClr val="000000"/>
                  </a:outerShdw>
                </a:effectLst>
              </a:rPr>
              <a:t>-1</a:t>
            </a:r>
            <a:r>
              <a:rPr lang="en-US" sz="3200" b="1" dirty="0">
                <a:effectLst>
                  <a:outerShdw blurRad="38100" dist="38100" dir="2700000" algn="tl">
                    <a:srgbClr val="000000"/>
                  </a:outerShdw>
                </a:effectLst>
              </a:rPr>
              <a:t>(c-k</a:t>
            </a:r>
            <a:r>
              <a:rPr lang="en-US" sz="3200" b="1" baseline="-25000" dirty="0">
                <a:effectLst>
                  <a:outerShdw blurRad="38100" dist="38100" dir="2700000" algn="tl">
                    <a:srgbClr val="000000"/>
                  </a:outerShdw>
                </a:effectLst>
              </a:rPr>
              <a:t>2</a:t>
            </a:r>
            <a:r>
              <a:rPr lang="en-US" sz="3200" b="1" dirty="0">
                <a:effectLst>
                  <a:outerShdw blurRad="38100" dist="38100" dir="2700000" algn="tl">
                    <a:srgbClr val="000000"/>
                  </a:outerShdw>
                </a:effectLst>
              </a:rPr>
              <a:t>) (mod 26)</a:t>
            </a:r>
          </a:p>
          <a:p>
            <a:pPr marL="342900" indent="-342900" algn="l">
              <a:spcBef>
                <a:spcPct val="20000"/>
              </a:spcBef>
              <a:buClr>
                <a:schemeClr val="tx2"/>
              </a:buClr>
              <a:buSzPct val="90000"/>
            </a:pPr>
            <a:r>
              <a:rPr lang="en-US" sz="3200" b="1" dirty="0">
                <a:effectLst>
                  <a:outerShdw blurRad="38100" dist="38100" dir="2700000" algn="tl">
                    <a:srgbClr val="000000"/>
                  </a:outerShdw>
                </a:effectLst>
              </a:rPr>
              <a:t>D(c )=k</a:t>
            </a:r>
            <a:r>
              <a:rPr lang="en-US" sz="3200" b="1" baseline="-25000" dirty="0">
                <a:effectLst>
                  <a:outerShdw blurRad="38100" dist="38100" dir="2700000" algn="tl">
                    <a:srgbClr val="000000"/>
                  </a:outerShdw>
                </a:effectLst>
              </a:rPr>
              <a:t>1</a:t>
            </a:r>
            <a:r>
              <a:rPr lang="en-US" sz="3200" b="1" baseline="30000" dirty="0">
                <a:effectLst>
                  <a:outerShdw blurRad="38100" dist="38100" dir="2700000" algn="tl">
                    <a:srgbClr val="000000"/>
                  </a:outerShdw>
                </a:effectLst>
              </a:rPr>
              <a:t>-1</a:t>
            </a:r>
            <a:r>
              <a:rPr lang="en-US" sz="3200" b="1" dirty="0">
                <a:effectLst>
                  <a:outerShdw blurRad="38100" dist="38100" dir="2700000" algn="tl">
                    <a:srgbClr val="000000"/>
                  </a:outerShdw>
                </a:effectLst>
              </a:rPr>
              <a:t>(c-k</a:t>
            </a:r>
            <a:r>
              <a:rPr lang="en-US" sz="3200" b="1" baseline="-25000" dirty="0">
                <a:effectLst>
                  <a:outerShdw blurRad="38100" dist="38100" dir="2700000" algn="tl">
                    <a:srgbClr val="000000"/>
                  </a:outerShdw>
                </a:effectLst>
              </a:rPr>
              <a:t>2</a:t>
            </a:r>
            <a:r>
              <a:rPr lang="en-US" sz="3200" b="1" dirty="0">
                <a:effectLst>
                  <a:outerShdw blurRad="38100" dist="38100" dir="2700000" algn="tl">
                    <a:srgbClr val="000000"/>
                  </a:outerShdw>
                </a:effectLst>
              </a:rPr>
              <a:t>)=k</a:t>
            </a:r>
            <a:r>
              <a:rPr lang="en-US" sz="3200" b="1" baseline="-25000" dirty="0">
                <a:effectLst>
                  <a:outerShdw blurRad="38100" dist="38100" dir="2700000" algn="tl">
                    <a:srgbClr val="000000"/>
                  </a:outerShdw>
                </a:effectLst>
              </a:rPr>
              <a:t>1</a:t>
            </a:r>
            <a:r>
              <a:rPr lang="en-US" sz="3200" b="1" baseline="30000" dirty="0">
                <a:effectLst>
                  <a:outerShdw blurRad="38100" dist="38100" dir="2700000" algn="tl">
                    <a:srgbClr val="000000"/>
                  </a:outerShdw>
                </a:effectLst>
              </a:rPr>
              <a:t>-1</a:t>
            </a:r>
            <a:r>
              <a:rPr lang="en-US" sz="3200" b="1" dirty="0">
                <a:effectLst>
                  <a:outerShdw blurRad="38100" dist="38100" dir="2700000" algn="tl">
                    <a:srgbClr val="000000"/>
                  </a:outerShdw>
                </a:effectLst>
              </a:rPr>
              <a:t>(k</a:t>
            </a:r>
            <a:r>
              <a:rPr lang="en-US" sz="3200" b="1" baseline="-25000" dirty="0">
                <a:effectLst>
                  <a:outerShdw blurRad="38100" dist="38100" dir="2700000" algn="tl">
                    <a:srgbClr val="000000"/>
                  </a:outerShdw>
                </a:effectLst>
              </a:rPr>
              <a:t>1</a:t>
            </a:r>
            <a:r>
              <a:rPr lang="en-US" sz="3200" b="1" dirty="0">
                <a:effectLst>
                  <a:outerShdw blurRad="38100" dist="38100" dir="2700000" algn="tl">
                    <a:srgbClr val="000000"/>
                  </a:outerShdw>
                </a:effectLst>
              </a:rPr>
              <a:t>p+k</a:t>
            </a:r>
            <a:r>
              <a:rPr lang="en-US" sz="3200" b="1" baseline="-25000" dirty="0">
                <a:effectLst>
                  <a:outerShdw blurRad="38100" dist="38100" dir="2700000" algn="tl">
                    <a:srgbClr val="000000"/>
                  </a:outerShdw>
                </a:effectLst>
              </a:rPr>
              <a:t>2</a:t>
            </a:r>
            <a:r>
              <a:rPr lang="en-US" sz="3200" b="1" dirty="0">
                <a:effectLst>
                  <a:outerShdw blurRad="38100" dist="38100" dir="2700000" algn="tl">
                    <a:srgbClr val="000000"/>
                  </a:outerShdw>
                </a:effectLst>
              </a:rPr>
              <a:t>-k</a:t>
            </a:r>
            <a:r>
              <a:rPr lang="en-US" sz="3200" b="1" baseline="-25000" dirty="0">
                <a:effectLst>
                  <a:outerShdw blurRad="38100" dist="38100" dir="2700000" algn="tl">
                    <a:srgbClr val="000000"/>
                  </a:outerShdw>
                </a:effectLst>
              </a:rPr>
              <a:t>2</a:t>
            </a:r>
            <a:r>
              <a:rPr lang="en-US" sz="3200" b="1" dirty="0">
                <a:effectLst>
                  <a:outerShdw blurRad="38100" dist="38100" dir="2700000" algn="tl">
                    <a:srgbClr val="000000"/>
                  </a:outerShdw>
                </a:effectLst>
              </a:rPr>
              <a:t>)=p</a:t>
            </a:r>
          </a:p>
          <a:p>
            <a:pPr marL="342900" indent="-342900" algn="l">
              <a:spcBef>
                <a:spcPct val="20000"/>
              </a:spcBef>
              <a:buClr>
                <a:schemeClr val="tx2"/>
              </a:buClr>
              <a:buSzPct val="90000"/>
            </a:pPr>
            <a:endParaRPr lang="en-US" sz="2000" b="1" dirty="0">
              <a:effectLst>
                <a:outerShdw blurRad="38100" dist="38100" dir="2700000" algn="tl">
                  <a:srgbClr val="000000"/>
                </a:outerShdw>
              </a:effectLst>
            </a:endParaRPr>
          </a:p>
          <a:p>
            <a:pPr marL="342900" indent="-342900" algn="l">
              <a:spcBef>
                <a:spcPct val="20000"/>
              </a:spcBef>
              <a:buClr>
                <a:schemeClr val="tx2"/>
              </a:buClr>
              <a:buSzPct val="90000"/>
            </a:pPr>
            <a:r>
              <a:rPr lang="en-US" sz="2000" b="1" dirty="0">
                <a:effectLst>
                  <a:outerShdw blurRad="38100" dist="38100" dir="2700000" algn="tl">
                    <a:srgbClr val="000000"/>
                  </a:outerShdw>
                </a:effectLst>
              </a:rPr>
              <a:t>Note 1: </a:t>
            </a:r>
            <a:r>
              <a:rPr lang="en-US" sz="2000" b="1" dirty="0" err="1">
                <a:effectLst>
                  <a:outerShdw blurRad="38100" dist="38100" dir="2700000" algn="tl">
                    <a:srgbClr val="000000"/>
                  </a:outerShdw>
                </a:effectLst>
              </a:rPr>
              <a:t>gcd</a:t>
            </a:r>
            <a:r>
              <a:rPr lang="en-US" sz="2000" b="1" dirty="0">
                <a:effectLst>
                  <a:outerShdw blurRad="38100" dist="38100" dir="2700000" algn="tl">
                    <a:srgbClr val="000000"/>
                  </a:outerShdw>
                </a:effectLst>
              </a:rPr>
              <a:t> means greatest common divisor </a:t>
            </a:r>
          </a:p>
          <a:p>
            <a:pPr marL="342900" indent="-342900" algn="l">
              <a:spcBef>
                <a:spcPct val="20000"/>
              </a:spcBef>
              <a:buClr>
                <a:schemeClr val="tx2"/>
              </a:buClr>
              <a:buSzPct val="90000"/>
            </a:pPr>
            <a:r>
              <a:rPr lang="en-US" sz="2000" b="1" dirty="0">
                <a:effectLst>
                  <a:outerShdw blurRad="38100" dist="38100" dir="2700000" algn="tl">
                    <a:srgbClr val="000000"/>
                  </a:outerShdw>
                </a:effectLst>
              </a:rPr>
              <a:t>Note 2: </a:t>
            </a:r>
            <a:r>
              <a:rPr lang="en-US" sz="2000" b="1" dirty="0" err="1">
                <a:effectLst>
                  <a:outerShdw blurRad="38100" dist="38100" dir="2700000" algn="tl">
                    <a:srgbClr val="000000"/>
                  </a:outerShdw>
                </a:effectLst>
              </a:rPr>
              <a:t>gcd</a:t>
            </a:r>
            <a:r>
              <a:rPr lang="en-US" sz="2000" b="1" dirty="0">
                <a:effectLst>
                  <a:outerShdw blurRad="38100" dist="38100" dir="2700000" algn="tl">
                    <a:srgbClr val="000000"/>
                  </a:outerShdw>
                </a:effectLst>
              </a:rPr>
              <a:t>(k</a:t>
            </a:r>
            <a:r>
              <a:rPr lang="en-US" sz="2000" b="1" baseline="-25000" dirty="0">
                <a:effectLst>
                  <a:outerShdw blurRad="38100" dist="38100" dir="2700000" algn="tl">
                    <a:srgbClr val="000000"/>
                  </a:outerShdw>
                </a:effectLst>
              </a:rPr>
              <a:t>1</a:t>
            </a:r>
            <a:r>
              <a:rPr lang="en-US" sz="2000" b="1" dirty="0">
                <a:effectLst>
                  <a:outerShdw blurRad="38100" dist="38100" dir="2700000" algn="tl">
                    <a:srgbClr val="000000"/>
                  </a:outerShdw>
                </a:effectLst>
              </a:rPr>
              <a:t>,26)=1 </a:t>
            </a:r>
            <a:r>
              <a:rPr lang="en-US" sz="2000" b="1" dirty="0">
                <a:effectLst>
                  <a:outerShdw blurRad="38100" dist="38100" dir="2700000" algn="tl">
                    <a:srgbClr val="000000"/>
                  </a:outerShdw>
                </a:effectLst>
                <a:sym typeface="Wingdings" pitchFamily="2" charset="2"/>
              </a:rPr>
              <a:t></a:t>
            </a:r>
            <a:r>
              <a:rPr lang="en-US" sz="2000" b="1" dirty="0">
                <a:effectLst>
                  <a:outerShdw blurRad="38100" dist="38100" dir="2700000" algn="tl">
                    <a:srgbClr val="000000"/>
                  </a:outerShdw>
                </a:effectLst>
              </a:rPr>
              <a:t> k</a:t>
            </a:r>
            <a:r>
              <a:rPr lang="en-US" sz="2000" b="1" baseline="-25000" dirty="0">
                <a:effectLst>
                  <a:outerShdw blurRad="38100" dist="38100" dir="2700000" algn="tl">
                    <a:srgbClr val="000000"/>
                  </a:outerShdw>
                </a:effectLst>
              </a:rPr>
              <a:t>1</a:t>
            </a:r>
            <a:r>
              <a:rPr lang="en-US" sz="2000" b="1" dirty="0">
                <a:effectLst>
                  <a:outerShdw blurRad="38100" dist="38100" dir="2700000" algn="tl">
                    <a:srgbClr val="000000"/>
                  </a:outerShdw>
                </a:effectLst>
              </a:rPr>
              <a:t> </a:t>
            </a:r>
            <a:r>
              <a:rPr lang="en-US" sz="2000" b="1" dirty="0">
                <a:effectLst>
                  <a:outerShdw blurRad="38100" dist="38100" dir="2700000" algn="tl">
                    <a:srgbClr val="000000"/>
                  </a:outerShdw>
                </a:effectLst>
                <a:sym typeface="Symbol" pitchFamily="18" charset="2"/>
              </a:rPr>
              <a:t></a:t>
            </a:r>
            <a:r>
              <a:rPr lang="en-US" sz="2000" b="1" dirty="0">
                <a:effectLst>
                  <a:outerShdw blurRad="38100" dist="38100" dir="2700000" algn="tl">
                    <a:srgbClr val="000000"/>
                  </a:outerShdw>
                </a:effectLst>
              </a:rPr>
              <a:t>{1,3,5,7,9,11,15, 17,19,21,23,25}</a:t>
            </a:r>
          </a:p>
          <a:p>
            <a:pPr marL="342900" indent="-342900" algn="l">
              <a:spcBef>
                <a:spcPct val="20000"/>
              </a:spcBef>
              <a:buClr>
                <a:schemeClr val="tx2"/>
              </a:buClr>
              <a:buSzPct val="90000"/>
            </a:pPr>
            <a:r>
              <a:rPr lang="en-US" sz="2000" b="1" dirty="0">
                <a:effectLst>
                  <a:outerShdw blurRad="38100" dist="38100" dir="2700000" algn="tl">
                    <a:srgbClr val="000000"/>
                  </a:outerShdw>
                </a:effectLst>
              </a:rPr>
              <a:t>Note 3:  k</a:t>
            </a:r>
            <a:r>
              <a:rPr lang="en-US" sz="2000" b="1" baseline="-25000" dirty="0">
                <a:effectLst>
                  <a:outerShdw blurRad="38100" dist="38100" dir="2700000" algn="tl">
                    <a:srgbClr val="000000"/>
                  </a:outerShdw>
                </a:effectLst>
              </a:rPr>
              <a:t>1</a:t>
            </a:r>
            <a:r>
              <a:rPr lang="en-US" sz="2000" b="1" baseline="30000" dirty="0">
                <a:effectLst>
                  <a:outerShdw blurRad="38100" dist="38100" dir="2700000" algn="tl">
                    <a:srgbClr val="000000"/>
                  </a:outerShdw>
                </a:effectLst>
              </a:rPr>
              <a:t> </a:t>
            </a:r>
            <a:r>
              <a:rPr lang="en-US" sz="2000" b="1" dirty="0" err="1">
                <a:effectLst>
                  <a:outerShdw blurRad="38100" dist="38100" dir="2700000" algn="tl">
                    <a:srgbClr val="000000"/>
                  </a:outerShdw>
                </a:effectLst>
              </a:rPr>
              <a:t>k</a:t>
            </a:r>
            <a:r>
              <a:rPr lang="en-US" sz="2000" b="1" baseline="-25000" dirty="0" err="1">
                <a:effectLst>
                  <a:outerShdw blurRad="38100" dist="38100" dir="2700000" algn="tl">
                    <a:srgbClr val="000000"/>
                  </a:outerShdw>
                </a:effectLst>
              </a:rPr>
              <a:t>1</a:t>
            </a:r>
            <a:r>
              <a:rPr lang="en-US" sz="2000" b="1" baseline="30000" dirty="0">
                <a:effectLst>
                  <a:outerShdw blurRad="38100" dist="38100" dir="2700000" algn="tl">
                    <a:srgbClr val="000000"/>
                  </a:outerShdw>
                </a:effectLst>
              </a:rPr>
              <a:t>-1 </a:t>
            </a:r>
            <a:r>
              <a:rPr lang="en-US" sz="2000" b="1" dirty="0">
                <a:effectLst>
                  <a:outerShdw blurRad="38100" dist="38100" dir="2700000" algn="tl">
                    <a:srgbClr val="000000"/>
                  </a:outerShdw>
                </a:effectLst>
              </a:rPr>
              <a:t>=1 (mod 26), for example, 3*9=27=1 (mod 26)</a:t>
            </a:r>
          </a:p>
          <a:p>
            <a:pPr marL="342900" indent="-342900" algn="l">
              <a:spcBef>
                <a:spcPct val="20000"/>
              </a:spcBef>
              <a:buClr>
                <a:schemeClr val="tx2"/>
              </a:buClr>
              <a:buSzPct val="90000"/>
            </a:pPr>
            <a:r>
              <a:rPr lang="en-US" sz="2000" b="1" dirty="0">
                <a:effectLst>
                  <a:outerShdw blurRad="38100" dist="38100" dir="2700000" algn="tl">
                    <a:srgbClr val="000000"/>
                  </a:outerShdw>
                </a:effectLst>
              </a:rPr>
              <a:t>              (1,1), (3,9), (5,21), (7,15), (11,19), (17,23), (25,25)</a:t>
            </a:r>
          </a:p>
          <a:p>
            <a:pPr marL="342900" indent="-342900" algn="l">
              <a:spcBef>
                <a:spcPct val="20000"/>
              </a:spcBef>
              <a:buClr>
                <a:schemeClr val="tx2"/>
              </a:buClr>
              <a:buSzPct val="90000"/>
            </a:pPr>
            <a:r>
              <a:rPr lang="en-US" sz="2000" b="1" dirty="0">
                <a:effectLst>
                  <a:outerShdw blurRad="38100" dist="38100" dir="2700000" algn="tl">
                    <a:srgbClr val="000000"/>
                  </a:outerShdw>
                </a:effectLst>
              </a:rPr>
              <a:t>Note 4:  k</a:t>
            </a:r>
            <a:r>
              <a:rPr lang="en-US" sz="2000" b="1" baseline="-25000" dirty="0">
                <a:effectLst>
                  <a:outerShdw blurRad="38100" dist="38100" dir="2700000" algn="tl">
                    <a:srgbClr val="000000"/>
                  </a:outerShdw>
                </a:effectLst>
              </a:rPr>
              <a:t>1</a:t>
            </a:r>
            <a:r>
              <a:rPr lang="en-US" sz="2000" b="1" dirty="0">
                <a:effectLst>
                  <a:outerShdw blurRad="38100" dist="38100" dir="2700000" algn="tl">
                    <a:srgbClr val="000000"/>
                  </a:outerShdw>
                </a:effectLst>
              </a:rPr>
              <a:t>=1, k</a:t>
            </a:r>
            <a:r>
              <a:rPr lang="en-US" sz="2000" b="1" baseline="-25000" dirty="0">
                <a:effectLst>
                  <a:outerShdw blurRad="38100" dist="38100" dir="2700000" algn="tl">
                    <a:srgbClr val="000000"/>
                  </a:outerShdw>
                </a:effectLst>
              </a:rPr>
              <a:t>2</a:t>
            </a:r>
            <a:r>
              <a:rPr lang="en-US" sz="2000" b="1" dirty="0">
                <a:effectLst>
                  <a:outerShdw blurRad="38100" dist="38100" dir="2700000" algn="tl">
                    <a:srgbClr val="000000"/>
                  </a:outerShdw>
                </a:effectLst>
              </a:rPr>
              <a:t>=0 should be avoided because p=c in this case.</a:t>
            </a:r>
          </a:p>
        </p:txBody>
      </p:sp>
    </p:spTree>
    <p:extLst>
      <p:ext uri="{BB962C8B-B14F-4D97-AF65-F5344CB8AC3E}">
        <p14:creationId xmlns:p14="http://schemas.microsoft.com/office/powerpoint/2010/main" val="2084722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a:xfrm>
            <a:off x="1143000" y="0"/>
            <a:ext cx="8001000" cy="914400"/>
          </a:xfrm>
        </p:spPr>
        <p:txBody>
          <a:bodyPr/>
          <a:lstStyle/>
          <a:p>
            <a:r>
              <a:rPr lang="en-US" b="1" dirty="0">
                <a:effectLst>
                  <a:outerShdw blurRad="38100" dist="38100" dir="2700000" algn="tl">
                    <a:srgbClr val="000000"/>
                  </a:outerShdw>
                </a:effectLst>
              </a:rPr>
              <a:t>Example of Affine Cipher </a:t>
            </a:r>
          </a:p>
        </p:txBody>
      </p:sp>
      <p:sp>
        <p:nvSpPr>
          <p:cNvPr id="125956" name="Text Box 4"/>
          <p:cNvSpPr txBox="1">
            <a:spLocks noChangeArrowheads="1"/>
          </p:cNvSpPr>
          <p:nvPr/>
        </p:nvSpPr>
        <p:spPr bwMode="auto">
          <a:xfrm>
            <a:off x="1143000" y="990600"/>
            <a:ext cx="8001000" cy="5755422"/>
          </a:xfrm>
          <a:prstGeom prst="rect">
            <a:avLst/>
          </a:prstGeom>
          <a:noFill/>
          <a:ln w="12700" cap="sq">
            <a:noFill/>
            <a:miter lim="800000"/>
            <a:headEnd type="none" w="sm" len="sm"/>
            <a:tailEnd type="none" w="sm" len="sm"/>
          </a:ln>
          <a:effectLst/>
        </p:spPr>
        <p:txBody>
          <a:bodyPr>
            <a:spAutoFit/>
          </a:bodyPr>
          <a:lstStyle/>
          <a:p>
            <a:pPr algn="l">
              <a:spcBef>
                <a:spcPct val="50000"/>
              </a:spcBef>
            </a:pPr>
            <a:r>
              <a:rPr lang="en-US" sz="3200" b="1" dirty="0">
                <a:effectLst>
                  <a:outerShdw blurRad="38100" dist="38100" dir="2700000" algn="tl">
                    <a:srgbClr val="000000"/>
                  </a:outerShdw>
                </a:effectLst>
              </a:rPr>
              <a:t>k</a:t>
            </a:r>
            <a:r>
              <a:rPr lang="en-US" sz="1800" b="1" dirty="0">
                <a:effectLst>
                  <a:outerShdw blurRad="38100" dist="38100" dir="2700000" algn="tl">
                    <a:srgbClr val="000000"/>
                  </a:outerShdw>
                </a:effectLst>
              </a:rPr>
              <a:t>1</a:t>
            </a:r>
            <a:r>
              <a:rPr lang="en-US" sz="3200" b="1" dirty="0">
                <a:effectLst>
                  <a:outerShdw blurRad="38100" dist="38100" dir="2700000" algn="tl">
                    <a:srgbClr val="000000"/>
                  </a:outerShdw>
                </a:effectLst>
              </a:rPr>
              <a:t>=5, k</a:t>
            </a:r>
            <a:r>
              <a:rPr lang="en-US" sz="1800" b="1" dirty="0">
                <a:effectLst>
                  <a:outerShdw blurRad="38100" dist="38100" dir="2700000" algn="tl">
                    <a:srgbClr val="000000"/>
                  </a:outerShdw>
                </a:effectLst>
              </a:rPr>
              <a:t>2</a:t>
            </a:r>
            <a:r>
              <a:rPr lang="en-US" sz="3200" b="1" dirty="0">
                <a:effectLst>
                  <a:outerShdw blurRad="38100" dist="38100" dir="2700000" algn="tl">
                    <a:srgbClr val="000000"/>
                  </a:outerShdw>
                </a:effectLst>
              </a:rPr>
              <a:t>=3</a:t>
            </a:r>
          </a:p>
          <a:p>
            <a:pPr algn="l">
              <a:spcBef>
                <a:spcPct val="50000"/>
              </a:spcBef>
            </a:pPr>
            <a:r>
              <a:rPr lang="en-US" sz="3200" b="1" dirty="0">
                <a:effectLst>
                  <a:outerShdw blurRad="38100" dist="38100" dir="2700000" algn="tl">
                    <a:srgbClr val="000000"/>
                  </a:outerShdw>
                </a:effectLst>
              </a:rPr>
              <a:t>p=“y”=24, </a:t>
            </a:r>
          </a:p>
          <a:p>
            <a:pPr algn="l">
              <a:spcBef>
                <a:spcPct val="50000"/>
              </a:spcBef>
            </a:pPr>
            <a:r>
              <a:rPr lang="en-US" sz="3200" b="1" dirty="0">
                <a:effectLst>
                  <a:outerShdw blurRad="38100" dist="38100" dir="2700000" algn="tl">
                    <a:srgbClr val="000000"/>
                  </a:outerShdw>
                </a:effectLst>
              </a:rPr>
              <a:t>Encryption:</a:t>
            </a:r>
          </a:p>
          <a:p>
            <a:pPr>
              <a:spcBef>
                <a:spcPct val="50000"/>
              </a:spcBef>
            </a:pPr>
            <a:r>
              <a:rPr lang="en-US" sz="3200" b="1" dirty="0">
                <a:effectLst>
                  <a:outerShdw blurRad="38100" dist="38100" dir="2700000" algn="tl">
                    <a:srgbClr val="000000"/>
                  </a:outerShdw>
                </a:effectLst>
              </a:rPr>
              <a:t>        c=5p+3=5*24+3=123=19 (mod 26)=“t”</a:t>
            </a:r>
          </a:p>
          <a:p>
            <a:pPr algn="l">
              <a:spcBef>
                <a:spcPct val="50000"/>
              </a:spcBef>
            </a:pPr>
            <a:r>
              <a:rPr lang="en-US" sz="3200" b="1" dirty="0">
                <a:effectLst>
                  <a:outerShdw blurRad="38100" dist="38100" dir="2700000" algn="tl">
                    <a:srgbClr val="000000"/>
                  </a:outerShdw>
                </a:effectLst>
              </a:rPr>
              <a:t>c=“t”=19, </a:t>
            </a:r>
          </a:p>
          <a:p>
            <a:pPr algn="l">
              <a:spcBef>
                <a:spcPct val="50000"/>
              </a:spcBef>
            </a:pPr>
            <a:r>
              <a:rPr lang="en-US" sz="3200" b="1" dirty="0">
                <a:effectLst>
                  <a:outerShdw blurRad="38100" dist="38100" dir="2700000" algn="tl">
                    <a:srgbClr val="000000"/>
                  </a:outerShdw>
                </a:effectLst>
              </a:rPr>
              <a:t>Decryption:</a:t>
            </a:r>
          </a:p>
          <a:p>
            <a:pPr>
              <a:spcBef>
                <a:spcPct val="50000"/>
              </a:spcBef>
            </a:pPr>
            <a:r>
              <a:rPr lang="en-US" sz="3200" b="1" dirty="0">
                <a:effectLst>
                  <a:outerShdw blurRad="38100" dist="38100" dir="2700000" algn="tl">
                    <a:srgbClr val="000000"/>
                  </a:outerShdw>
                </a:effectLst>
              </a:rPr>
              <a:t>p=5</a:t>
            </a:r>
            <a:r>
              <a:rPr lang="en-US" sz="3200" b="1" baseline="30000" dirty="0">
                <a:effectLst>
                  <a:outerShdw blurRad="38100" dist="38100" dir="2700000" algn="tl">
                    <a:srgbClr val="000000"/>
                  </a:outerShdw>
                </a:effectLst>
              </a:rPr>
              <a:t>-1</a:t>
            </a:r>
            <a:r>
              <a:rPr lang="en-US" sz="3200" b="1" dirty="0">
                <a:effectLst>
                  <a:outerShdw blurRad="38100" dist="38100" dir="2700000" algn="tl">
                    <a:srgbClr val="000000"/>
                  </a:outerShdw>
                </a:effectLst>
              </a:rPr>
              <a:t>(c-3)=21(19-3)=21*16=24(mod 26)=“y”</a:t>
            </a:r>
          </a:p>
          <a:p>
            <a:pPr>
              <a:spcBef>
                <a:spcPct val="50000"/>
              </a:spcBef>
            </a:pPr>
            <a:r>
              <a:rPr lang="en-US" sz="3200" b="1" dirty="0">
                <a:effectLst>
                  <a:outerShdw blurRad="38100" dist="38100" dir="2700000" algn="tl">
                    <a:srgbClr val="000000"/>
                  </a:outerShdw>
                </a:effectLst>
              </a:rPr>
              <a:t>5*21=105=1 (mod 26)</a:t>
            </a:r>
          </a:p>
        </p:txBody>
      </p:sp>
    </p:spTree>
    <p:extLst>
      <p:ext uri="{BB962C8B-B14F-4D97-AF65-F5344CB8AC3E}">
        <p14:creationId xmlns:p14="http://schemas.microsoft.com/office/powerpoint/2010/main" val="489772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00" name="Rectangle 4"/>
          <p:cNvSpPr>
            <a:spLocks noChangeArrowheads="1"/>
          </p:cNvSpPr>
          <p:nvPr/>
        </p:nvSpPr>
        <p:spPr bwMode="auto">
          <a:xfrm>
            <a:off x="3810000" y="381000"/>
            <a:ext cx="3200400" cy="1143000"/>
          </a:xfrm>
          <a:prstGeom prst="rect">
            <a:avLst/>
          </a:prstGeom>
          <a:noFill/>
          <a:ln w="12700" cap="sq">
            <a:noFill/>
            <a:miter lim="800000"/>
            <a:headEnd type="none" w="sm" len="sm"/>
            <a:tailEnd type="none" w="sm" len="sm"/>
          </a:ln>
          <a:effectLst/>
        </p:spPr>
        <p:txBody>
          <a:bodyPr anchor="ctr"/>
          <a:lstStyle/>
          <a:p>
            <a:pPr algn="l"/>
            <a:r>
              <a:rPr lang="en-US" sz="4400" b="1">
                <a:solidFill>
                  <a:schemeClr val="tx2"/>
                </a:solidFill>
                <a:effectLst>
                  <a:outerShdw blurRad="38100" dist="38100" dir="2700000" algn="tl">
                    <a:srgbClr val="000000"/>
                  </a:outerShdw>
                </a:effectLst>
              </a:rPr>
              <a:t>Question</a:t>
            </a:r>
          </a:p>
        </p:txBody>
      </p:sp>
      <p:pic>
        <p:nvPicPr>
          <p:cNvPr id="132101" name="Picture 5" descr="C:\WINDOWS\Application Data\Microsoft\Media Catalog\Downloaded Clips\cl82\j0326228.wmf"/>
          <p:cNvPicPr>
            <a:picLocks noChangeAspect="1" noChangeArrowheads="1"/>
          </p:cNvPicPr>
          <p:nvPr/>
        </p:nvPicPr>
        <p:blipFill>
          <a:blip r:embed="rId2" cstate="print"/>
          <a:srcRect/>
          <a:stretch>
            <a:fillRect/>
          </a:stretch>
        </p:blipFill>
        <p:spPr bwMode="auto">
          <a:xfrm>
            <a:off x="7488238" y="0"/>
            <a:ext cx="1655762" cy="1844675"/>
          </a:xfrm>
          <a:prstGeom prst="rect">
            <a:avLst/>
          </a:prstGeom>
          <a:noFill/>
        </p:spPr>
      </p:pic>
      <p:pic>
        <p:nvPicPr>
          <p:cNvPr id="132102" name="Picture 6" descr="C:\WINDOWS\Application Data\Microsoft\Media Catalog\Downloaded Clips\cl82\j0326226.wmf"/>
          <p:cNvPicPr>
            <a:picLocks noChangeAspect="1" noChangeArrowheads="1"/>
          </p:cNvPicPr>
          <p:nvPr/>
        </p:nvPicPr>
        <p:blipFill>
          <a:blip r:embed="rId3" cstate="print"/>
          <a:srcRect/>
          <a:stretch>
            <a:fillRect/>
          </a:stretch>
        </p:blipFill>
        <p:spPr bwMode="auto">
          <a:xfrm>
            <a:off x="1143000" y="0"/>
            <a:ext cx="1689100" cy="1887538"/>
          </a:xfrm>
          <a:prstGeom prst="rect">
            <a:avLst/>
          </a:prstGeom>
          <a:noFill/>
        </p:spPr>
      </p:pic>
      <p:pic>
        <p:nvPicPr>
          <p:cNvPr id="132103" name="Picture 7" descr="C:\WINDOWS\Application Data\Microsoft\Media Catalog\Downloaded Clips\cl45\j0172629.gif"/>
          <p:cNvPicPr>
            <a:picLocks noChangeAspect="1" noChangeArrowheads="1" noCrop="1"/>
          </p:cNvPicPr>
          <p:nvPr/>
        </p:nvPicPr>
        <p:blipFill>
          <a:blip r:embed="rId4" cstate="print"/>
          <a:srcRect/>
          <a:stretch>
            <a:fillRect/>
          </a:stretch>
        </p:blipFill>
        <p:spPr bwMode="auto">
          <a:xfrm>
            <a:off x="8183563" y="5761038"/>
            <a:ext cx="960437" cy="1096962"/>
          </a:xfrm>
          <a:prstGeom prst="rect">
            <a:avLst/>
          </a:prstGeom>
          <a:noFill/>
        </p:spPr>
      </p:pic>
      <p:sp>
        <p:nvSpPr>
          <p:cNvPr id="132104" name="Rectangle 8"/>
          <p:cNvSpPr>
            <a:spLocks noChangeArrowheads="1"/>
          </p:cNvSpPr>
          <p:nvPr/>
        </p:nvSpPr>
        <p:spPr bwMode="auto">
          <a:xfrm>
            <a:off x="1190625" y="2133600"/>
            <a:ext cx="7953375" cy="1828800"/>
          </a:xfrm>
          <a:prstGeom prst="rect">
            <a:avLst/>
          </a:prstGeom>
          <a:noFill/>
          <a:ln w="12700" cap="sq">
            <a:noFill/>
            <a:miter lim="800000"/>
            <a:headEnd type="none" w="sm" len="sm"/>
            <a:tailEnd type="none" w="sm" len="sm"/>
          </a:ln>
          <a:effectLst/>
        </p:spPr>
        <p:txBody>
          <a:bodyPr/>
          <a:lstStyle/>
          <a:p>
            <a:pPr marL="342900" indent="-342900" algn="l">
              <a:spcBef>
                <a:spcPct val="20000"/>
              </a:spcBef>
              <a:buClr>
                <a:schemeClr val="tx2"/>
              </a:buClr>
              <a:buSzPct val="90000"/>
            </a:pPr>
            <a:r>
              <a:rPr lang="en-US" sz="3200" b="1">
                <a:solidFill>
                  <a:srgbClr val="99FF33"/>
                </a:solidFill>
                <a:effectLst>
                  <a:outerShdw blurRad="38100" dist="38100" dir="2700000" algn="tl">
                    <a:srgbClr val="000000"/>
                  </a:outerShdw>
                </a:effectLst>
              </a:rPr>
              <a:t>   Is it difficult to decrypt the affine cipher without knowing keys? How many possible affine ciphers are there? </a:t>
            </a:r>
          </a:p>
        </p:txBody>
      </p:sp>
    </p:spTree>
    <p:extLst>
      <p:ext uri="{BB962C8B-B14F-4D97-AF65-F5344CB8AC3E}">
        <p14:creationId xmlns:p14="http://schemas.microsoft.com/office/powerpoint/2010/main" val="41006438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1371600" y="247650"/>
            <a:ext cx="7772400" cy="742950"/>
          </a:xfrm>
        </p:spPr>
        <p:txBody>
          <a:bodyPr/>
          <a:lstStyle/>
          <a:p>
            <a:r>
              <a:rPr lang="en-US" b="1">
                <a:effectLst>
                  <a:outerShdw blurRad="38100" dist="38100" dir="2700000" algn="tl">
                    <a:srgbClr val="000000"/>
                  </a:outerShdw>
                </a:effectLst>
              </a:rPr>
              <a:t>Number of Affine Ciphers</a:t>
            </a:r>
          </a:p>
        </p:txBody>
      </p:sp>
      <p:sp>
        <p:nvSpPr>
          <p:cNvPr id="133125" name="Rectangle 5"/>
          <p:cNvSpPr>
            <a:spLocks noChangeArrowheads="1"/>
          </p:cNvSpPr>
          <p:nvPr/>
        </p:nvSpPr>
        <p:spPr bwMode="auto">
          <a:xfrm>
            <a:off x="1219200" y="1524000"/>
            <a:ext cx="8153400" cy="5105400"/>
          </a:xfrm>
          <a:prstGeom prst="rect">
            <a:avLst/>
          </a:prstGeom>
          <a:noFill/>
          <a:ln w="12700" cap="sq">
            <a:noFill/>
            <a:miter lim="800000"/>
            <a:headEnd type="none" w="sm" len="sm"/>
            <a:tailEnd type="none" w="sm" len="sm"/>
          </a:ln>
          <a:effectLst/>
        </p:spPr>
        <p:txBody>
          <a:bodyPr/>
          <a:lstStyle/>
          <a:p>
            <a:pPr marL="342900" indent="-342900" algn="l">
              <a:spcBef>
                <a:spcPct val="20000"/>
              </a:spcBef>
              <a:buClr>
                <a:schemeClr val="tx2"/>
              </a:buClr>
              <a:buSzPct val="90000"/>
            </a:pPr>
            <a:r>
              <a:rPr lang="en-US" sz="3200" b="1" dirty="0">
                <a:effectLst>
                  <a:outerShdw blurRad="38100" dist="38100" dir="2700000" algn="tl">
                    <a:srgbClr val="000000"/>
                  </a:outerShdw>
                </a:effectLst>
              </a:rPr>
              <a:t>K={(k</a:t>
            </a:r>
            <a:r>
              <a:rPr lang="en-US" sz="3200" b="1" baseline="-25000" dirty="0">
                <a:effectLst>
                  <a:outerShdw blurRad="38100" dist="38100" dir="2700000" algn="tl">
                    <a:srgbClr val="000000"/>
                  </a:outerShdw>
                </a:effectLst>
              </a:rPr>
              <a:t>1</a:t>
            </a:r>
            <a:r>
              <a:rPr lang="en-US" sz="3200" b="1" dirty="0">
                <a:effectLst>
                  <a:outerShdw blurRad="38100" dist="38100" dir="2700000" algn="tl">
                    <a:srgbClr val="000000"/>
                  </a:outerShdw>
                </a:effectLst>
              </a:rPr>
              <a:t>,k</a:t>
            </a:r>
            <a:r>
              <a:rPr lang="en-US" sz="3200" b="1" baseline="-25000" dirty="0">
                <a:effectLst>
                  <a:outerShdw blurRad="38100" dist="38100" dir="2700000" algn="tl">
                    <a:srgbClr val="000000"/>
                  </a:outerShdw>
                </a:effectLst>
              </a:rPr>
              <a:t>2</a:t>
            </a:r>
            <a:r>
              <a:rPr lang="en-US" sz="3200" b="1" dirty="0">
                <a:effectLst>
                  <a:outerShdw blurRad="38100" dist="38100" dir="2700000" algn="tl">
                    <a:srgbClr val="000000"/>
                  </a:outerShdw>
                </a:effectLst>
              </a:rPr>
              <a:t>)| k</a:t>
            </a:r>
            <a:r>
              <a:rPr lang="en-US" sz="3200" b="1" baseline="-25000" dirty="0">
                <a:effectLst>
                  <a:outerShdw blurRad="38100" dist="38100" dir="2700000" algn="tl">
                    <a:srgbClr val="000000"/>
                  </a:outerShdw>
                </a:effectLst>
              </a:rPr>
              <a:t>1</a:t>
            </a:r>
            <a:r>
              <a:rPr lang="en-US" sz="3200" b="1" dirty="0">
                <a:effectLst>
                  <a:outerShdw blurRad="38100" dist="38100" dir="2700000" algn="tl">
                    <a:srgbClr val="000000"/>
                  </a:outerShdw>
                </a:effectLst>
              </a:rPr>
              <a:t>,k</a:t>
            </a:r>
            <a:r>
              <a:rPr lang="en-US" sz="3200" b="1" baseline="-25000" dirty="0">
                <a:effectLst>
                  <a:outerShdw blurRad="38100" dist="38100" dir="2700000" algn="tl">
                    <a:srgbClr val="000000"/>
                  </a:outerShdw>
                </a:effectLst>
              </a:rPr>
              <a:t>2</a:t>
            </a:r>
            <a:r>
              <a:rPr lang="en-US" sz="3200" b="1" dirty="0">
                <a:effectLst>
                  <a:outerShdw blurRad="38100" dist="38100" dir="2700000" algn="tl">
                    <a:srgbClr val="000000"/>
                  </a:outerShdw>
                </a:effectLst>
              </a:rPr>
              <a:t> </a:t>
            </a:r>
            <a:r>
              <a:rPr lang="en-US" sz="3200" b="1" dirty="0">
                <a:effectLst>
                  <a:outerShdw blurRad="38100" dist="38100" dir="2700000" algn="tl">
                    <a:srgbClr val="000000"/>
                  </a:outerShdw>
                </a:effectLst>
                <a:sym typeface="Symbol" pitchFamily="18" charset="2"/>
              </a:rPr>
              <a:t> </a:t>
            </a:r>
            <a:r>
              <a:rPr lang="en-US" sz="3200" b="1" dirty="0">
                <a:effectLst>
                  <a:outerShdw blurRad="38100" dist="38100" dir="2700000" algn="tl">
                    <a:srgbClr val="000000"/>
                  </a:outerShdw>
                </a:effectLst>
              </a:rPr>
              <a:t>Z</a:t>
            </a:r>
            <a:r>
              <a:rPr lang="en-US" sz="3200" b="1" baseline="-25000" dirty="0">
                <a:effectLst>
                  <a:outerShdw blurRad="38100" dist="38100" dir="2700000" algn="tl">
                    <a:srgbClr val="000000"/>
                  </a:outerShdw>
                </a:effectLst>
              </a:rPr>
              <a:t>26</a:t>
            </a:r>
            <a:r>
              <a:rPr lang="en-US" sz="3200" b="1" dirty="0">
                <a:effectLst>
                  <a:outerShdw blurRad="38100" dist="38100" dir="2700000" algn="tl">
                    <a:srgbClr val="000000"/>
                  </a:outerShdw>
                </a:effectLst>
                <a:sym typeface="Symbol" pitchFamily="18" charset="2"/>
              </a:rPr>
              <a:t>, </a:t>
            </a:r>
            <a:r>
              <a:rPr lang="en-US" sz="3200" b="1" dirty="0" err="1">
                <a:effectLst>
                  <a:outerShdw blurRad="38100" dist="38100" dir="2700000" algn="tl">
                    <a:srgbClr val="000000"/>
                  </a:outerShdw>
                </a:effectLst>
              </a:rPr>
              <a:t>gcd</a:t>
            </a:r>
            <a:r>
              <a:rPr lang="en-US" sz="3200" b="1" dirty="0">
                <a:effectLst>
                  <a:outerShdw blurRad="38100" dist="38100" dir="2700000" algn="tl">
                    <a:srgbClr val="000000"/>
                  </a:outerShdw>
                </a:effectLst>
              </a:rPr>
              <a:t>(k</a:t>
            </a:r>
            <a:r>
              <a:rPr lang="en-US" sz="3200" b="1" baseline="-25000" dirty="0">
                <a:effectLst>
                  <a:outerShdw blurRad="38100" dist="38100" dir="2700000" algn="tl">
                    <a:srgbClr val="000000"/>
                  </a:outerShdw>
                </a:effectLst>
              </a:rPr>
              <a:t>1</a:t>
            </a:r>
            <a:r>
              <a:rPr lang="en-US" sz="3200" b="1" dirty="0">
                <a:effectLst>
                  <a:outerShdw blurRad="38100" dist="38100" dir="2700000" algn="tl">
                    <a:srgbClr val="000000"/>
                  </a:outerShdw>
                </a:effectLst>
              </a:rPr>
              <a:t>,26)=1} </a:t>
            </a:r>
          </a:p>
          <a:p>
            <a:pPr marL="342900" indent="-342900" algn="l">
              <a:spcBef>
                <a:spcPct val="20000"/>
              </a:spcBef>
              <a:buClr>
                <a:schemeClr val="tx2"/>
              </a:buClr>
              <a:buSzPct val="90000"/>
            </a:pPr>
            <a:r>
              <a:rPr lang="en-US" sz="3200" b="1" dirty="0">
                <a:effectLst>
                  <a:outerShdw blurRad="38100" dist="38100" dir="2700000" algn="tl">
                    <a:srgbClr val="000000"/>
                  </a:outerShdw>
                </a:effectLst>
              </a:rPr>
              <a:t>k</a:t>
            </a:r>
            <a:r>
              <a:rPr lang="en-US" sz="3200" b="1" baseline="-25000" dirty="0">
                <a:effectLst>
                  <a:outerShdw blurRad="38100" dist="38100" dir="2700000" algn="tl">
                    <a:srgbClr val="000000"/>
                  </a:outerShdw>
                </a:effectLst>
              </a:rPr>
              <a:t>1</a:t>
            </a:r>
            <a:r>
              <a:rPr lang="en-US" sz="3200" b="1" dirty="0">
                <a:effectLst>
                  <a:outerShdw blurRad="38100" dist="38100" dir="2700000" algn="tl">
                    <a:srgbClr val="000000"/>
                  </a:outerShdw>
                </a:effectLst>
              </a:rPr>
              <a:t> </a:t>
            </a:r>
            <a:r>
              <a:rPr lang="en-US" sz="3200" b="1" dirty="0">
                <a:effectLst>
                  <a:outerShdw blurRad="38100" dist="38100" dir="2700000" algn="tl">
                    <a:srgbClr val="000000"/>
                  </a:outerShdw>
                </a:effectLst>
                <a:sym typeface="Symbol" pitchFamily="18" charset="2"/>
              </a:rPr>
              <a:t></a:t>
            </a:r>
            <a:r>
              <a:rPr lang="en-US" sz="3200" b="1" dirty="0">
                <a:effectLst>
                  <a:outerShdw blurRad="38100" dist="38100" dir="2700000" algn="tl">
                    <a:srgbClr val="000000"/>
                  </a:outerShdw>
                </a:effectLst>
              </a:rPr>
              <a:t>{1,3,5,7,9,11,15, 17,19,21,23,25}</a:t>
            </a:r>
          </a:p>
          <a:p>
            <a:pPr marL="342900" indent="-342900">
              <a:spcBef>
                <a:spcPct val="20000"/>
              </a:spcBef>
              <a:buClr>
                <a:schemeClr val="tx2"/>
              </a:buClr>
              <a:buSzPct val="90000"/>
            </a:pPr>
            <a:r>
              <a:rPr lang="en-US" sz="3200" b="1" dirty="0">
                <a:effectLst>
                  <a:outerShdw blurRad="38100" dist="38100" dir="2700000" algn="tl">
                    <a:srgbClr val="000000"/>
                  </a:outerShdw>
                </a:effectLst>
              </a:rPr>
              <a:t>N=12*26=312</a:t>
            </a:r>
          </a:p>
          <a:p>
            <a:pPr marL="342900" indent="-342900" algn="l">
              <a:spcBef>
                <a:spcPct val="20000"/>
              </a:spcBef>
              <a:buClr>
                <a:schemeClr val="tx2"/>
              </a:buClr>
              <a:buSzPct val="90000"/>
            </a:pPr>
            <a:endParaRPr lang="en-US" b="1" dirty="0">
              <a:effectLst>
                <a:outerShdw blurRad="38100" dist="38100" dir="2700000" algn="tl">
                  <a:srgbClr val="000000"/>
                </a:outerShdw>
              </a:effectLst>
            </a:endParaRPr>
          </a:p>
          <a:p>
            <a:pPr marL="342900" indent="-342900" algn="l">
              <a:spcBef>
                <a:spcPct val="20000"/>
              </a:spcBef>
              <a:buClr>
                <a:schemeClr val="tx2"/>
              </a:buClr>
              <a:buSzPct val="90000"/>
            </a:pPr>
            <a:endParaRPr lang="en-US" b="1" dirty="0">
              <a:effectLst>
                <a:outerShdw blurRad="38100" dist="38100" dir="2700000" algn="tl">
                  <a:srgbClr val="000000"/>
                </a:outerShdw>
              </a:effectLst>
            </a:endParaRPr>
          </a:p>
          <a:p>
            <a:pPr marL="342900" indent="-342900" algn="l">
              <a:spcBef>
                <a:spcPct val="20000"/>
              </a:spcBef>
              <a:buClr>
                <a:schemeClr val="tx2"/>
              </a:buClr>
              <a:buSzPct val="90000"/>
            </a:pPr>
            <a:endParaRPr lang="en-US" b="1" dirty="0">
              <a:effectLst>
                <a:outerShdw blurRad="38100" dist="38100" dir="2700000" algn="tl">
                  <a:srgbClr val="000000"/>
                </a:outerShdw>
              </a:effectLst>
            </a:endParaRPr>
          </a:p>
          <a:p>
            <a:pPr marL="342900" indent="-342900" algn="l">
              <a:spcBef>
                <a:spcPct val="20000"/>
              </a:spcBef>
              <a:buClr>
                <a:schemeClr val="tx2"/>
              </a:buClr>
              <a:buSzPct val="90000"/>
            </a:pPr>
            <a:endParaRPr lang="en-US" b="1" dirty="0">
              <a:effectLst>
                <a:outerShdw blurRad="38100" dist="38100" dir="2700000" algn="tl">
                  <a:srgbClr val="000000"/>
                </a:outerShdw>
              </a:effectLst>
            </a:endParaRPr>
          </a:p>
          <a:p>
            <a:pPr marL="342900" indent="-342900" algn="l">
              <a:spcBef>
                <a:spcPct val="20000"/>
              </a:spcBef>
              <a:buClr>
                <a:schemeClr val="tx2"/>
              </a:buClr>
              <a:buSzPct val="90000"/>
            </a:pPr>
            <a:endParaRPr lang="en-US" b="1" dirty="0">
              <a:effectLst>
                <a:outerShdw blurRad="38100" dist="38100" dir="2700000" algn="tl">
                  <a:srgbClr val="000000"/>
                </a:outerShdw>
              </a:effectLst>
            </a:endParaRPr>
          </a:p>
          <a:p>
            <a:pPr marL="342900" indent="-342900" algn="l">
              <a:spcBef>
                <a:spcPct val="20000"/>
              </a:spcBef>
              <a:buClr>
                <a:schemeClr val="tx2"/>
              </a:buClr>
              <a:buSzPct val="90000"/>
            </a:pPr>
            <a:endParaRPr lang="en-US" b="1" dirty="0">
              <a:effectLst>
                <a:outerShdw blurRad="38100" dist="38100" dir="2700000" algn="tl">
                  <a:srgbClr val="000000"/>
                </a:outerShdw>
              </a:effectLst>
            </a:endParaRPr>
          </a:p>
        </p:txBody>
      </p:sp>
      <p:sp>
        <p:nvSpPr>
          <p:cNvPr id="133126" name="Text Box 6"/>
          <p:cNvSpPr txBox="1">
            <a:spLocks noChangeArrowheads="1"/>
          </p:cNvSpPr>
          <p:nvPr/>
        </p:nvSpPr>
        <p:spPr bwMode="auto">
          <a:xfrm>
            <a:off x="1371600" y="4191000"/>
            <a:ext cx="6934200" cy="584775"/>
          </a:xfrm>
          <a:prstGeom prst="rect">
            <a:avLst/>
          </a:prstGeom>
          <a:noFill/>
          <a:ln w="12700" cap="sq">
            <a:noFill/>
            <a:miter lim="800000"/>
            <a:headEnd type="none" w="sm" len="sm"/>
            <a:tailEnd type="none" w="sm" len="sm"/>
          </a:ln>
          <a:effectLst/>
        </p:spPr>
        <p:txBody>
          <a:bodyPr wrap="square">
            <a:spAutoFit/>
          </a:bodyPr>
          <a:lstStyle/>
          <a:p>
            <a:pPr>
              <a:spcBef>
                <a:spcPct val="50000"/>
              </a:spcBef>
            </a:pPr>
            <a:r>
              <a:rPr lang="en-US" sz="3200" b="1" dirty="0">
                <a:solidFill>
                  <a:schemeClr val="accent1"/>
                </a:solidFill>
                <a:effectLst>
                  <a:outerShdw blurRad="38100" dist="38100" dir="2700000" algn="tl">
                    <a:srgbClr val="000000"/>
                  </a:outerShdw>
                </a:effectLst>
              </a:rPr>
              <a:t>Comments: </a:t>
            </a:r>
            <a:r>
              <a:rPr lang="en-US" sz="3200" b="1" dirty="0">
                <a:effectLst>
                  <a:outerShdw blurRad="38100" dist="38100" dir="2700000" algn="tl">
                    <a:srgbClr val="000000"/>
                  </a:outerShdw>
                </a:effectLst>
              </a:rPr>
              <a:t>Affine cipher is insecure!</a:t>
            </a:r>
          </a:p>
        </p:txBody>
      </p:sp>
    </p:spTree>
    <p:extLst>
      <p:ext uri="{BB962C8B-B14F-4D97-AF65-F5344CB8AC3E}">
        <p14:creationId xmlns:p14="http://schemas.microsoft.com/office/powerpoint/2010/main" val="3981548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1143000" y="247650"/>
            <a:ext cx="8001000" cy="596900"/>
          </a:xfrm>
        </p:spPr>
        <p:txBody>
          <a:bodyPr/>
          <a:lstStyle/>
          <a:p>
            <a:r>
              <a:rPr lang="en-US" sz="4000" b="1">
                <a:effectLst>
                  <a:outerShdw blurRad="38100" dist="38100" dir="2700000" algn="tl">
                    <a:srgbClr val="000000"/>
                  </a:outerShdw>
                </a:effectLst>
              </a:rPr>
              <a:t>Example of Breaking Affine Cipher </a:t>
            </a:r>
          </a:p>
        </p:txBody>
      </p:sp>
      <p:sp>
        <p:nvSpPr>
          <p:cNvPr id="134147" name="Text Box 3"/>
          <p:cNvSpPr txBox="1">
            <a:spLocks noChangeArrowheads="1"/>
          </p:cNvSpPr>
          <p:nvPr/>
        </p:nvSpPr>
        <p:spPr bwMode="auto">
          <a:xfrm>
            <a:off x="1219200" y="1219200"/>
            <a:ext cx="7672388" cy="4481513"/>
          </a:xfrm>
          <a:prstGeom prst="rect">
            <a:avLst/>
          </a:prstGeom>
          <a:noFill/>
          <a:ln w="12700" cap="sq">
            <a:noFill/>
            <a:miter lim="800000"/>
            <a:headEnd type="none" w="sm" len="sm"/>
            <a:tailEnd type="none" w="sm" len="sm"/>
          </a:ln>
          <a:effectLst/>
        </p:spPr>
        <p:txBody>
          <a:bodyPr>
            <a:spAutoFit/>
          </a:bodyPr>
          <a:lstStyle/>
          <a:p>
            <a:pPr marL="457200" indent="-457200" algn="l">
              <a:spcBef>
                <a:spcPct val="50000"/>
              </a:spcBef>
            </a:pPr>
            <a:r>
              <a:rPr lang="en-US" sz="3200" b="1">
                <a:effectLst>
                  <a:outerShdw blurRad="38100" dist="38100" dir="2700000" algn="tl">
                    <a:srgbClr val="000000"/>
                  </a:outerShdw>
                </a:effectLst>
              </a:rPr>
              <a:t>Given ciphertext:</a:t>
            </a:r>
          </a:p>
          <a:p>
            <a:pPr marL="457200" indent="-457200" algn="l">
              <a:spcBef>
                <a:spcPct val="50000"/>
              </a:spcBef>
            </a:pPr>
            <a:r>
              <a:rPr lang="en-US" sz="3200" b="1">
                <a:effectLst>
                  <a:outerShdw blurRad="38100" dist="38100" dir="2700000" algn="tl">
                    <a:srgbClr val="000000"/>
                  </a:outerShdw>
                </a:effectLst>
              </a:rPr>
              <a:t>fmxvedkaphferbndkrxrsrefmorudkvshvufedkaprkdlyevlrhhrh</a:t>
            </a:r>
          </a:p>
          <a:p>
            <a:pPr marL="457200" indent="-457200" algn="l">
              <a:spcBef>
                <a:spcPct val="50000"/>
              </a:spcBef>
            </a:pPr>
            <a:r>
              <a:rPr lang="en-US" sz="3200" b="1">
                <a:effectLst>
                  <a:outerShdw blurRad="38100" dist="38100" dir="2700000" algn="tl">
                    <a:srgbClr val="000000"/>
                  </a:outerShdw>
                </a:effectLst>
              </a:rPr>
              <a:t>                                     k</a:t>
            </a:r>
            <a:r>
              <a:rPr lang="en-US" sz="3200" b="1" baseline="-25000">
                <a:effectLst>
                  <a:outerShdw blurRad="38100" dist="38100" dir="2700000" algn="tl">
                    <a:srgbClr val="000000"/>
                  </a:outerShdw>
                </a:effectLst>
              </a:rPr>
              <a:t>1</a:t>
            </a:r>
            <a:r>
              <a:rPr lang="en-US" sz="3200" b="1">
                <a:effectLst>
                  <a:outerShdw blurRad="38100" dist="38100" dir="2700000" algn="tl">
                    <a:srgbClr val="000000"/>
                  </a:outerShdw>
                </a:effectLst>
              </a:rPr>
              <a:t>= 3, k</a:t>
            </a:r>
            <a:r>
              <a:rPr lang="en-US" sz="3200" b="1" baseline="-25000">
                <a:effectLst>
                  <a:outerShdw blurRad="38100" dist="38100" dir="2700000" algn="tl">
                    <a:srgbClr val="000000"/>
                  </a:outerShdw>
                </a:effectLst>
              </a:rPr>
              <a:t>2</a:t>
            </a:r>
            <a:r>
              <a:rPr lang="en-US" sz="3200" b="1">
                <a:effectLst>
                  <a:outerShdw blurRad="38100" dist="38100" dir="2700000" algn="tl">
                    <a:srgbClr val="000000"/>
                  </a:outerShdw>
                </a:effectLst>
              </a:rPr>
              <a:t>=5</a:t>
            </a:r>
          </a:p>
          <a:p>
            <a:pPr marL="457200" indent="-457200" algn="l">
              <a:spcBef>
                <a:spcPct val="50000"/>
              </a:spcBef>
            </a:pPr>
            <a:r>
              <a:rPr lang="en-US" sz="3200" b="1">
                <a:effectLst>
                  <a:outerShdw blurRad="38100" dist="38100" dir="2700000" algn="tl">
                    <a:srgbClr val="000000"/>
                  </a:outerShdw>
                </a:effectLst>
              </a:rPr>
              <a:t>algoritmsarequitegeneraldefinitionsofarithmeticprocess</a:t>
            </a:r>
          </a:p>
          <a:p>
            <a:pPr marL="457200" indent="-457200" algn="l">
              <a:spcBef>
                <a:spcPct val="50000"/>
              </a:spcBef>
            </a:pPr>
            <a:r>
              <a:rPr lang="en-US" sz="3200" b="1">
                <a:effectLst>
                  <a:outerShdw blurRad="38100" dist="38100" dir="2700000" algn="tl">
                    <a:srgbClr val="000000"/>
                  </a:outerShdw>
                </a:effectLst>
              </a:rPr>
              <a:t>Resulting plaintext</a:t>
            </a:r>
          </a:p>
        </p:txBody>
      </p:sp>
      <p:sp>
        <p:nvSpPr>
          <p:cNvPr id="134148" name="Line 4"/>
          <p:cNvSpPr>
            <a:spLocks noChangeShapeType="1"/>
          </p:cNvSpPr>
          <p:nvPr/>
        </p:nvSpPr>
        <p:spPr bwMode="auto">
          <a:xfrm>
            <a:off x="4495800" y="3048000"/>
            <a:ext cx="0" cy="914400"/>
          </a:xfrm>
          <a:prstGeom prst="line">
            <a:avLst/>
          </a:prstGeom>
          <a:noFill/>
          <a:ln w="76200" cap="sq">
            <a:solidFill>
              <a:schemeClr val="tx1"/>
            </a:solidFill>
            <a:round/>
            <a:headEnd type="none" w="sm" len="sm"/>
            <a:tailEnd type="triangle" w="sm" len="sm"/>
          </a:ln>
          <a:effectLst/>
        </p:spPr>
        <p:txBody>
          <a:bodyPr wrap="none"/>
          <a:lstStyle/>
          <a:p>
            <a:endParaRPr lang="en-US"/>
          </a:p>
        </p:txBody>
      </p:sp>
      <p:sp>
        <p:nvSpPr>
          <p:cNvPr id="134149" name="Text Box 5"/>
          <p:cNvSpPr txBox="1">
            <a:spLocks noChangeArrowheads="1"/>
          </p:cNvSpPr>
          <p:nvPr/>
        </p:nvSpPr>
        <p:spPr bwMode="auto">
          <a:xfrm>
            <a:off x="2590800" y="3124200"/>
            <a:ext cx="1828800" cy="579438"/>
          </a:xfrm>
          <a:prstGeom prst="rect">
            <a:avLst/>
          </a:prstGeom>
          <a:noFill/>
          <a:ln w="12700" cap="sq">
            <a:noFill/>
            <a:miter lim="800000"/>
            <a:headEnd type="none" w="sm" len="sm"/>
            <a:tailEnd type="none" w="sm" len="sm"/>
          </a:ln>
          <a:effectLst/>
        </p:spPr>
        <p:txBody>
          <a:bodyPr>
            <a:spAutoFit/>
          </a:bodyPr>
          <a:lstStyle/>
          <a:p>
            <a:pPr>
              <a:spcBef>
                <a:spcPct val="50000"/>
              </a:spcBef>
            </a:pPr>
            <a:r>
              <a:rPr lang="en-US" sz="3200" b="1">
                <a:effectLst>
                  <a:outerShdw blurRad="38100" dist="38100" dir="2700000" algn="tl">
                    <a:srgbClr val="000000"/>
                  </a:outerShdw>
                </a:effectLst>
              </a:rPr>
              <a:t>Decrypt</a:t>
            </a:r>
          </a:p>
        </p:txBody>
      </p:sp>
    </p:spTree>
    <p:extLst>
      <p:ext uri="{BB962C8B-B14F-4D97-AF65-F5344CB8AC3E}">
        <p14:creationId xmlns:p14="http://schemas.microsoft.com/office/powerpoint/2010/main" val="5804123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ext Box 1026"/>
          <p:cNvSpPr txBox="1">
            <a:spLocks noChangeArrowheads="1"/>
          </p:cNvSpPr>
          <p:nvPr/>
        </p:nvSpPr>
        <p:spPr bwMode="auto">
          <a:xfrm>
            <a:off x="1143000" y="838200"/>
            <a:ext cx="8001000" cy="1187450"/>
          </a:xfrm>
          <a:prstGeom prst="rect">
            <a:avLst/>
          </a:prstGeom>
          <a:noFill/>
          <a:ln w="9525">
            <a:noFill/>
            <a:miter lim="800000"/>
            <a:headEnd/>
            <a:tailEnd/>
          </a:ln>
          <a:effectLst/>
        </p:spPr>
        <p:txBody>
          <a:bodyPr>
            <a:spAutoFit/>
          </a:bodyPr>
          <a:lstStyle/>
          <a:p>
            <a:pPr algn="l">
              <a:spcBef>
                <a:spcPct val="50000"/>
              </a:spcBef>
            </a:pPr>
            <a:r>
              <a:rPr lang="en-US" b="1">
                <a:cs typeface="Times New Roman" charset="0"/>
              </a:rPr>
              <a:t>In an affine cipher, suppose that (P,R) and (G,Y) are two pairs of plaintext letters and ciphertext letters. Break the cipher.</a:t>
            </a:r>
            <a:endParaRPr lang="en-US" b="1"/>
          </a:p>
        </p:txBody>
      </p:sp>
      <p:sp>
        <p:nvSpPr>
          <p:cNvPr id="162819" name="Text Box 1027"/>
          <p:cNvSpPr txBox="1">
            <a:spLocks noChangeArrowheads="1"/>
          </p:cNvSpPr>
          <p:nvPr/>
        </p:nvSpPr>
        <p:spPr bwMode="auto">
          <a:xfrm>
            <a:off x="1143000" y="1981200"/>
            <a:ext cx="8001000" cy="4054475"/>
          </a:xfrm>
          <a:prstGeom prst="rect">
            <a:avLst/>
          </a:prstGeom>
          <a:noFill/>
          <a:ln w="9525">
            <a:noFill/>
            <a:miter lim="800000"/>
            <a:headEnd/>
            <a:tailEnd/>
          </a:ln>
          <a:effectLst/>
        </p:spPr>
        <p:txBody>
          <a:bodyPr>
            <a:spAutoFit/>
          </a:bodyPr>
          <a:lstStyle/>
          <a:p>
            <a:pPr algn="l">
              <a:spcBef>
                <a:spcPct val="50000"/>
              </a:spcBef>
            </a:pPr>
            <a:r>
              <a:rPr lang="en-US" sz="2000" b="1" dirty="0"/>
              <a:t>Answer:     c=k1*p+k2</a:t>
            </a:r>
          </a:p>
          <a:p>
            <a:pPr algn="l">
              <a:spcBef>
                <a:spcPct val="50000"/>
              </a:spcBef>
            </a:pPr>
            <a:r>
              <a:rPr lang="en-US" sz="2000" b="1" dirty="0"/>
              <a:t>      P</a:t>
            </a:r>
            <a:r>
              <a:rPr lang="en-US" sz="2000" b="1" dirty="0">
                <a:sym typeface="Wingdings" pitchFamily="2" charset="2"/>
              </a:rPr>
              <a:t></a:t>
            </a:r>
            <a:r>
              <a:rPr lang="en-US" sz="2000" b="1" dirty="0"/>
              <a:t>15,  R</a:t>
            </a:r>
            <a:r>
              <a:rPr lang="en-US" sz="2000" b="1" dirty="0">
                <a:sym typeface="Wingdings" pitchFamily="2" charset="2"/>
              </a:rPr>
              <a:t></a:t>
            </a:r>
            <a:r>
              <a:rPr lang="en-US" sz="2000" b="1" dirty="0"/>
              <a:t>17,  G</a:t>
            </a:r>
            <a:r>
              <a:rPr lang="en-US" sz="2000" b="1" dirty="0">
                <a:sym typeface="Wingdings" pitchFamily="2" charset="2"/>
              </a:rPr>
              <a:t></a:t>
            </a:r>
            <a:r>
              <a:rPr lang="en-US" sz="2000" b="1" dirty="0"/>
              <a:t>6,  Y</a:t>
            </a:r>
            <a:r>
              <a:rPr lang="en-US" sz="2000" b="1" dirty="0">
                <a:sym typeface="Wingdings" pitchFamily="2" charset="2"/>
              </a:rPr>
              <a:t></a:t>
            </a:r>
            <a:r>
              <a:rPr lang="en-US" sz="2000" b="1" dirty="0"/>
              <a:t>24</a:t>
            </a:r>
          </a:p>
          <a:p>
            <a:pPr algn="l">
              <a:spcBef>
                <a:spcPct val="50000"/>
              </a:spcBef>
            </a:pPr>
            <a:r>
              <a:rPr lang="en-US" sz="2000" b="1" dirty="0"/>
              <a:t>     17=15*k1+k2 (mod 26)</a:t>
            </a:r>
          </a:p>
          <a:p>
            <a:pPr algn="l">
              <a:spcBef>
                <a:spcPct val="50000"/>
              </a:spcBef>
            </a:pPr>
            <a:r>
              <a:rPr lang="en-US" sz="2000" b="1" dirty="0"/>
              <a:t>      24=6*k1+k2 (mod 26)</a:t>
            </a:r>
          </a:p>
          <a:p>
            <a:pPr algn="l">
              <a:spcBef>
                <a:spcPct val="50000"/>
              </a:spcBef>
            </a:pPr>
            <a:r>
              <a:rPr lang="en-US" sz="2000" b="1" dirty="0"/>
              <a:t>      -7=9*k1 (mod 26)</a:t>
            </a:r>
          </a:p>
          <a:p>
            <a:pPr algn="l">
              <a:spcBef>
                <a:spcPct val="50000"/>
              </a:spcBef>
            </a:pPr>
            <a:r>
              <a:rPr lang="en-US" sz="2000" b="1" dirty="0"/>
              <a:t>       -7*3=9*3*k1 (mod 26)</a:t>
            </a:r>
          </a:p>
          <a:p>
            <a:pPr algn="l">
              <a:spcBef>
                <a:spcPct val="50000"/>
              </a:spcBef>
            </a:pPr>
            <a:r>
              <a:rPr lang="en-US" sz="2000" b="1" dirty="0"/>
              <a:t>       5=k1 (mod 26)</a:t>
            </a:r>
          </a:p>
          <a:p>
            <a:pPr algn="l">
              <a:spcBef>
                <a:spcPct val="50000"/>
              </a:spcBef>
            </a:pPr>
            <a:r>
              <a:rPr lang="en-US" sz="2000" b="1" dirty="0"/>
              <a:t>        k2=24-6*k1=24-30= -6 (mod 26) </a:t>
            </a:r>
          </a:p>
          <a:p>
            <a:pPr algn="l">
              <a:spcBef>
                <a:spcPct val="50000"/>
              </a:spcBef>
            </a:pPr>
            <a:r>
              <a:rPr lang="en-US" sz="2000" b="1" dirty="0"/>
              <a:t>        c=5p-6 </a:t>
            </a:r>
            <a:r>
              <a:rPr lang="en-US" sz="2000" b="1" dirty="0">
                <a:sym typeface="Wingdings" pitchFamily="2" charset="2"/>
              </a:rPr>
              <a:t>c+6=5p21(c+6)=21*5pp=21c+126=21c+22</a:t>
            </a:r>
            <a:endParaRPr lang="en-US" sz="2000" b="1" dirty="0"/>
          </a:p>
        </p:txBody>
      </p:sp>
      <p:sp>
        <p:nvSpPr>
          <p:cNvPr id="162821" name="Text Box 1029"/>
          <p:cNvSpPr txBox="1">
            <a:spLocks noChangeArrowheads="1"/>
          </p:cNvSpPr>
          <p:nvPr/>
        </p:nvSpPr>
        <p:spPr bwMode="auto">
          <a:xfrm>
            <a:off x="0" y="6003925"/>
            <a:ext cx="9144000" cy="854075"/>
          </a:xfrm>
          <a:prstGeom prst="rect">
            <a:avLst/>
          </a:prstGeom>
          <a:noFill/>
          <a:ln w="12700" cap="sq">
            <a:noFill/>
            <a:miter lim="800000"/>
            <a:headEnd type="none" w="sm" len="sm"/>
            <a:tailEnd type="none" w="sm" len="sm"/>
          </a:ln>
          <a:effectLst/>
        </p:spPr>
        <p:txBody>
          <a:bodyPr>
            <a:spAutoFit/>
          </a:bodyPr>
          <a:lstStyle/>
          <a:p>
            <a:pPr algn="l">
              <a:spcBef>
                <a:spcPct val="50000"/>
              </a:spcBef>
            </a:pPr>
            <a:r>
              <a:rPr lang="en-US" sz="2000" b="1">
                <a:effectLst>
                  <a:outerShdw blurRad="38100" dist="38100" dir="2700000" algn="tl">
                    <a:srgbClr val="000000"/>
                  </a:outerShdw>
                </a:effectLst>
              </a:rPr>
              <a:t> A   B  C  D E  F  G  H  I  J   K   L   M  N   O    P   Q   R   S   T    U  V   W  X   Y   Z </a:t>
            </a:r>
          </a:p>
          <a:p>
            <a:pPr algn="l">
              <a:spcBef>
                <a:spcPct val="50000"/>
              </a:spcBef>
            </a:pPr>
            <a:r>
              <a:rPr lang="en-US" sz="2000" b="1">
                <a:solidFill>
                  <a:srgbClr val="FF0000"/>
                </a:solidFill>
                <a:effectLst>
                  <a:outerShdw blurRad="38100" dist="38100" dir="2700000" algn="tl">
                    <a:srgbClr val="000000"/>
                  </a:outerShdw>
                </a:effectLst>
              </a:rPr>
              <a:t>  0   1  2   3  4   5   6  7   8  9  10  11  12  13  14  15  16  17  18  19  20  21  22  23  24  25</a:t>
            </a:r>
            <a:r>
              <a:rPr lang="en-US" sz="2000" b="1">
                <a:effectLst>
                  <a:outerShdw blurRad="38100" dist="38100" dir="2700000" algn="tl">
                    <a:srgbClr val="000000"/>
                  </a:outerShdw>
                </a:effectLst>
              </a:rPr>
              <a:t> </a:t>
            </a:r>
          </a:p>
        </p:txBody>
      </p:sp>
      <p:sp>
        <p:nvSpPr>
          <p:cNvPr id="162822" name="Rectangle 1030"/>
          <p:cNvSpPr>
            <a:spLocks noChangeArrowheads="1"/>
          </p:cNvSpPr>
          <p:nvPr/>
        </p:nvSpPr>
        <p:spPr bwMode="auto">
          <a:xfrm>
            <a:off x="1143000" y="247650"/>
            <a:ext cx="8001000" cy="596900"/>
          </a:xfrm>
          <a:prstGeom prst="rect">
            <a:avLst/>
          </a:prstGeom>
          <a:noFill/>
          <a:ln w="12700" cap="sq">
            <a:noFill/>
            <a:miter lim="800000"/>
            <a:headEnd type="none" w="sm" len="sm"/>
            <a:tailEnd type="none" w="sm" len="sm"/>
          </a:ln>
          <a:effectLst/>
        </p:spPr>
        <p:txBody>
          <a:bodyPr anchor="ctr"/>
          <a:lstStyle/>
          <a:p>
            <a:pPr algn="l"/>
            <a:r>
              <a:rPr lang="en-US" sz="4000" b="1">
                <a:solidFill>
                  <a:schemeClr val="tx2"/>
                </a:solidFill>
                <a:effectLst>
                  <a:outerShdw blurRad="38100" dist="38100" dir="2700000" algn="tl">
                    <a:srgbClr val="000000"/>
                  </a:outerShdw>
                </a:effectLst>
              </a:rPr>
              <a:t>Cont. </a:t>
            </a:r>
          </a:p>
        </p:txBody>
      </p:sp>
    </p:spTree>
    <p:extLst>
      <p:ext uri="{BB962C8B-B14F-4D97-AF65-F5344CB8AC3E}">
        <p14:creationId xmlns:p14="http://schemas.microsoft.com/office/powerpoint/2010/main" val="40342658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371600" y="762000"/>
            <a:ext cx="7772400" cy="596900"/>
          </a:xfrm>
        </p:spPr>
        <p:txBody>
          <a:bodyPr/>
          <a:lstStyle/>
          <a:p>
            <a:r>
              <a:rPr lang="en-US" b="1">
                <a:effectLst>
                  <a:outerShdw blurRad="38100" dist="38100" dir="2700000" algn="tl">
                    <a:srgbClr val="000000"/>
                  </a:outerShdw>
                </a:effectLst>
              </a:rPr>
              <a:t>Transposition Cipher</a:t>
            </a:r>
          </a:p>
        </p:txBody>
      </p:sp>
      <p:sp>
        <p:nvSpPr>
          <p:cNvPr id="24586" name="Text Box 10"/>
          <p:cNvSpPr txBox="1">
            <a:spLocks noChangeArrowheads="1"/>
          </p:cNvSpPr>
          <p:nvPr/>
        </p:nvSpPr>
        <p:spPr bwMode="auto">
          <a:xfrm>
            <a:off x="1371600" y="1676400"/>
            <a:ext cx="7315200" cy="3992563"/>
          </a:xfrm>
          <a:prstGeom prst="rect">
            <a:avLst/>
          </a:prstGeom>
          <a:noFill/>
          <a:ln w="12700" cap="sq">
            <a:noFill/>
            <a:miter lim="800000"/>
            <a:headEnd type="none" w="sm" len="sm"/>
            <a:tailEnd type="none" w="sm" len="sm"/>
          </a:ln>
          <a:effectLst/>
        </p:spPr>
        <p:txBody>
          <a:bodyPr>
            <a:spAutoFit/>
          </a:bodyPr>
          <a:lstStyle/>
          <a:p>
            <a:pPr algn="l">
              <a:spcBef>
                <a:spcPct val="50000"/>
              </a:spcBef>
            </a:pPr>
            <a:r>
              <a:rPr lang="en-US" sz="3200" b="1">
                <a:effectLst>
                  <a:outerShdw blurRad="38100" dist="38100" dir="2700000" algn="tl">
                    <a:srgbClr val="000000"/>
                  </a:outerShdw>
                </a:effectLst>
              </a:rPr>
              <a:t>Transposition cipher is one in which the letters of plaintext remain what they are, but not where they were.</a:t>
            </a:r>
          </a:p>
          <a:p>
            <a:pPr algn="l">
              <a:spcBef>
                <a:spcPct val="50000"/>
              </a:spcBef>
            </a:pPr>
            <a:r>
              <a:rPr lang="en-US" sz="3200" b="1">
                <a:effectLst>
                  <a:outerShdw blurRad="38100" dist="38100" dir="2700000" algn="tl">
                    <a:srgbClr val="000000"/>
                  </a:outerShdw>
                </a:effectLst>
              </a:rPr>
              <a:t>Transposition cipher only alters the order of the letters of the plaintext.</a:t>
            </a:r>
          </a:p>
          <a:p>
            <a:pPr algn="l">
              <a:spcBef>
                <a:spcPct val="50000"/>
              </a:spcBef>
            </a:pPr>
            <a:r>
              <a:rPr lang="en-US" sz="3200" b="1">
                <a:effectLst>
                  <a:outerShdw blurRad="38100" dist="38100" dir="2700000" algn="tl">
                    <a:srgbClr val="000000"/>
                  </a:outerShdw>
                </a:effectLst>
              </a:rPr>
              <a:t>The Scytale is the prototype of a transposition cipher. </a:t>
            </a:r>
          </a:p>
        </p:txBody>
      </p:sp>
    </p:spTree>
    <p:extLst>
      <p:ext uri="{BB962C8B-B14F-4D97-AF65-F5344CB8AC3E}">
        <p14:creationId xmlns:p14="http://schemas.microsoft.com/office/powerpoint/2010/main" val="31846692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219200" y="247650"/>
            <a:ext cx="7924800" cy="971550"/>
          </a:xfrm>
        </p:spPr>
        <p:txBody>
          <a:bodyPr/>
          <a:lstStyle/>
          <a:p>
            <a:pPr algn="ctr"/>
            <a:r>
              <a:rPr lang="en-US" sz="4000" b="1">
                <a:effectLst>
                  <a:outerShdw blurRad="38100" dist="38100" dir="2700000" algn="tl">
                    <a:srgbClr val="000000"/>
                  </a:outerShdw>
                </a:effectLst>
              </a:rPr>
              <a:t>Transposition Cipher</a:t>
            </a:r>
            <a:br>
              <a:rPr lang="en-US" sz="4000" b="1">
                <a:effectLst>
                  <a:outerShdw blurRad="38100" dist="38100" dir="2700000" algn="tl">
                    <a:srgbClr val="000000"/>
                  </a:outerShdw>
                </a:effectLst>
              </a:rPr>
            </a:br>
            <a:r>
              <a:rPr lang="en-US" sz="4000" b="1">
                <a:effectLst>
                  <a:outerShdw blurRad="38100" dist="38100" dir="2700000" algn="tl">
                    <a:srgbClr val="000000"/>
                  </a:outerShdw>
                </a:effectLst>
              </a:rPr>
              <a:t> Based on Key Word</a:t>
            </a:r>
          </a:p>
        </p:txBody>
      </p:sp>
      <p:sp>
        <p:nvSpPr>
          <p:cNvPr id="29701" name="Rectangle 5"/>
          <p:cNvSpPr>
            <a:spLocks noChangeArrowheads="1"/>
          </p:cNvSpPr>
          <p:nvPr/>
        </p:nvSpPr>
        <p:spPr bwMode="auto">
          <a:xfrm>
            <a:off x="1143000" y="4724400"/>
            <a:ext cx="5410200" cy="762000"/>
          </a:xfrm>
          <a:prstGeom prst="rect">
            <a:avLst/>
          </a:prstGeom>
          <a:noFill/>
          <a:ln w="12700" cap="sq">
            <a:noFill/>
            <a:miter lim="800000"/>
            <a:headEnd type="none" w="sm" len="sm"/>
            <a:tailEnd type="none" w="sm" len="sm"/>
          </a:ln>
          <a:effectLst/>
        </p:spPr>
        <p:txBody>
          <a:bodyPr/>
          <a:lstStyle/>
          <a:p>
            <a:pPr marL="342900" indent="-342900" algn="l">
              <a:spcBef>
                <a:spcPct val="20000"/>
              </a:spcBef>
              <a:buClr>
                <a:schemeClr val="tx2"/>
              </a:buClr>
              <a:buSzPct val="90000"/>
            </a:pPr>
            <a:r>
              <a:rPr lang="en-US" sz="3200" b="1">
                <a:effectLst>
                  <a:outerShdw blurRad="38100" dist="38100" dir="2700000" algn="tl">
                    <a:srgbClr val="000000"/>
                  </a:outerShdw>
                </a:effectLst>
              </a:rPr>
              <a:t>Key Word = </a:t>
            </a:r>
            <a:r>
              <a:rPr lang="en-US" sz="3200" b="1">
                <a:solidFill>
                  <a:schemeClr val="tx2"/>
                </a:solidFill>
                <a:effectLst>
                  <a:outerShdw blurRad="38100" dist="38100" dir="2700000" algn="tl">
                    <a:srgbClr val="000000"/>
                  </a:outerShdw>
                </a:effectLst>
              </a:rPr>
              <a:t>STOCK</a:t>
            </a:r>
          </a:p>
        </p:txBody>
      </p:sp>
      <p:sp>
        <p:nvSpPr>
          <p:cNvPr id="29702" name="Rectangle 6"/>
          <p:cNvSpPr>
            <a:spLocks noChangeArrowheads="1"/>
          </p:cNvSpPr>
          <p:nvPr/>
        </p:nvSpPr>
        <p:spPr bwMode="auto">
          <a:xfrm>
            <a:off x="1143000" y="1447800"/>
            <a:ext cx="8001000" cy="1828800"/>
          </a:xfrm>
          <a:prstGeom prst="rect">
            <a:avLst/>
          </a:prstGeom>
          <a:noFill/>
          <a:ln w="12700" cap="sq">
            <a:noFill/>
            <a:miter lim="800000"/>
            <a:headEnd type="none" w="sm" len="sm"/>
            <a:tailEnd type="none" w="sm" len="sm"/>
          </a:ln>
          <a:effectLst/>
        </p:spPr>
        <p:txBody>
          <a:bodyPr/>
          <a:lstStyle/>
          <a:p>
            <a:pPr marL="342900" indent="-342900" algn="l">
              <a:spcBef>
                <a:spcPct val="20000"/>
              </a:spcBef>
              <a:buClr>
                <a:schemeClr val="tx2"/>
              </a:buClr>
              <a:buSzPct val="90000"/>
            </a:pPr>
            <a:r>
              <a:rPr lang="en-US" sz="3200" b="1">
                <a:effectLst>
                  <a:outerShdw blurRad="38100" dist="38100" dir="2700000" algn="tl">
                    <a:srgbClr val="000000"/>
                  </a:outerShdw>
                </a:effectLst>
              </a:rPr>
              <a:t>The ciphertext is obtained by changing the column of the plaintext according to the alphabetic order of the letters of a key word.</a:t>
            </a:r>
          </a:p>
        </p:txBody>
      </p:sp>
      <p:sp>
        <p:nvSpPr>
          <p:cNvPr id="29703" name="Text Box 7"/>
          <p:cNvSpPr txBox="1">
            <a:spLocks noChangeArrowheads="1"/>
          </p:cNvSpPr>
          <p:nvPr/>
        </p:nvSpPr>
        <p:spPr bwMode="auto">
          <a:xfrm>
            <a:off x="1143000" y="3429000"/>
            <a:ext cx="7353300" cy="1066800"/>
          </a:xfrm>
          <a:prstGeom prst="rect">
            <a:avLst/>
          </a:prstGeom>
          <a:noFill/>
          <a:ln w="12700" cap="sq">
            <a:noFill/>
            <a:miter lim="800000"/>
            <a:headEnd type="none" w="sm" len="sm"/>
            <a:tailEnd type="none" w="sm" len="sm"/>
          </a:ln>
          <a:effectLst/>
        </p:spPr>
        <p:txBody>
          <a:bodyPr>
            <a:spAutoFit/>
          </a:bodyPr>
          <a:lstStyle/>
          <a:p>
            <a:pPr algn="l">
              <a:spcBef>
                <a:spcPct val="50000"/>
              </a:spcBef>
            </a:pPr>
            <a:r>
              <a:rPr lang="en-US" sz="3200" b="1">
                <a:effectLst>
                  <a:outerShdw blurRad="38100" dist="38100" dir="2700000" algn="tl">
                    <a:srgbClr val="000000"/>
                  </a:outerShdw>
                </a:effectLst>
              </a:rPr>
              <a:t>Plaintext=</a:t>
            </a:r>
            <a:r>
              <a:rPr lang="en-US" sz="3200" b="1">
                <a:solidFill>
                  <a:schemeClr val="accent1"/>
                </a:solidFill>
                <a:effectLst>
                  <a:outerShdw blurRad="38100" dist="38100" dir="2700000" algn="tl">
                    <a:srgbClr val="000000"/>
                  </a:outerShdw>
                </a:effectLst>
              </a:rPr>
              <a:t>THE MEETING HAS BEEN POSTPONED UNTIL NEXT MONTH</a:t>
            </a:r>
          </a:p>
        </p:txBody>
      </p:sp>
      <p:sp>
        <p:nvSpPr>
          <p:cNvPr id="29704" name="Rectangle 8"/>
          <p:cNvSpPr>
            <a:spLocks noChangeArrowheads="1"/>
          </p:cNvSpPr>
          <p:nvPr/>
        </p:nvSpPr>
        <p:spPr bwMode="auto">
          <a:xfrm>
            <a:off x="1219200" y="5410200"/>
            <a:ext cx="6981825" cy="762000"/>
          </a:xfrm>
          <a:prstGeom prst="rect">
            <a:avLst/>
          </a:prstGeom>
          <a:noFill/>
          <a:ln w="12700" cap="sq">
            <a:noFill/>
            <a:miter lim="800000"/>
            <a:headEnd type="none" w="sm" len="sm"/>
            <a:tailEnd type="none" w="sm" len="sm"/>
          </a:ln>
          <a:effectLst/>
        </p:spPr>
        <p:txBody>
          <a:bodyPr/>
          <a:lstStyle/>
          <a:p>
            <a:pPr marL="342900" indent="-342900" algn="l">
              <a:spcBef>
                <a:spcPct val="20000"/>
              </a:spcBef>
              <a:buClr>
                <a:schemeClr val="tx2"/>
              </a:buClr>
              <a:buSzPct val="90000"/>
            </a:pPr>
            <a:r>
              <a:rPr lang="en-US" sz="3200" b="1">
                <a:effectLst>
                  <a:outerShdw blurRad="38100" dist="38100" dir="2700000" algn="tl">
                    <a:srgbClr val="000000"/>
                  </a:outerShdw>
                </a:effectLst>
              </a:rPr>
              <a:t>S, T, O, C, K</a:t>
            </a:r>
          </a:p>
        </p:txBody>
      </p:sp>
      <p:sp>
        <p:nvSpPr>
          <p:cNvPr id="29705" name="Rectangle 9"/>
          <p:cNvSpPr>
            <a:spLocks noChangeArrowheads="1"/>
          </p:cNvSpPr>
          <p:nvPr/>
        </p:nvSpPr>
        <p:spPr bwMode="auto">
          <a:xfrm>
            <a:off x="1143000" y="6096000"/>
            <a:ext cx="6981825" cy="762000"/>
          </a:xfrm>
          <a:prstGeom prst="rect">
            <a:avLst/>
          </a:prstGeom>
          <a:noFill/>
          <a:ln w="12700" cap="sq">
            <a:noFill/>
            <a:miter lim="800000"/>
            <a:headEnd type="none" w="sm" len="sm"/>
            <a:tailEnd type="none" w="sm" len="sm"/>
          </a:ln>
          <a:effectLst/>
        </p:spPr>
        <p:txBody>
          <a:bodyPr/>
          <a:lstStyle/>
          <a:p>
            <a:pPr marL="342900" indent="-342900" algn="l">
              <a:spcBef>
                <a:spcPct val="20000"/>
              </a:spcBef>
              <a:buClr>
                <a:schemeClr val="tx2"/>
              </a:buClr>
              <a:buSzPct val="90000"/>
            </a:pPr>
            <a:r>
              <a:rPr lang="en-US" sz="3200" b="1">
                <a:effectLst>
                  <a:outerShdw blurRad="38100" dist="38100" dir="2700000" algn="tl">
                    <a:srgbClr val="000000"/>
                  </a:outerShdw>
                </a:effectLst>
              </a:rPr>
              <a:t> 4,  5,  3, 1,  2</a:t>
            </a:r>
          </a:p>
        </p:txBody>
      </p:sp>
    </p:spTree>
    <p:extLst>
      <p:ext uri="{BB962C8B-B14F-4D97-AF65-F5344CB8AC3E}">
        <p14:creationId xmlns:p14="http://schemas.microsoft.com/office/powerpoint/2010/main" val="4938091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371600" y="247650"/>
            <a:ext cx="7772400" cy="596900"/>
          </a:xfrm>
        </p:spPr>
        <p:txBody>
          <a:bodyPr/>
          <a:lstStyle/>
          <a:p>
            <a:r>
              <a:rPr lang="en-US" b="1">
                <a:effectLst>
                  <a:outerShdw blurRad="38100" dist="38100" dir="2700000" algn="tl">
                    <a:srgbClr val="000000"/>
                  </a:outerShdw>
                </a:effectLst>
              </a:rPr>
              <a:t>Encryption and Decryption</a:t>
            </a:r>
          </a:p>
        </p:txBody>
      </p:sp>
      <p:sp>
        <p:nvSpPr>
          <p:cNvPr id="28676" name="Rectangle 4"/>
          <p:cNvSpPr>
            <a:spLocks noChangeArrowheads="1"/>
          </p:cNvSpPr>
          <p:nvPr/>
        </p:nvSpPr>
        <p:spPr bwMode="auto">
          <a:xfrm>
            <a:off x="1752600" y="1339850"/>
            <a:ext cx="1846263" cy="4572000"/>
          </a:xfrm>
          <a:prstGeom prst="rect">
            <a:avLst/>
          </a:prstGeom>
          <a:noFill/>
          <a:ln w="12700" cap="sq">
            <a:noFill/>
            <a:miter lim="800000"/>
            <a:headEnd type="none" w="sm" len="sm"/>
            <a:tailEnd type="none" w="sm" len="sm"/>
          </a:ln>
          <a:effectLst/>
        </p:spPr>
        <p:txBody>
          <a:bodyPr/>
          <a:lstStyle/>
          <a:p>
            <a:pPr marL="342900" indent="-342900" algn="l">
              <a:spcBef>
                <a:spcPct val="20000"/>
              </a:spcBef>
              <a:buClr>
                <a:schemeClr val="tx2"/>
              </a:buClr>
              <a:buSzPct val="90000"/>
            </a:pPr>
            <a:r>
              <a:rPr lang="en-US" sz="2800" b="1">
                <a:effectLst>
                  <a:outerShdw blurRad="38100" dist="38100" dir="2700000" algn="tl">
                    <a:srgbClr val="000000"/>
                  </a:outerShdw>
                </a:effectLst>
              </a:rPr>
              <a:t>Plaintext</a:t>
            </a:r>
          </a:p>
          <a:p>
            <a:pPr marL="342900" indent="-342900" algn="l">
              <a:spcBef>
                <a:spcPct val="20000"/>
              </a:spcBef>
              <a:buClr>
                <a:schemeClr val="tx2"/>
              </a:buClr>
              <a:buSzPct val="90000"/>
            </a:pPr>
            <a:r>
              <a:rPr lang="en-US" sz="2800" b="1">
                <a:effectLst>
                  <a:outerShdw blurRad="38100" dist="38100" dir="2700000" algn="tl">
                    <a:srgbClr val="000000"/>
                  </a:outerShdw>
                </a:effectLst>
              </a:rPr>
              <a:t>THEME       </a:t>
            </a:r>
          </a:p>
          <a:p>
            <a:pPr marL="342900" indent="-342900" algn="l">
              <a:spcBef>
                <a:spcPct val="20000"/>
              </a:spcBef>
              <a:buClr>
                <a:schemeClr val="tx2"/>
              </a:buClr>
              <a:buSzPct val="90000"/>
            </a:pPr>
            <a:r>
              <a:rPr lang="en-US" sz="2800" b="1">
                <a:effectLst>
                  <a:outerShdw blurRad="38100" dist="38100" dir="2700000" algn="tl">
                    <a:srgbClr val="000000"/>
                  </a:outerShdw>
                </a:effectLst>
              </a:rPr>
              <a:t>ETING</a:t>
            </a:r>
          </a:p>
          <a:p>
            <a:pPr marL="342900" indent="-342900" algn="l">
              <a:spcBef>
                <a:spcPct val="20000"/>
              </a:spcBef>
              <a:buClr>
                <a:schemeClr val="tx2"/>
              </a:buClr>
              <a:buSzPct val="90000"/>
            </a:pPr>
            <a:r>
              <a:rPr lang="en-US" sz="2800" b="1">
                <a:effectLst>
                  <a:outerShdw blurRad="38100" dist="38100" dir="2700000" algn="tl">
                    <a:srgbClr val="000000"/>
                  </a:outerShdw>
                </a:effectLst>
              </a:rPr>
              <a:t>HASBE</a:t>
            </a:r>
          </a:p>
          <a:p>
            <a:pPr marL="342900" indent="-342900" algn="l">
              <a:spcBef>
                <a:spcPct val="20000"/>
              </a:spcBef>
              <a:buClr>
                <a:schemeClr val="tx2"/>
              </a:buClr>
              <a:buSzPct val="90000"/>
            </a:pPr>
            <a:r>
              <a:rPr lang="en-US" sz="2800" b="1">
                <a:effectLst>
                  <a:outerShdw blurRad="38100" dist="38100" dir="2700000" algn="tl">
                    <a:srgbClr val="000000"/>
                  </a:outerShdw>
                </a:effectLst>
              </a:rPr>
              <a:t>ENPOS</a:t>
            </a:r>
          </a:p>
          <a:p>
            <a:pPr marL="342900" indent="-342900" algn="l">
              <a:spcBef>
                <a:spcPct val="20000"/>
              </a:spcBef>
              <a:buClr>
                <a:schemeClr val="tx2"/>
              </a:buClr>
              <a:buSzPct val="90000"/>
            </a:pPr>
            <a:r>
              <a:rPr lang="en-US" sz="2800" b="1">
                <a:effectLst>
                  <a:outerShdw blurRad="38100" dist="38100" dir="2700000" algn="tl">
                    <a:srgbClr val="000000"/>
                  </a:outerShdw>
                </a:effectLst>
              </a:rPr>
              <a:t>TPONE</a:t>
            </a:r>
          </a:p>
          <a:p>
            <a:pPr marL="342900" indent="-342900" algn="l">
              <a:spcBef>
                <a:spcPct val="20000"/>
              </a:spcBef>
              <a:buClr>
                <a:schemeClr val="tx2"/>
              </a:buClr>
              <a:buSzPct val="90000"/>
            </a:pPr>
            <a:r>
              <a:rPr lang="en-US" sz="2800" b="1">
                <a:effectLst>
                  <a:outerShdw blurRad="38100" dist="38100" dir="2700000" algn="tl">
                    <a:srgbClr val="000000"/>
                  </a:outerShdw>
                </a:effectLst>
              </a:rPr>
              <a:t>DUNTI</a:t>
            </a:r>
          </a:p>
          <a:p>
            <a:pPr marL="342900" indent="-342900" algn="l">
              <a:spcBef>
                <a:spcPct val="20000"/>
              </a:spcBef>
              <a:buClr>
                <a:schemeClr val="tx2"/>
              </a:buClr>
              <a:buSzPct val="90000"/>
            </a:pPr>
            <a:r>
              <a:rPr lang="en-US" sz="2800" b="1">
                <a:effectLst>
                  <a:outerShdw blurRad="38100" dist="38100" dir="2700000" algn="tl">
                    <a:srgbClr val="000000"/>
                  </a:outerShdw>
                </a:effectLst>
              </a:rPr>
              <a:t>LNEXT</a:t>
            </a:r>
          </a:p>
          <a:p>
            <a:pPr marL="342900" indent="-342900" algn="l">
              <a:spcBef>
                <a:spcPct val="20000"/>
              </a:spcBef>
              <a:buClr>
                <a:schemeClr val="tx2"/>
              </a:buClr>
              <a:buSzPct val="90000"/>
            </a:pPr>
            <a:r>
              <a:rPr lang="en-US" sz="2800" b="1">
                <a:effectLst>
                  <a:outerShdw blurRad="38100" dist="38100" dir="2700000" algn="tl">
                    <a:srgbClr val="000000"/>
                  </a:outerShdw>
                </a:effectLst>
              </a:rPr>
              <a:t>MONTH</a:t>
            </a:r>
          </a:p>
        </p:txBody>
      </p:sp>
      <p:sp>
        <p:nvSpPr>
          <p:cNvPr id="28677" name="Rectangle 5"/>
          <p:cNvSpPr>
            <a:spLocks noChangeArrowheads="1"/>
          </p:cNvSpPr>
          <p:nvPr/>
        </p:nvSpPr>
        <p:spPr bwMode="auto">
          <a:xfrm>
            <a:off x="3424238" y="1308100"/>
            <a:ext cx="1985962" cy="4679950"/>
          </a:xfrm>
          <a:prstGeom prst="rect">
            <a:avLst/>
          </a:prstGeom>
          <a:noFill/>
          <a:ln w="12700" cap="sq">
            <a:noFill/>
            <a:miter lim="800000"/>
            <a:headEnd type="none" w="sm" len="sm"/>
            <a:tailEnd type="none" w="sm" len="sm"/>
          </a:ln>
          <a:effectLst/>
        </p:spPr>
        <p:txBody>
          <a:bodyPr/>
          <a:lstStyle/>
          <a:p>
            <a:pPr marL="342900" indent="-342900" algn="l">
              <a:spcBef>
                <a:spcPct val="20000"/>
              </a:spcBef>
              <a:buClr>
                <a:schemeClr val="tx2"/>
              </a:buClr>
              <a:buSzPct val="90000"/>
            </a:pPr>
            <a:r>
              <a:rPr lang="en-US" sz="2800" b="1" dirty="0">
                <a:solidFill>
                  <a:srgbClr val="CCCC00"/>
                </a:solidFill>
                <a:effectLst>
                  <a:outerShdw blurRad="38100" dist="38100" dir="2700000" algn="tl">
                    <a:srgbClr val="000000"/>
                  </a:outerShdw>
                </a:effectLst>
              </a:rPr>
              <a:t>1  2  3  4  5</a:t>
            </a:r>
          </a:p>
          <a:p>
            <a:pPr marL="342900" indent="-342900" algn="l">
              <a:spcBef>
                <a:spcPct val="20000"/>
              </a:spcBef>
              <a:buClr>
                <a:schemeClr val="tx2"/>
              </a:buClr>
              <a:buSzPct val="90000"/>
            </a:pPr>
            <a:r>
              <a:rPr lang="en-US" sz="2800" b="1" dirty="0">
                <a:solidFill>
                  <a:srgbClr val="CCCC00"/>
                </a:solidFill>
                <a:effectLst>
                  <a:outerShdw blurRad="38100" dist="38100" dir="2700000" algn="tl">
                    <a:srgbClr val="000000"/>
                  </a:outerShdw>
                </a:effectLst>
              </a:rPr>
              <a:t>T H E M E</a:t>
            </a:r>
          </a:p>
          <a:p>
            <a:pPr marL="342900" indent="-342900" algn="l">
              <a:spcBef>
                <a:spcPct val="20000"/>
              </a:spcBef>
              <a:buClr>
                <a:schemeClr val="tx2"/>
              </a:buClr>
              <a:buSzPct val="90000"/>
            </a:pPr>
            <a:r>
              <a:rPr lang="en-US" sz="2800" b="1" dirty="0">
                <a:solidFill>
                  <a:srgbClr val="CCCC00"/>
                </a:solidFill>
                <a:effectLst>
                  <a:outerShdw blurRad="38100" dist="38100" dir="2700000" algn="tl">
                    <a:srgbClr val="000000"/>
                  </a:outerShdw>
                </a:effectLst>
              </a:rPr>
              <a:t>E T  I  N G</a:t>
            </a:r>
          </a:p>
          <a:p>
            <a:pPr marL="342900" indent="-342900" algn="l">
              <a:spcBef>
                <a:spcPct val="20000"/>
              </a:spcBef>
              <a:buClr>
                <a:schemeClr val="tx2"/>
              </a:buClr>
              <a:buSzPct val="90000"/>
            </a:pPr>
            <a:r>
              <a:rPr lang="en-US" sz="2800" b="1" dirty="0">
                <a:solidFill>
                  <a:srgbClr val="CCCC00"/>
                </a:solidFill>
                <a:effectLst>
                  <a:outerShdw blurRad="38100" dist="38100" dir="2700000" algn="tl">
                    <a:srgbClr val="000000"/>
                  </a:outerShdw>
                </a:effectLst>
              </a:rPr>
              <a:t>H A S  B E</a:t>
            </a:r>
          </a:p>
          <a:p>
            <a:pPr marL="342900" indent="-342900" algn="l">
              <a:spcBef>
                <a:spcPct val="20000"/>
              </a:spcBef>
              <a:buClr>
                <a:schemeClr val="tx2"/>
              </a:buClr>
              <a:buSzPct val="90000"/>
            </a:pPr>
            <a:r>
              <a:rPr lang="en-US" sz="2800" b="1" dirty="0">
                <a:solidFill>
                  <a:srgbClr val="CCCC00"/>
                </a:solidFill>
                <a:effectLst>
                  <a:outerShdw blurRad="38100" dist="38100" dir="2700000" algn="tl">
                    <a:srgbClr val="000000"/>
                  </a:outerShdw>
                </a:effectLst>
              </a:rPr>
              <a:t>E  N P O S</a:t>
            </a:r>
          </a:p>
          <a:p>
            <a:pPr marL="342900" indent="-342900" algn="l">
              <a:spcBef>
                <a:spcPct val="20000"/>
              </a:spcBef>
              <a:buClr>
                <a:schemeClr val="tx2"/>
              </a:buClr>
              <a:buSzPct val="90000"/>
            </a:pPr>
            <a:r>
              <a:rPr lang="en-US" sz="2800" b="1" dirty="0">
                <a:solidFill>
                  <a:srgbClr val="CCCC00"/>
                </a:solidFill>
                <a:effectLst>
                  <a:outerShdw blurRad="38100" dist="38100" dir="2700000" algn="tl">
                    <a:srgbClr val="000000"/>
                  </a:outerShdw>
                </a:effectLst>
              </a:rPr>
              <a:t>T  P O N E</a:t>
            </a:r>
          </a:p>
          <a:p>
            <a:pPr marL="342900" indent="-342900" algn="l">
              <a:spcBef>
                <a:spcPct val="20000"/>
              </a:spcBef>
              <a:buClr>
                <a:schemeClr val="tx2"/>
              </a:buClr>
              <a:buSzPct val="90000"/>
            </a:pPr>
            <a:r>
              <a:rPr lang="en-US" sz="2800" b="1" dirty="0">
                <a:solidFill>
                  <a:srgbClr val="CCCC00"/>
                </a:solidFill>
                <a:effectLst>
                  <a:outerShdw blurRad="38100" dist="38100" dir="2700000" algn="tl">
                    <a:srgbClr val="000000"/>
                  </a:outerShdw>
                </a:effectLst>
              </a:rPr>
              <a:t>D  U N T I</a:t>
            </a:r>
          </a:p>
          <a:p>
            <a:pPr marL="342900" indent="-342900" algn="l">
              <a:spcBef>
                <a:spcPct val="20000"/>
              </a:spcBef>
              <a:buClr>
                <a:schemeClr val="tx2"/>
              </a:buClr>
              <a:buSzPct val="90000"/>
            </a:pPr>
            <a:r>
              <a:rPr lang="en-US" sz="2800" b="1" dirty="0">
                <a:solidFill>
                  <a:srgbClr val="CCCC00"/>
                </a:solidFill>
                <a:effectLst>
                  <a:outerShdw blurRad="38100" dist="38100" dir="2700000" algn="tl">
                    <a:srgbClr val="000000"/>
                  </a:outerShdw>
                </a:effectLst>
              </a:rPr>
              <a:t>L  N E X T</a:t>
            </a:r>
          </a:p>
          <a:p>
            <a:pPr marL="342900" indent="-342900" algn="l">
              <a:spcBef>
                <a:spcPct val="20000"/>
              </a:spcBef>
              <a:buClr>
                <a:schemeClr val="tx2"/>
              </a:buClr>
              <a:buSzPct val="90000"/>
            </a:pPr>
            <a:r>
              <a:rPr lang="en-US" sz="2800" b="1" dirty="0">
                <a:solidFill>
                  <a:srgbClr val="CCCC00"/>
                </a:solidFill>
                <a:effectLst>
                  <a:outerShdw blurRad="38100" dist="38100" dir="2700000" algn="tl">
                    <a:srgbClr val="000000"/>
                  </a:outerShdw>
                </a:effectLst>
              </a:rPr>
              <a:t>M O N T H</a:t>
            </a:r>
          </a:p>
        </p:txBody>
      </p:sp>
      <p:sp>
        <p:nvSpPr>
          <p:cNvPr id="28678" name="Rectangle 6"/>
          <p:cNvSpPr>
            <a:spLocks noChangeArrowheads="1"/>
          </p:cNvSpPr>
          <p:nvPr/>
        </p:nvSpPr>
        <p:spPr bwMode="auto">
          <a:xfrm>
            <a:off x="5562600" y="1263650"/>
            <a:ext cx="1981200" cy="4648200"/>
          </a:xfrm>
          <a:prstGeom prst="rect">
            <a:avLst/>
          </a:prstGeom>
          <a:noFill/>
          <a:ln w="12700" cap="sq">
            <a:noFill/>
            <a:miter lim="800000"/>
            <a:headEnd type="none" w="sm" len="sm"/>
            <a:tailEnd type="none" w="sm" len="sm"/>
          </a:ln>
          <a:effectLst/>
        </p:spPr>
        <p:txBody>
          <a:bodyPr/>
          <a:lstStyle/>
          <a:p>
            <a:pPr marL="342900" indent="-342900" algn="l">
              <a:spcBef>
                <a:spcPct val="20000"/>
              </a:spcBef>
              <a:buClr>
                <a:schemeClr val="tx2"/>
              </a:buClr>
              <a:buSzPct val="90000"/>
            </a:pPr>
            <a:r>
              <a:rPr lang="en-US" sz="2800" b="1" dirty="0">
                <a:solidFill>
                  <a:srgbClr val="FF3300"/>
                </a:solidFill>
                <a:effectLst>
                  <a:outerShdw blurRad="38100" dist="38100" dir="2700000" algn="tl">
                    <a:srgbClr val="000000"/>
                  </a:outerShdw>
                </a:effectLst>
              </a:rPr>
              <a:t>4   5  3  1  2</a:t>
            </a:r>
          </a:p>
          <a:p>
            <a:pPr marL="342900" indent="-342900">
              <a:spcBef>
                <a:spcPct val="20000"/>
              </a:spcBef>
              <a:buClr>
                <a:schemeClr val="tx2"/>
              </a:buClr>
              <a:buSzPct val="90000"/>
            </a:pPr>
            <a:r>
              <a:rPr lang="en-US" sz="2800" b="1" dirty="0">
                <a:solidFill>
                  <a:srgbClr val="FF0000"/>
                </a:solidFill>
                <a:effectLst>
                  <a:outerShdw blurRad="38100" dist="38100" dir="2700000" algn="tl">
                    <a:srgbClr val="000000"/>
                  </a:outerShdw>
                </a:effectLst>
              </a:rPr>
              <a:t>T H E M E</a:t>
            </a:r>
          </a:p>
          <a:p>
            <a:pPr marL="342900" indent="-342900">
              <a:spcBef>
                <a:spcPct val="20000"/>
              </a:spcBef>
              <a:buClr>
                <a:schemeClr val="tx2"/>
              </a:buClr>
              <a:buSzPct val="90000"/>
            </a:pPr>
            <a:r>
              <a:rPr lang="en-US" sz="2800" b="1" dirty="0">
                <a:solidFill>
                  <a:srgbClr val="FF0000"/>
                </a:solidFill>
                <a:effectLst>
                  <a:outerShdw blurRad="38100" dist="38100" dir="2700000" algn="tl">
                    <a:srgbClr val="000000"/>
                  </a:outerShdw>
                </a:effectLst>
              </a:rPr>
              <a:t>E T  I  N G</a:t>
            </a:r>
          </a:p>
          <a:p>
            <a:pPr marL="342900" indent="-342900">
              <a:spcBef>
                <a:spcPct val="20000"/>
              </a:spcBef>
              <a:buClr>
                <a:schemeClr val="tx2"/>
              </a:buClr>
              <a:buSzPct val="90000"/>
            </a:pPr>
            <a:r>
              <a:rPr lang="en-US" sz="2800" b="1" dirty="0">
                <a:solidFill>
                  <a:srgbClr val="FF0000"/>
                </a:solidFill>
                <a:effectLst>
                  <a:outerShdw blurRad="38100" dist="38100" dir="2700000" algn="tl">
                    <a:srgbClr val="000000"/>
                  </a:outerShdw>
                </a:effectLst>
              </a:rPr>
              <a:t>H A S  B E</a:t>
            </a:r>
          </a:p>
          <a:p>
            <a:pPr marL="342900" indent="-342900">
              <a:spcBef>
                <a:spcPct val="20000"/>
              </a:spcBef>
              <a:buClr>
                <a:schemeClr val="tx2"/>
              </a:buClr>
              <a:buSzPct val="90000"/>
            </a:pPr>
            <a:r>
              <a:rPr lang="en-US" sz="2800" b="1" dirty="0">
                <a:solidFill>
                  <a:srgbClr val="FF0000"/>
                </a:solidFill>
                <a:effectLst>
                  <a:outerShdw blurRad="38100" dist="38100" dir="2700000" algn="tl">
                    <a:srgbClr val="000000"/>
                  </a:outerShdw>
                </a:effectLst>
              </a:rPr>
              <a:t>E  N P O S</a:t>
            </a:r>
          </a:p>
          <a:p>
            <a:pPr marL="342900" indent="-342900">
              <a:spcBef>
                <a:spcPct val="20000"/>
              </a:spcBef>
              <a:buClr>
                <a:schemeClr val="tx2"/>
              </a:buClr>
              <a:buSzPct val="90000"/>
            </a:pPr>
            <a:r>
              <a:rPr lang="en-US" sz="2800" b="1" dirty="0">
                <a:solidFill>
                  <a:srgbClr val="FF0000"/>
                </a:solidFill>
                <a:effectLst>
                  <a:outerShdw blurRad="38100" dist="38100" dir="2700000" algn="tl">
                    <a:srgbClr val="000000"/>
                  </a:outerShdw>
                </a:effectLst>
              </a:rPr>
              <a:t>T  P O N E</a:t>
            </a:r>
          </a:p>
          <a:p>
            <a:pPr marL="342900" indent="-342900">
              <a:spcBef>
                <a:spcPct val="20000"/>
              </a:spcBef>
              <a:buClr>
                <a:schemeClr val="tx2"/>
              </a:buClr>
              <a:buSzPct val="90000"/>
            </a:pPr>
            <a:r>
              <a:rPr lang="en-US" sz="2800" b="1" dirty="0">
                <a:solidFill>
                  <a:srgbClr val="FF0000"/>
                </a:solidFill>
                <a:effectLst>
                  <a:outerShdw blurRad="38100" dist="38100" dir="2700000" algn="tl">
                    <a:srgbClr val="000000"/>
                  </a:outerShdw>
                </a:effectLst>
              </a:rPr>
              <a:t>D  U N T I</a:t>
            </a:r>
          </a:p>
          <a:p>
            <a:pPr marL="342900" indent="-342900">
              <a:spcBef>
                <a:spcPct val="20000"/>
              </a:spcBef>
              <a:buClr>
                <a:schemeClr val="tx2"/>
              </a:buClr>
              <a:buSzPct val="90000"/>
            </a:pPr>
            <a:r>
              <a:rPr lang="en-US" sz="2800" b="1" dirty="0">
                <a:solidFill>
                  <a:srgbClr val="FF0000"/>
                </a:solidFill>
                <a:effectLst>
                  <a:outerShdw blurRad="38100" dist="38100" dir="2700000" algn="tl">
                    <a:srgbClr val="000000"/>
                  </a:outerShdw>
                </a:effectLst>
              </a:rPr>
              <a:t>L  N E X T</a:t>
            </a:r>
          </a:p>
          <a:p>
            <a:pPr marL="342900" indent="-342900">
              <a:spcBef>
                <a:spcPct val="20000"/>
              </a:spcBef>
              <a:buClr>
                <a:schemeClr val="tx2"/>
              </a:buClr>
              <a:buSzPct val="90000"/>
            </a:pPr>
            <a:r>
              <a:rPr lang="en-US" sz="2800" b="1" dirty="0">
                <a:solidFill>
                  <a:srgbClr val="FF0000"/>
                </a:solidFill>
                <a:effectLst>
                  <a:outerShdw blurRad="38100" dist="38100" dir="2700000" algn="tl">
                    <a:srgbClr val="000000"/>
                  </a:outerShdw>
                </a:effectLst>
              </a:rPr>
              <a:t>M O N T H</a:t>
            </a:r>
          </a:p>
        </p:txBody>
      </p:sp>
      <p:sp>
        <p:nvSpPr>
          <p:cNvPr id="28684" name="Line 12"/>
          <p:cNvSpPr>
            <a:spLocks noChangeShapeType="1"/>
          </p:cNvSpPr>
          <p:nvPr/>
        </p:nvSpPr>
        <p:spPr bwMode="auto">
          <a:xfrm>
            <a:off x="1828800" y="1873250"/>
            <a:ext cx="5791200" cy="0"/>
          </a:xfrm>
          <a:prstGeom prst="line">
            <a:avLst/>
          </a:prstGeom>
          <a:noFill/>
          <a:ln w="38100" cap="sq">
            <a:solidFill>
              <a:schemeClr val="tx1"/>
            </a:solidFill>
            <a:round/>
            <a:headEnd type="none" w="sm" len="sm"/>
            <a:tailEnd type="none" w="sm" len="sm"/>
          </a:ln>
          <a:effectLst/>
        </p:spPr>
        <p:txBody>
          <a:bodyPr wrap="none"/>
          <a:lstStyle/>
          <a:p>
            <a:endParaRPr lang="en-US"/>
          </a:p>
        </p:txBody>
      </p:sp>
      <p:sp>
        <p:nvSpPr>
          <p:cNvPr id="28685" name="Line 13"/>
          <p:cNvSpPr>
            <a:spLocks noChangeShapeType="1"/>
          </p:cNvSpPr>
          <p:nvPr/>
        </p:nvSpPr>
        <p:spPr bwMode="auto">
          <a:xfrm>
            <a:off x="3352800" y="1035050"/>
            <a:ext cx="0" cy="4876800"/>
          </a:xfrm>
          <a:prstGeom prst="line">
            <a:avLst/>
          </a:prstGeom>
          <a:noFill/>
          <a:ln w="12700" cap="sq">
            <a:solidFill>
              <a:schemeClr val="tx1"/>
            </a:solidFill>
            <a:round/>
            <a:headEnd type="none" w="sm" len="sm"/>
            <a:tailEnd type="none" w="sm" len="sm"/>
          </a:ln>
          <a:effectLst/>
        </p:spPr>
        <p:txBody>
          <a:bodyPr wrap="none"/>
          <a:lstStyle/>
          <a:p>
            <a:endParaRPr lang="en-US"/>
          </a:p>
        </p:txBody>
      </p:sp>
      <p:sp>
        <p:nvSpPr>
          <p:cNvPr id="28687" name="Line 15"/>
          <p:cNvSpPr>
            <a:spLocks noChangeShapeType="1"/>
          </p:cNvSpPr>
          <p:nvPr/>
        </p:nvSpPr>
        <p:spPr bwMode="auto">
          <a:xfrm>
            <a:off x="5410200" y="1035050"/>
            <a:ext cx="0" cy="4876800"/>
          </a:xfrm>
          <a:prstGeom prst="line">
            <a:avLst/>
          </a:prstGeom>
          <a:noFill/>
          <a:ln w="12700" cap="sq">
            <a:solidFill>
              <a:schemeClr val="tx1"/>
            </a:solidFill>
            <a:round/>
            <a:headEnd type="none" w="sm" len="sm"/>
            <a:tailEnd type="none" w="sm" len="sm"/>
          </a:ln>
          <a:effectLst/>
        </p:spPr>
        <p:txBody>
          <a:bodyPr wrap="none"/>
          <a:lstStyle/>
          <a:p>
            <a:endParaRPr lang="en-US"/>
          </a:p>
        </p:txBody>
      </p:sp>
      <p:sp>
        <p:nvSpPr>
          <p:cNvPr id="28688" name="Line 16"/>
          <p:cNvSpPr>
            <a:spLocks noChangeShapeType="1"/>
          </p:cNvSpPr>
          <p:nvPr/>
        </p:nvSpPr>
        <p:spPr bwMode="auto">
          <a:xfrm>
            <a:off x="7620000" y="1035050"/>
            <a:ext cx="0" cy="4876800"/>
          </a:xfrm>
          <a:prstGeom prst="line">
            <a:avLst/>
          </a:prstGeom>
          <a:noFill/>
          <a:ln w="12700" cap="sq">
            <a:solidFill>
              <a:schemeClr val="tx1"/>
            </a:solidFill>
            <a:round/>
            <a:headEnd type="none" w="sm" len="sm"/>
            <a:tailEnd type="none" w="sm" len="sm"/>
          </a:ln>
          <a:effectLst/>
        </p:spPr>
        <p:txBody>
          <a:bodyPr wrap="none"/>
          <a:lstStyle/>
          <a:p>
            <a:endParaRPr lang="en-US"/>
          </a:p>
        </p:txBody>
      </p:sp>
      <p:sp>
        <p:nvSpPr>
          <p:cNvPr id="28689" name="Text Box 17"/>
          <p:cNvSpPr txBox="1">
            <a:spLocks noChangeArrowheads="1"/>
          </p:cNvSpPr>
          <p:nvPr/>
        </p:nvSpPr>
        <p:spPr bwMode="auto">
          <a:xfrm>
            <a:off x="1143000" y="5911850"/>
            <a:ext cx="8000999" cy="954107"/>
          </a:xfrm>
          <a:prstGeom prst="rect">
            <a:avLst/>
          </a:prstGeom>
          <a:noFill/>
          <a:ln w="12700" cap="sq">
            <a:noFill/>
            <a:miter lim="800000"/>
            <a:headEnd type="none" w="sm" len="sm"/>
            <a:tailEnd type="none" w="sm" len="sm"/>
          </a:ln>
          <a:effectLst/>
        </p:spPr>
        <p:txBody>
          <a:bodyPr wrap="square">
            <a:spAutoFit/>
          </a:bodyPr>
          <a:lstStyle/>
          <a:p>
            <a:pPr>
              <a:spcBef>
                <a:spcPct val="50000"/>
              </a:spcBef>
            </a:pPr>
            <a:r>
              <a:rPr lang="en-US" sz="2800" b="1" dirty="0">
                <a:effectLst>
                  <a:outerShdw blurRad="38100" dist="38100" dir="2700000" algn="tl">
                    <a:srgbClr val="000000"/>
                  </a:outerShdw>
                </a:effectLst>
              </a:rPr>
              <a:t>Ciphertext=</a:t>
            </a:r>
            <a:r>
              <a:rPr lang="en-US" sz="2800" b="1" dirty="0">
                <a:solidFill>
                  <a:schemeClr val="accent1"/>
                </a:solidFill>
                <a:effectLst>
                  <a:outerShdw blurRad="38100" dist="38100" dir="2700000" algn="tl">
                    <a:srgbClr val="000000"/>
                  </a:outerShdw>
                </a:effectLst>
              </a:rPr>
              <a:t> MNBONTXT EGESEITH EISPONEN TEHETDLM HTANPUNO</a:t>
            </a:r>
          </a:p>
        </p:txBody>
      </p:sp>
    </p:spTree>
    <p:extLst>
      <p:ext uri="{BB962C8B-B14F-4D97-AF65-F5344CB8AC3E}">
        <p14:creationId xmlns:p14="http://schemas.microsoft.com/office/powerpoint/2010/main" val="4706770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7" name="Rectangle 3"/>
          <p:cNvSpPr>
            <a:spLocks noChangeArrowheads="1"/>
          </p:cNvSpPr>
          <p:nvPr/>
        </p:nvSpPr>
        <p:spPr bwMode="auto">
          <a:xfrm>
            <a:off x="3810000" y="381000"/>
            <a:ext cx="3200400" cy="1143000"/>
          </a:xfrm>
          <a:prstGeom prst="rect">
            <a:avLst/>
          </a:prstGeom>
          <a:noFill/>
          <a:ln w="12700" cap="sq">
            <a:noFill/>
            <a:miter lim="800000"/>
            <a:headEnd type="none" w="sm" len="sm"/>
            <a:tailEnd type="none" w="sm" len="sm"/>
          </a:ln>
          <a:effectLst/>
        </p:spPr>
        <p:txBody>
          <a:bodyPr anchor="ctr"/>
          <a:lstStyle/>
          <a:p>
            <a:pPr algn="l"/>
            <a:r>
              <a:rPr lang="en-US" sz="4400" b="1">
                <a:solidFill>
                  <a:schemeClr val="tx2"/>
                </a:solidFill>
                <a:effectLst>
                  <a:outerShdw blurRad="38100" dist="38100" dir="2700000" algn="tl">
                    <a:srgbClr val="000000"/>
                  </a:outerShdw>
                </a:effectLst>
              </a:rPr>
              <a:t>Question</a:t>
            </a:r>
          </a:p>
        </p:txBody>
      </p:sp>
      <p:pic>
        <p:nvPicPr>
          <p:cNvPr id="159748" name="Picture 4" descr="C:\WINDOWS\Application Data\Microsoft\Media Catalog\Downloaded Clips\cl82\j0326228.wmf"/>
          <p:cNvPicPr>
            <a:picLocks noChangeAspect="1" noChangeArrowheads="1"/>
          </p:cNvPicPr>
          <p:nvPr/>
        </p:nvPicPr>
        <p:blipFill>
          <a:blip r:embed="rId3" cstate="print"/>
          <a:srcRect/>
          <a:stretch>
            <a:fillRect/>
          </a:stretch>
        </p:blipFill>
        <p:spPr bwMode="auto">
          <a:xfrm>
            <a:off x="7488238" y="0"/>
            <a:ext cx="1655762" cy="1844675"/>
          </a:xfrm>
          <a:prstGeom prst="rect">
            <a:avLst/>
          </a:prstGeom>
          <a:noFill/>
        </p:spPr>
      </p:pic>
      <p:pic>
        <p:nvPicPr>
          <p:cNvPr id="159749" name="Picture 5" descr="C:\WINDOWS\Application Data\Microsoft\Media Catalog\Downloaded Clips\cl82\j0326226.wmf"/>
          <p:cNvPicPr>
            <a:picLocks noChangeAspect="1" noChangeArrowheads="1"/>
          </p:cNvPicPr>
          <p:nvPr/>
        </p:nvPicPr>
        <p:blipFill>
          <a:blip r:embed="rId4" cstate="print"/>
          <a:srcRect/>
          <a:stretch>
            <a:fillRect/>
          </a:stretch>
        </p:blipFill>
        <p:spPr bwMode="auto">
          <a:xfrm>
            <a:off x="1143000" y="0"/>
            <a:ext cx="1689100" cy="1887538"/>
          </a:xfrm>
          <a:prstGeom prst="rect">
            <a:avLst/>
          </a:prstGeom>
          <a:noFill/>
        </p:spPr>
      </p:pic>
      <p:sp>
        <p:nvSpPr>
          <p:cNvPr id="159750" name="Rectangle 6"/>
          <p:cNvSpPr>
            <a:spLocks noChangeArrowheads="1"/>
          </p:cNvSpPr>
          <p:nvPr/>
        </p:nvSpPr>
        <p:spPr bwMode="auto">
          <a:xfrm>
            <a:off x="1066800" y="2057400"/>
            <a:ext cx="8077200" cy="4114800"/>
          </a:xfrm>
          <a:prstGeom prst="rect">
            <a:avLst/>
          </a:prstGeom>
          <a:noFill/>
          <a:ln w="12700" cap="sq">
            <a:noFill/>
            <a:miter lim="800000"/>
            <a:headEnd type="none" w="sm" len="sm"/>
            <a:tailEnd type="none" w="sm" len="sm"/>
          </a:ln>
          <a:effectLst/>
        </p:spPr>
        <p:txBody>
          <a:bodyPr/>
          <a:lstStyle/>
          <a:p>
            <a:pPr algn="l">
              <a:spcBef>
                <a:spcPct val="20000"/>
              </a:spcBef>
              <a:buClr>
                <a:schemeClr val="tx2"/>
              </a:buClr>
              <a:buSzPct val="90000"/>
            </a:pPr>
            <a:r>
              <a:rPr lang="en-US" sz="3200" b="1" dirty="0">
                <a:solidFill>
                  <a:srgbClr val="99FF33"/>
                </a:solidFill>
                <a:effectLst>
                  <a:outerShdw blurRad="38100" dist="38100" dir="2700000" algn="tl">
                    <a:srgbClr val="000000"/>
                  </a:outerShdw>
                </a:effectLst>
              </a:rPr>
              <a:t>Is it difficult to decrypt the transposition cipher with key word without knowing key word? How to decrypt the following  </a:t>
            </a:r>
            <a:r>
              <a:rPr lang="en-US" sz="3200" b="1" dirty="0" err="1">
                <a:solidFill>
                  <a:srgbClr val="99FF33"/>
                </a:solidFill>
                <a:effectLst>
                  <a:outerShdw blurRad="38100" dist="38100" dir="2700000" algn="tl">
                    <a:srgbClr val="000000"/>
                  </a:outerShdw>
                </a:effectLst>
              </a:rPr>
              <a:t>ciphertext</a:t>
            </a:r>
            <a:r>
              <a:rPr lang="en-US" sz="3200" b="1" dirty="0">
                <a:solidFill>
                  <a:srgbClr val="99FF33"/>
                </a:solidFill>
                <a:effectLst>
                  <a:outerShdw blurRad="38100" dist="38100" dir="2700000" algn="tl">
                    <a:srgbClr val="000000"/>
                  </a:outerShdw>
                </a:effectLst>
              </a:rPr>
              <a:t> obtained by a transposition cipher with 4 letters key word?</a:t>
            </a:r>
          </a:p>
          <a:p>
            <a:pPr marL="342900" indent="-342900" algn="l">
              <a:spcBef>
                <a:spcPct val="20000"/>
              </a:spcBef>
              <a:buClr>
                <a:schemeClr val="tx2"/>
              </a:buClr>
              <a:buSzPct val="90000"/>
            </a:pPr>
            <a:endParaRPr lang="en-US" sz="1000" b="1" dirty="0">
              <a:solidFill>
                <a:srgbClr val="99FF33"/>
              </a:solidFill>
              <a:effectLst>
                <a:outerShdw blurRad="38100" dist="38100" dir="2700000" algn="tl">
                  <a:srgbClr val="000000"/>
                </a:outerShdw>
              </a:effectLst>
            </a:endParaRPr>
          </a:p>
          <a:p>
            <a:pPr marL="342900" indent="-342900">
              <a:spcBef>
                <a:spcPct val="20000"/>
              </a:spcBef>
              <a:buClr>
                <a:schemeClr val="tx2"/>
              </a:buClr>
              <a:buSzPct val="90000"/>
            </a:pPr>
            <a:r>
              <a:rPr lang="en-US" sz="3200" b="1" dirty="0" err="1">
                <a:solidFill>
                  <a:srgbClr val="99FF33"/>
                </a:solidFill>
                <a:effectLst>
                  <a:outerShdw blurRad="38100" dist="38100" dir="2700000" algn="tl">
                    <a:srgbClr val="000000"/>
                  </a:outerShdw>
                </a:effectLst>
                <a:cs typeface="Times New Roman" charset="0"/>
              </a:rPr>
              <a:t>iukrfneul</a:t>
            </a:r>
            <a:r>
              <a:rPr lang="en-US" sz="3200" b="1" dirty="0">
                <a:solidFill>
                  <a:srgbClr val="99FF33"/>
                </a:solidFill>
                <a:effectLst>
                  <a:outerShdw blurRad="38100" dist="38100" dir="2700000" algn="tl">
                    <a:srgbClr val="000000"/>
                  </a:outerShdw>
                </a:effectLst>
                <a:cs typeface="Times New Roman" charset="0"/>
              </a:rPr>
              <a:t> </a:t>
            </a:r>
            <a:r>
              <a:rPr lang="en-US" sz="3200" b="1" dirty="0" err="1">
                <a:solidFill>
                  <a:srgbClr val="99FF33"/>
                </a:solidFill>
                <a:effectLst>
                  <a:outerShdw blurRad="38100" dist="38100" dir="2700000" algn="tl">
                    <a:srgbClr val="000000"/>
                  </a:outerShdw>
                </a:effectLst>
                <a:cs typeface="Times New Roman" charset="0"/>
              </a:rPr>
              <a:t>yooeolysu</a:t>
            </a:r>
            <a:r>
              <a:rPr lang="en-US" sz="3200" b="1" dirty="0">
                <a:solidFill>
                  <a:srgbClr val="99FF33"/>
                </a:solidFill>
                <a:effectLst>
                  <a:outerShdw blurRad="38100" dist="38100" dir="2700000" algn="tl">
                    <a:srgbClr val="000000"/>
                  </a:outerShdw>
                </a:effectLst>
                <a:cs typeface="Times New Roman" charset="0"/>
              </a:rPr>
              <a:t> </a:t>
            </a:r>
            <a:r>
              <a:rPr lang="en-US" sz="3200" b="1" dirty="0" err="1">
                <a:solidFill>
                  <a:srgbClr val="99FF33"/>
                </a:solidFill>
                <a:effectLst>
                  <a:outerShdw blurRad="38100" dist="38100" dir="2700000" algn="tl">
                    <a:srgbClr val="000000"/>
                  </a:outerShdw>
                </a:effectLst>
                <a:cs typeface="Times New Roman" charset="0"/>
              </a:rPr>
              <a:t>fwysdsprf</a:t>
            </a:r>
            <a:r>
              <a:rPr lang="en-US" sz="3200" b="1" dirty="0">
                <a:solidFill>
                  <a:srgbClr val="99FF33"/>
                </a:solidFill>
                <a:effectLst>
                  <a:outerShdw blurRad="38100" dist="38100" dir="2700000" algn="tl">
                    <a:srgbClr val="000000"/>
                  </a:outerShdw>
                </a:effectLst>
                <a:cs typeface="Times New Roman" charset="0"/>
              </a:rPr>
              <a:t> </a:t>
            </a:r>
            <a:r>
              <a:rPr lang="en-US" sz="3200" b="1" dirty="0" err="1">
                <a:solidFill>
                  <a:srgbClr val="99FF33"/>
                </a:solidFill>
                <a:effectLst>
                  <a:outerShdw blurRad="38100" dist="38100" dir="2700000" algn="tl">
                    <a:srgbClr val="000000"/>
                  </a:outerShdw>
                </a:effectLst>
                <a:cs typeface="Times New Roman" charset="0"/>
              </a:rPr>
              <a:t>orulweoep</a:t>
            </a:r>
            <a:endParaRPr lang="en-US" sz="3200" b="1" dirty="0">
              <a:solidFill>
                <a:srgbClr val="99FF33"/>
              </a:solidFill>
              <a:effectLst>
                <a:outerShdw blurRad="38100" dist="38100" dir="2700000" algn="tl">
                  <a:srgbClr val="000000"/>
                </a:outerShdw>
              </a:effectLst>
              <a:cs typeface="Times New Roman" charset="0"/>
            </a:endParaRPr>
          </a:p>
        </p:txBody>
      </p:sp>
      <p:pic>
        <p:nvPicPr>
          <p:cNvPr id="159751" name="Picture 7" descr="C:\WINDOWS\Application Data\Microsoft\Media Catalog\Downloaded Clips\cl45\j0172629.gif"/>
          <p:cNvPicPr>
            <a:picLocks noChangeAspect="1" noChangeArrowheads="1" noCrop="1"/>
          </p:cNvPicPr>
          <p:nvPr/>
        </p:nvPicPr>
        <p:blipFill>
          <a:blip r:embed="rId5" cstate="print"/>
          <a:srcRect/>
          <a:stretch>
            <a:fillRect/>
          </a:stretch>
        </p:blipFill>
        <p:spPr bwMode="auto">
          <a:xfrm>
            <a:off x="8183563" y="5761038"/>
            <a:ext cx="960437" cy="1096962"/>
          </a:xfrm>
          <a:prstGeom prst="rect">
            <a:avLst/>
          </a:prstGeom>
          <a:noFill/>
        </p:spPr>
      </p:pic>
    </p:spTree>
    <p:extLst>
      <p:ext uri="{BB962C8B-B14F-4D97-AF65-F5344CB8AC3E}">
        <p14:creationId xmlns:p14="http://schemas.microsoft.com/office/powerpoint/2010/main" val="34884110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6" name="Rectangle 4"/>
          <p:cNvSpPr>
            <a:spLocks noChangeArrowheads="1"/>
          </p:cNvSpPr>
          <p:nvPr/>
        </p:nvSpPr>
        <p:spPr bwMode="auto">
          <a:xfrm>
            <a:off x="4038600" y="609600"/>
            <a:ext cx="2438400" cy="838200"/>
          </a:xfrm>
          <a:prstGeom prst="rect">
            <a:avLst/>
          </a:prstGeom>
          <a:noFill/>
          <a:ln w="12700" cap="sq">
            <a:noFill/>
            <a:miter lim="800000"/>
            <a:headEnd type="none" w="sm" len="sm"/>
            <a:tailEnd type="none" w="sm" len="sm"/>
          </a:ln>
          <a:effectLst/>
        </p:spPr>
        <p:txBody>
          <a:bodyPr anchor="ctr"/>
          <a:lstStyle/>
          <a:p>
            <a:pPr algn="l"/>
            <a:r>
              <a:rPr lang="en-US" sz="4400" b="1">
                <a:solidFill>
                  <a:schemeClr val="tx2"/>
                </a:solidFill>
                <a:effectLst>
                  <a:outerShdw blurRad="38100" dist="38100" dir="2700000" algn="tl">
                    <a:srgbClr val="000000"/>
                  </a:outerShdw>
                </a:effectLst>
              </a:rPr>
              <a:t>Answer</a:t>
            </a:r>
          </a:p>
        </p:txBody>
      </p:sp>
      <p:pic>
        <p:nvPicPr>
          <p:cNvPr id="161798" name="Picture 6" descr="C:\WINDOWS\Application Data\Microsoft\Media Catalog\Downloaded Clips\cl20\j0082283.wmf"/>
          <p:cNvPicPr>
            <a:picLocks noChangeAspect="1" noChangeArrowheads="1"/>
          </p:cNvPicPr>
          <p:nvPr/>
        </p:nvPicPr>
        <p:blipFill>
          <a:blip r:embed="rId3" cstate="print"/>
          <a:srcRect/>
          <a:stretch>
            <a:fillRect/>
          </a:stretch>
        </p:blipFill>
        <p:spPr bwMode="auto">
          <a:xfrm>
            <a:off x="1143000" y="0"/>
            <a:ext cx="1803400" cy="1862138"/>
          </a:xfrm>
          <a:prstGeom prst="rect">
            <a:avLst/>
          </a:prstGeom>
          <a:noFill/>
        </p:spPr>
      </p:pic>
      <p:sp>
        <p:nvSpPr>
          <p:cNvPr id="161806" name="Text Box 14"/>
          <p:cNvSpPr txBox="1">
            <a:spLocks noChangeArrowheads="1"/>
          </p:cNvSpPr>
          <p:nvPr/>
        </p:nvSpPr>
        <p:spPr bwMode="auto">
          <a:xfrm>
            <a:off x="1828800" y="2057400"/>
            <a:ext cx="2590800" cy="4511675"/>
          </a:xfrm>
          <a:prstGeom prst="rect">
            <a:avLst/>
          </a:prstGeom>
          <a:noFill/>
          <a:ln w="9525">
            <a:noFill/>
            <a:miter lim="800000"/>
            <a:headEnd/>
            <a:tailEnd/>
          </a:ln>
          <a:effectLst/>
        </p:spPr>
        <p:txBody>
          <a:bodyPr>
            <a:spAutoFit/>
          </a:bodyPr>
          <a:lstStyle/>
          <a:p>
            <a:pPr marL="457200" indent="-457200" algn="l">
              <a:spcBef>
                <a:spcPct val="50000"/>
              </a:spcBef>
            </a:pPr>
            <a:r>
              <a:rPr lang="en-US" sz="2000" u="sng" dirty="0"/>
              <a:t>1 3  2  4</a:t>
            </a:r>
            <a:r>
              <a:rPr lang="en-US" sz="2000" dirty="0"/>
              <a:t>             </a:t>
            </a:r>
          </a:p>
          <a:p>
            <a:pPr marL="457200" indent="-457200" algn="l">
              <a:spcBef>
                <a:spcPct val="50000"/>
              </a:spcBef>
            </a:pPr>
            <a:r>
              <a:rPr lang="en-US" sz="2000" dirty="0" err="1"/>
              <a:t>i</a:t>
            </a:r>
            <a:r>
              <a:rPr lang="en-US" sz="2000" dirty="0"/>
              <a:t>  f   y  o </a:t>
            </a:r>
          </a:p>
          <a:p>
            <a:pPr marL="457200" indent="-457200" algn="l">
              <a:spcBef>
                <a:spcPct val="50000"/>
              </a:spcBef>
            </a:pPr>
            <a:r>
              <a:rPr lang="en-US" sz="2000" dirty="0"/>
              <a:t>u w  o  r</a:t>
            </a:r>
          </a:p>
          <a:p>
            <a:pPr marL="457200" indent="-457200" algn="l">
              <a:spcBef>
                <a:spcPct val="50000"/>
              </a:spcBef>
            </a:pPr>
            <a:r>
              <a:rPr lang="en-US" sz="2000" dirty="0"/>
              <a:t>k y  o  u</a:t>
            </a:r>
          </a:p>
          <a:p>
            <a:pPr marL="457200" indent="-457200" algn="l">
              <a:spcBef>
                <a:spcPct val="50000"/>
              </a:spcBef>
            </a:pPr>
            <a:r>
              <a:rPr lang="en-US" sz="2000" dirty="0"/>
              <a:t>r  s  e   l </a:t>
            </a:r>
          </a:p>
          <a:p>
            <a:pPr marL="457200" indent="-457200" algn="l">
              <a:spcBef>
                <a:spcPct val="50000"/>
              </a:spcBef>
            </a:pPr>
            <a:r>
              <a:rPr lang="en-US" sz="2000" dirty="0"/>
              <a:t>f  d  o w</a:t>
            </a:r>
          </a:p>
          <a:p>
            <a:pPr marL="457200" indent="-457200" algn="l">
              <a:spcBef>
                <a:spcPct val="50000"/>
              </a:spcBef>
            </a:pPr>
            <a:r>
              <a:rPr lang="en-US" sz="2000" dirty="0"/>
              <a:t>n  s  l  e </a:t>
            </a:r>
          </a:p>
          <a:p>
            <a:pPr marL="457200" indent="-457200" algn="l">
              <a:spcBef>
                <a:spcPct val="50000"/>
              </a:spcBef>
            </a:pPr>
            <a:r>
              <a:rPr lang="en-US" sz="2000" dirty="0"/>
              <a:t>e  p  y o</a:t>
            </a:r>
          </a:p>
          <a:p>
            <a:pPr marL="457200" indent="-457200" algn="l">
              <a:spcBef>
                <a:spcPct val="50000"/>
              </a:spcBef>
            </a:pPr>
            <a:r>
              <a:rPr lang="en-US" sz="2000" dirty="0"/>
              <a:t>u  r  s  e </a:t>
            </a:r>
          </a:p>
          <a:p>
            <a:pPr marL="457200" indent="-457200" algn="l">
              <a:spcBef>
                <a:spcPct val="50000"/>
              </a:spcBef>
            </a:pPr>
            <a:r>
              <a:rPr lang="en-US" sz="2000" dirty="0"/>
              <a:t>l  f  u  p  </a:t>
            </a:r>
          </a:p>
        </p:txBody>
      </p:sp>
      <p:sp>
        <p:nvSpPr>
          <p:cNvPr id="161807" name="Text Box 15"/>
          <p:cNvSpPr txBox="1">
            <a:spLocks noChangeArrowheads="1"/>
          </p:cNvSpPr>
          <p:nvPr/>
        </p:nvSpPr>
        <p:spPr bwMode="auto">
          <a:xfrm>
            <a:off x="4876800" y="2133600"/>
            <a:ext cx="4267200" cy="2246769"/>
          </a:xfrm>
          <a:prstGeom prst="rect">
            <a:avLst/>
          </a:prstGeom>
          <a:noFill/>
          <a:ln w="9525">
            <a:noFill/>
            <a:miter lim="800000"/>
            <a:headEnd/>
            <a:tailEnd/>
          </a:ln>
          <a:effectLst/>
        </p:spPr>
        <p:txBody>
          <a:bodyPr>
            <a:spAutoFit/>
          </a:bodyPr>
          <a:lstStyle/>
          <a:p>
            <a:pPr algn="l">
              <a:spcBef>
                <a:spcPct val="50000"/>
              </a:spcBef>
            </a:pPr>
            <a:r>
              <a:rPr lang="en-US" sz="2000" dirty="0"/>
              <a:t>Permutation of 1,2,3,4</a:t>
            </a:r>
          </a:p>
          <a:p>
            <a:pPr algn="l">
              <a:spcBef>
                <a:spcPct val="50000"/>
              </a:spcBef>
            </a:pPr>
            <a:r>
              <a:rPr lang="en-US" sz="2000" dirty="0"/>
              <a:t>1234, 1243, </a:t>
            </a:r>
            <a:r>
              <a:rPr lang="en-US" sz="2000" u="sng" dirty="0"/>
              <a:t>1324</a:t>
            </a:r>
            <a:r>
              <a:rPr lang="en-US" sz="2000" dirty="0"/>
              <a:t>, 1342, 1423, 1432</a:t>
            </a:r>
          </a:p>
          <a:p>
            <a:pPr algn="l">
              <a:spcBef>
                <a:spcPct val="50000"/>
              </a:spcBef>
            </a:pPr>
            <a:r>
              <a:rPr lang="en-US" sz="2000" dirty="0"/>
              <a:t>2134, 2143, 2314, 2341, 2413, 2431</a:t>
            </a:r>
          </a:p>
          <a:p>
            <a:pPr algn="l">
              <a:spcBef>
                <a:spcPct val="50000"/>
              </a:spcBef>
            </a:pPr>
            <a:r>
              <a:rPr lang="en-US" sz="2000" dirty="0"/>
              <a:t>3124, 3142, 3214, 3241, 3412, 3421</a:t>
            </a:r>
          </a:p>
          <a:p>
            <a:pPr algn="l">
              <a:spcBef>
                <a:spcPct val="50000"/>
              </a:spcBef>
            </a:pPr>
            <a:r>
              <a:rPr lang="en-US" sz="2000" dirty="0"/>
              <a:t>4123, 4143, 4213, 4231, 4312, 4321</a:t>
            </a:r>
          </a:p>
        </p:txBody>
      </p:sp>
      <p:sp>
        <p:nvSpPr>
          <p:cNvPr id="161808" name="Text Box 16"/>
          <p:cNvSpPr txBox="1">
            <a:spLocks noChangeArrowheads="1"/>
          </p:cNvSpPr>
          <p:nvPr/>
        </p:nvSpPr>
        <p:spPr bwMode="auto">
          <a:xfrm>
            <a:off x="4953000" y="5410200"/>
            <a:ext cx="4191000" cy="1158875"/>
          </a:xfrm>
          <a:prstGeom prst="rect">
            <a:avLst/>
          </a:prstGeom>
          <a:noFill/>
          <a:ln w="9525">
            <a:noFill/>
            <a:miter lim="800000"/>
            <a:headEnd/>
            <a:tailEnd/>
          </a:ln>
          <a:effectLst/>
        </p:spPr>
        <p:txBody>
          <a:bodyPr>
            <a:spAutoFit/>
          </a:bodyPr>
          <a:lstStyle/>
          <a:p>
            <a:pPr algn="l">
              <a:spcBef>
                <a:spcPct val="50000"/>
              </a:spcBef>
            </a:pPr>
            <a:r>
              <a:rPr lang="en-US" sz="2000"/>
              <a:t>Plaintext: if you work yourself down sleep yourself up</a:t>
            </a:r>
          </a:p>
          <a:p>
            <a:pPr algn="l">
              <a:spcBef>
                <a:spcPct val="50000"/>
              </a:spcBef>
            </a:pPr>
            <a:r>
              <a:rPr lang="en-US" sz="2000"/>
              <a:t>Key: 1324</a:t>
            </a:r>
          </a:p>
        </p:txBody>
      </p:sp>
      <p:sp>
        <p:nvSpPr>
          <p:cNvPr id="161809" name="Text Box 17"/>
          <p:cNvSpPr txBox="1">
            <a:spLocks noChangeArrowheads="1"/>
          </p:cNvSpPr>
          <p:nvPr/>
        </p:nvSpPr>
        <p:spPr bwMode="auto">
          <a:xfrm>
            <a:off x="1600200" y="1676400"/>
            <a:ext cx="1676400" cy="457200"/>
          </a:xfrm>
          <a:prstGeom prst="rect">
            <a:avLst/>
          </a:prstGeom>
          <a:noFill/>
          <a:ln w="12700" cap="sq">
            <a:noFill/>
            <a:miter lim="800000"/>
            <a:headEnd type="none" w="sm" len="sm"/>
            <a:tailEnd type="none" w="sm" len="sm"/>
          </a:ln>
          <a:effectLst/>
        </p:spPr>
        <p:txBody>
          <a:bodyPr>
            <a:spAutoFit/>
          </a:bodyPr>
          <a:lstStyle/>
          <a:p>
            <a:pPr>
              <a:spcBef>
                <a:spcPct val="50000"/>
              </a:spcBef>
            </a:pPr>
            <a:r>
              <a:rPr lang="en-US"/>
              <a:t>ciphertext</a:t>
            </a:r>
          </a:p>
        </p:txBody>
      </p:sp>
      <p:sp>
        <p:nvSpPr>
          <p:cNvPr id="161810" name="Text Box 18"/>
          <p:cNvSpPr txBox="1">
            <a:spLocks noChangeArrowheads="1"/>
          </p:cNvSpPr>
          <p:nvPr/>
        </p:nvSpPr>
        <p:spPr bwMode="auto">
          <a:xfrm>
            <a:off x="2895600" y="1676400"/>
            <a:ext cx="1676400" cy="457200"/>
          </a:xfrm>
          <a:prstGeom prst="rect">
            <a:avLst/>
          </a:prstGeom>
          <a:noFill/>
          <a:ln w="12700" cap="sq">
            <a:noFill/>
            <a:miter lim="800000"/>
            <a:headEnd type="none" w="sm" len="sm"/>
            <a:tailEnd type="none" w="sm" len="sm"/>
          </a:ln>
          <a:effectLst/>
        </p:spPr>
        <p:txBody>
          <a:bodyPr>
            <a:spAutoFit/>
          </a:bodyPr>
          <a:lstStyle/>
          <a:p>
            <a:pPr>
              <a:spcBef>
                <a:spcPct val="50000"/>
              </a:spcBef>
            </a:pPr>
            <a:r>
              <a:rPr lang="en-US"/>
              <a:t>plaintext</a:t>
            </a:r>
          </a:p>
        </p:txBody>
      </p:sp>
    </p:spTree>
    <p:extLst>
      <p:ext uri="{BB962C8B-B14F-4D97-AF65-F5344CB8AC3E}">
        <p14:creationId xmlns:p14="http://schemas.microsoft.com/office/powerpoint/2010/main" val="6546555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1219200" y="247650"/>
            <a:ext cx="7924800" cy="971550"/>
          </a:xfrm>
        </p:spPr>
        <p:txBody>
          <a:bodyPr/>
          <a:lstStyle/>
          <a:p>
            <a:pPr algn="ctr"/>
            <a:r>
              <a:rPr lang="en-US" sz="4000" b="1">
                <a:effectLst>
                  <a:outerShdw blurRad="38100" dist="38100" dir="2700000" algn="tl">
                    <a:srgbClr val="000000"/>
                  </a:outerShdw>
                </a:effectLst>
              </a:rPr>
              <a:t>Comments</a:t>
            </a:r>
          </a:p>
        </p:txBody>
      </p:sp>
      <p:sp>
        <p:nvSpPr>
          <p:cNvPr id="101379" name="Rectangle 3"/>
          <p:cNvSpPr>
            <a:spLocks noChangeArrowheads="1"/>
          </p:cNvSpPr>
          <p:nvPr/>
        </p:nvSpPr>
        <p:spPr bwMode="auto">
          <a:xfrm>
            <a:off x="1524000" y="1371600"/>
            <a:ext cx="7620000" cy="3200400"/>
          </a:xfrm>
          <a:prstGeom prst="rect">
            <a:avLst/>
          </a:prstGeom>
          <a:noFill/>
          <a:ln w="12700" cap="sq">
            <a:noFill/>
            <a:miter lim="800000"/>
            <a:headEnd type="none" w="sm" len="sm"/>
            <a:tailEnd type="none" w="sm" len="sm"/>
          </a:ln>
          <a:effectLst/>
        </p:spPr>
        <p:txBody>
          <a:bodyPr/>
          <a:lstStyle/>
          <a:p>
            <a:pPr marL="342900" indent="-342900" algn="l">
              <a:spcBef>
                <a:spcPct val="20000"/>
              </a:spcBef>
              <a:buClr>
                <a:schemeClr val="tx2"/>
              </a:buClr>
              <a:buSzPct val="90000"/>
              <a:buFontTx/>
              <a:buChar char="•"/>
            </a:pPr>
            <a:r>
              <a:rPr lang="en-US" sz="3200" b="1">
                <a:effectLst>
                  <a:outerShdw blurRad="38100" dist="38100" dir="2700000" algn="tl">
                    <a:srgbClr val="000000"/>
                  </a:outerShdw>
                </a:effectLst>
              </a:rPr>
              <a:t>Key Word = m</a:t>
            </a:r>
            <a:r>
              <a:rPr lang="en-US" sz="3200" b="1">
                <a:solidFill>
                  <a:schemeClr val="tx2"/>
                </a:solidFill>
                <a:effectLst>
                  <a:outerShdw blurRad="38100" dist="38100" dir="2700000" algn="tl">
                    <a:srgbClr val="000000"/>
                  </a:outerShdw>
                </a:effectLst>
              </a:rPr>
              <a:t> </a:t>
            </a:r>
            <a:r>
              <a:rPr lang="en-US" sz="3200" b="1">
                <a:effectLst>
                  <a:outerShdw blurRad="38100" dist="38100" dir="2700000" algn="tl">
                    <a:srgbClr val="000000"/>
                  </a:outerShdw>
                </a:effectLst>
              </a:rPr>
              <a:t>distinct letters</a:t>
            </a:r>
          </a:p>
          <a:p>
            <a:pPr marL="342900" indent="-342900" algn="l">
              <a:spcBef>
                <a:spcPct val="20000"/>
              </a:spcBef>
              <a:buClr>
                <a:schemeClr val="tx2"/>
              </a:buClr>
              <a:buSzPct val="90000"/>
              <a:buFontTx/>
              <a:buChar char="•"/>
            </a:pPr>
            <a:r>
              <a:rPr lang="en-US" sz="3200" b="1">
                <a:effectLst>
                  <a:outerShdw blurRad="38100" dist="38100" dir="2700000" algn="tl">
                    <a:srgbClr val="000000"/>
                  </a:outerShdw>
                </a:effectLst>
              </a:rPr>
              <a:t>Permutation of 1,2,…,m</a:t>
            </a:r>
          </a:p>
          <a:p>
            <a:pPr marL="342900" indent="-342900" algn="l">
              <a:spcBef>
                <a:spcPct val="20000"/>
              </a:spcBef>
              <a:buClr>
                <a:schemeClr val="tx2"/>
              </a:buClr>
              <a:buSzPct val="90000"/>
              <a:buFontTx/>
              <a:buChar char="•"/>
            </a:pPr>
            <a:r>
              <a:rPr lang="en-US" sz="3200" b="1">
                <a:effectLst>
                  <a:outerShdw blurRad="38100" dist="38100" dir="2700000" algn="tl">
                    <a:srgbClr val="000000"/>
                  </a:outerShdw>
                </a:effectLst>
              </a:rPr>
              <a:t>The total number=m! possibilities</a:t>
            </a:r>
          </a:p>
          <a:p>
            <a:pPr marL="342900" indent="-342900" algn="l">
              <a:spcBef>
                <a:spcPct val="20000"/>
              </a:spcBef>
              <a:buClr>
                <a:schemeClr val="tx2"/>
              </a:buClr>
              <a:buSzPct val="90000"/>
              <a:buFontTx/>
              <a:buChar char="•"/>
            </a:pPr>
            <a:r>
              <a:rPr lang="en-US" sz="3200" b="1">
                <a:effectLst>
                  <a:outerShdw blurRad="38100" dist="38100" dir="2700000" algn="tl">
                    <a:srgbClr val="000000"/>
                  </a:outerShdw>
                </a:effectLst>
              </a:rPr>
              <a:t>Test each possibility to determine key</a:t>
            </a:r>
          </a:p>
          <a:p>
            <a:pPr marL="342900" indent="-342900" algn="l">
              <a:spcBef>
                <a:spcPct val="20000"/>
              </a:spcBef>
              <a:buClr>
                <a:schemeClr val="tx2"/>
              </a:buClr>
              <a:buSzPct val="90000"/>
              <a:buFontTx/>
              <a:buChar char="•"/>
            </a:pPr>
            <a:r>
              <a:rPr lang="en-US" sz="3200" b="1">
                <a:effectLst>
                  <a:outerShdw blurRad="38100" dist="38100" dir="2700000" algn="tl">
                    <a:srgbClr val="000000"/>
                  </a:outerShdw>
                </a:effectLst>
              </a:rPr>
              <a:t>It is insecure when m is small</a:t>
            </a:r>
          </a:p>
        </p:txBody>
      </p:sp>
    </p:spTree>
    <p:extLst>
      <p:ext uri="{BB962C8B-B14F-4D97-AF65-F5344CB8AC3E}">
        <p14:creationId xmlns:p14="http://schemas.microsoft.com/office/powerpoint/2010/main" val="19581575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26"/>
          <p:cNvSpPr>
            <a:spLocks noGrp="1" noChangeArrowheads="1"/>
          </p:cNvSpPr>
          <p:nvPr>
            <p:ph type="ctrTitle"/>
          </p:nvPr>
        </p:nvSpPr>
        <p:spPr>
          <a:xfrm>
            <a:off x="1447800" y="762000"/>
            <a:ext cx="7315200" cy="2116138"/>
          </a:xfrm>
        </p:spPr>
        <p:txBody>
          <a:bodyPr/>
          <a:lstStyle/>
          <a:p>
            <a:pPr algn="ctr"/>
            <a:r>
              <a:rPr lang="en-US" sz="4000" b="1" dirty="0">
                <a:latin typeface="Comic Sans MS" pitchFamily="66" charset="0"/>
              </a:rPr>
              <a:t>Chapter 2</a:t>
            </a:r>
            <a:br>
              <a:rPr lang="en-US" sz="4000" b="1" dirty="0">
                <a:latin typeface="Comic Sans MS" pitchFamily="66" charset="0"/>
              </a:rPr>
            </a:br>
            <a:r>
              <a:rPr lang="en-US" sz="4000" b="1" dirty="0">
                <a:latin typeface="Comic Sans MS" pitchFamily="66" charset="0"/>
              </a:rPr>
              <a:t>Secret Key Encryption Standard</a:t>
            </a:r>
            <a:endParaRPr lang="en-AU" sz="4000" b="1" dirty="0">
              <a:latin typeface="Comic Sans MS" pitchFamily="66" charset="0"/>
            </a:endParaRPr>
          </a:p>
        </p:txBody>
      </p:sp>
      <p:sp>
        <p:nvSpPr>
          <p:cNvPr id="28675" name="Rectangle 1027"/>
          <p:cNvSpPr>
            <a:spLocks noGrp="1" noChangeArrowheads="1"/>
          </p:cNvSpPr>
          <p:nvPr>
            <p:ph type="subTitle" idx="1"/>
          </p:nvPr>
        </p:nvSpPr>
        <p:spPr>
          <a:xfrm>
            <a:off x="1905000" y="3255963"/>
            <a:ext cx="7004050" cy="1447800"/>
          </a:xfrm>
        </p:spPr>
        <p:txBody>
          <a:bodyPr>
            <a:normAutofit fontScale="92500" lnSpcReduction="10000"/>
          </a:bodyPr>
          <a:lstStyle/>
          <a:p>
            <a:pPr algn="ctr"/>
            <a:r>
              <a:rPr lang="en-AU" b="1" dirty="0">
                <a:solidFill>
                  <a:schemeClr val="tx1"/>
                </a:solidFill>
                <a:latin typeface="Comic Sans MS" pitchFamily="66" charset="0"/>
              </a:rPr>
              <a:t>Chapter 2.2</a:t>
            </a:r>
          </a:p>
          <a:p>
            <a:pPr algn="ctr"/>
            <a:r>
              <a:rPr lang="en-AU" b="1" dirty="0">
                <a:solidFill>
                  <a:schemeClr val="tx1"/>
                </a:solidFill>
                <a:latin typeface="Comic Sans MS" pitchFamily="66" charset="0"/>
              </a:rPr>
              <a:t>Simplified Advanced Encryption Standard</a:t>
            </a:r>
          </a:p>
        </p:txBody>
      </p:sp>
    </p:spTree>
    <p:extLst>
      <p:ext uri="{BB962C8B-B14F-4D97-AF65-F5344CB8AC3E}">
        <p14:creationId xmlns:p14="http://schemas.microsoft.com/office/powerpoint/2010/main" val="15496493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1271337" y="228600"/>
            <a:ext cx="7848600" cy="1143000"/>
          </a:xfrm>
        </p:spPr>
        <p:txBody>
          <a:bodyPr/>
          <a:lstStyle/>
          <a:p>
            <a:r>
              <a:rPr lang="en-US" altLang="en-US" sz="4000" dirty="0"/>
              <a:t>Advanced Encryption Standard</a:t>
            </a:r>
          </a:p>
        </p:txBody>
      </p:sp>
      <p:sp>
        <p:nvSpPr>
          <p:cNvPr id="57347" name="Rectangle 3"/>
          <p:cNvSpPr>
            <a:spLocks noGrp="1" noChangeArrowheads="1"/>
          </p:cNvSpPr>
          <p:nvPr>
            <p:ph type="body" idx="1"/>
          </p:nvPr>
        </p:nvSpPr>
        <p:spPr>
          <a:xfrm>
            <a:off x="1142999" y="1600200"/>
            <a:ext cx="7514785" cy="4457700"/>
          </a:xfrm>
        </p:spPr>
        <p:txBody>
          <a:bodyPr>
            <a:normAutofit lnSpcReduction="10000"/>
          </a:bodyPr>
          <a:lstStyle/>
          <a:p>
            <a:r>
              <a:rPr lang="en-US" altLang="en-US" sz="2800" dirty="0">
                <a:latin typeface="+mj-lt"/>
              </a:rPr>
              <a:t>DES cracked, Triple-DES slow:  what next?</a:t>
            </a:r>
          </a:p>
          <a:p>
            <a:r>
              <a:rPr lang="en-US" altLang="en-US" sz="2800" dirty="0">
                <a:latin typeface="+mj-lt"/>
              </a:rPr>
              <a:t>1997:  NIST AES announced, call for algorithms</a:t>
            </a:r>
          </a:p>
          <a:p>
            <a:r>
              <a:rPr lang="en-US" altLang="en-US" sz="2800" dirty="0">
                <a:latin typeface="+mj-lt"/>
              </a:rPr>
              <a:t>August 1998:  15 candidate algorithms</a:t>
            </a:r>
          </a:p>
          <a:p>
            <a:r>
              <a:rPr lang="en-US" altLang="en-US" sz="2800" dirty="0">
                <a:latin typeface="+mj-lt"/>
              </a:rPr>
              <a:t>August 1999:  5 finalists</a:t>
            </a:r>
          </a:p>
          <a:p>
            <a:r>
              <a:rPr lang="en-US" altLang="en-US" sz="2800" dirty="0">
                <a:latin typeface="+mj-lt"/>
              </a:rPr>
              <a:t>October 2000:  </a:t>
            </a:r>
            <a:r>
              <a:rPr lang="en-US" altLang="en-US" sz="2800" dirty="0" err="1">
                <a:latin typeface="+mj-lt"/>
              </a:rPr>
              <a:t>Rijndael</a:t>
            </a:r>
            <a:r>
              <a:rPr lang="en-US" altLang="en-US" sz="2800" dirty="0">
                <a:latin typeface="+mj-lt"/>
              </a:rPr>
              <a:t> selected</a:t>
            </a:r>
          </a:p>
          <a:p>
            <a:pPr lvl="1"/>
            <a:r>
              <a:rPr lang="en-US" altLang="en-US" dirty="0">
                <a:latin typeface="+mj-lt"/>
              </a:rPr>
              <a:t>Two Belgians:  Joan </a:t>
            </a:r>
            <a:r>
              <a:rPr lang="en-US" altLang="en-US" dirty="0" err="1">
                <a:latin typeface="+mj-lt"/>
              </a:rPr>
              <a:t>Daemen</a:t>
            </a:r>
            <a:r>
              <a:rPr lang="en-US" altLang="en-US" dirty="0">
                <a:latin typeface="+mj-lt"/>
              </a:rPr>
              <a:t>, Vincent </a:t>
            </a:r>
            <a:r>
              <a:rPr lang="en-US" altLang="en-US" dirty="0" err="1">
                <a:latin typeface="+mj-lt"/>
              </a:rPr>
              <a:t>Rijmen</a:t>
            </a:r>
            <a:endParaRPr lang="en-US" altLang="en-US" dirty="0">
              <a:latin typeface="+mj-lt"/>
            </a:endParaRPr>
          </a:p>
          <a:p>
            <a:r>
              <a:rPr lang="en-US" altLang="en-US" sz="2800" dirty="0">
                <a:latin typeface="+mj-lt"/>
              </a:rPr>
              <a:t>May 2001:  Comment period ended</a:t>
            </a:r>
          </a:p>
          <a:p>
            <a:r>
              <a:rPr lang="en-US" altLang="en-US" sz="2800" dirty="0">
                <a:latin typeface="+mj-lt"/>
              </a:rPr>
              <a:t>Summer 2001:  Finalized, certified until ‘06</a:t>
            </a:r>
          </a:p>
        </p:txBody>
      </p:sp>
    </p:spTree>
    <p:extLst>
      <p:ext uri="{BB962C8B-B14F-4D97-AF65-F5344CB8AC3E}">
        <p14:creationId xmlns:p14="http://schemas.microsoft.com/office/powerpoint/2010/main" val="3840227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73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73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73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73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7347">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57347">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57347">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5734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143000" y="256184"/>
            <a:ext cx="7086600" cy="1143000"/>
          </a:xfrm>
        </p:spPr>
        <p:txBody>
          <a:bodyPr/>
          <a:lstStyle/>
          <a:p>
            <a:r>
              <a:rPr lang="en-US" altLang="en-US" dirty="0">
                <a:latin typeface="+mn-lt"/>
              </a:rPr>
              <a:t>AES vs. DES</a:t>
            </a:r>
          </a:p>
        </p:txBody>
      </p:sp>
      <p:sp>
        <p:nvSpPr>
          <p:cNvPr id="58371" name="Rectangle 3"/>
          <p:cNvSpPr>
            <a:spLocks noGrp="1" noChangeArrowheads="1"/>
          </p:cNvSpPr>
          <p:nvPr>
            <p:ph type="body" idx="1"/>
          </p:nvPr>
        </p:nvSpPr>
        <p:spPr/>
        <p:txBody>
          <a:bodyPr/>
          <a:lstStyle/>
          <a:p>
            <a:r>
              <a:rPr lang="en-US" altLang="en-US" dirty="0">
                <a:latin typeface="+mj-lt"/>
              </a:rPr>
              <a:t>Similar to DES:  block cipher (with different modes), but 128-bit blocks</a:t>
            </a:r>
          </a:p>
          <a:p>
            <a:r>
              <a:rPr lang="en-US" altLang="en-US" dirty="0">
                <a:latin typeface="+mj-lt"/>
              </a:rPr>
              <a:t>128-bit, 192-bit, or 256-bit key</a:t>
            </a:r>
          </a:p>
          <a:p>
            <a:r>
              <a:rPr lang="en-US" altLang="en-US" dirty="0">
                <a:latin typeface="+mj-lt"/>
              </a:rPr>
              <a:t>Mix of permutations, “S-boxes”</a:t>
            </a:r>
          </a:p>
          <a:p>
            <a:r>
              <a:rPr lang="en-US" altLang="en-US" dirty="0">
                <a:latin typeface="+mj-lt"/>
              </a:rPr>
              <a:t>S-boxes based on modular arithmetic with polynomials.</a:t>
            </a:r>
          </a:p>
        </p:txBody>
      </p:sp>
    </p:spTree>
    <p:extLst>
      <p:ext uri="{BB962C8B-B14F-4D97-AF65-F5344CB8AC3E}">
        <p14:creationId xmlns:p14="http://schemas.microsoft.com/office/powerpoint/2010/main" val="602553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83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83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83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83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srcRect/>
          <a:stretch>
            <a:fillRect/>
          </a:stretch>
        </p:blipFill>
        <p:spPr bwMode="auto">
          <a:xfrm>
            <a:off x="3076574" y="1114926"/>
            <a:ext cx="4133850" cy="5715000"/>
          </a:xfrm>
          <a:prstGeom prst="rect">
            <a:avLst/>
          </a:prstGeom>
          <a:noFill/>
          <a:ln w="9525">
            <a:noFill/>
            <a:miter lim="800000"/>
            <a:headEnd/>
            <a:tailEnd/>
          </a:ln>
        </p:spPr>
      </p:pic>
      <p:sp>
        <p:nvSpPr>
          <p:cNvPr id="8" name="Rectangle 7"/>
          <p:cNvSpPr/>
          <p:nvPr/>
        </p:nvSpPr>
        <p:spPr bwMode="auto">
          <a:xfrm>
            <a:off x="3505200" y="1238119"/>
            <a:ext cx="762000" cy="304800"/>
          </a:xfrm>
          <a:prstGeom prst="rect">
            <a:avLst/>
          </a:prstGeom>
          <a:noFill/>
          <a:ln w="12700" cap="sq" cmpd="sng" algn="ctr">
            <a:no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AU" sz="1600" b="0" i="0" u="none" strike="noStrike" cap="none" normalizeH="0" baseline="0" dirty="0">
                <a:ln>
                  <a:noFill/>
                </a:ln>
                <a:solidFill>
                  <a:schemeClr val="bg2"/>
                </a:solidFill>
                <a:effectLst/>
                <a:latin typeface="Times New Roman" pitchFamily="18" charset="0"/>
              </a:rPr>
              <a:t>16 bits</a:t>
            </a:r>
          </a:p>
        </p:txBody>
      </p:sp>
      <p:sp>
        <p:nvSpPr>
          <p:cNvPr id="9" name="Rectangle 8"/>
          <p:cNvSpPr/>
          <p:nvPr/>
        </p:nvSpPr>
        <p:spPr bwMode="auto">
          <a:xfrm>
            <a:off x="5521840" y="1238119"/>
            <a:ext cx="762000" cy="304800"/>
          </a:xfrm>
          <a:prstGeom prst="rect">
            <a:avLst/>
          </a:prstGeom>
          <a:noFill/>
          <a:ln w="12700" cap="sq" cmpd="sng" algn="ctr">
            <a:no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AU" sz="1600" b="0" i="0" u="none" strike="noStrike" cap="none" normalizeH="0" baseline="0" dirty="0">
                <a:ln>
                  <a:noFill/>
                </a:ln>
                <a:solidFill>
                  <a:schemeClr val="bg2"/>
                </a:solidFill>
                <a:effectLst/>
                <a:latin typeface="Times New Roman" pitchFamily="18" charset="0"/>
              </a:rPr>
              <a:t>16 bits</a:t>
            </a:r>
          </a:p>
        </p:txBody>
      </p:sp>
      <p:sp>
        <p:nvSpPr>
          <p:cNvPr id="10" name="Rectangle 9"/>
          <p:cNvSpPr/>
          <p:nvPr/>
        </p:nvSpPr>
        <p:spPr bwMode="auto">
          <a:xfrm>
            <a:off x="3124200" y="6324600"/>
            <a:ext cx="762000" cy="304800"/>
          </a:xfrm>
          <a:prstGeom prst="rect">
            <a:avLst/>
          </a:prstGeom>
          <a:noFill/>
          <a:ln w="12700" cap="sq" cmpd="sng" algn="ctr">
            <a:no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AU" sz="1600" b="0" i="0" u="none" strike="noStrike" cap="none" normalizeH="0" baseline="0" dirty="0">
                <a:ln>
                  <a:noFill/>
                </a:ln>
                <a:solidFill>
                  <a:schemeClr val="tx1"/>
                </a:solidFill>
                <a:effectLst/>
                <a:latin typeface="Times New Roman" pitchFamily="18" charset="0"/>
              </a:rPr>
              <a:t>16 bits</a:t>
            </a:r>
          </a:p>
        </p:txBody>
      </p:sp>
      <p:sp>
        <p:nvSpPr>
          <p:cNvPr id="7" name="Rectangle 2"/>
          <p:cNvSpPr>
            <a:spLocks noGrp="1" noChangeArrowheads="1"/>
          </p:cNvSpPr>
          <p:nvPr>
            <p:ph type="title"/>
          </p:nvPr>
        </p:nvSpPr>
        <p:spPr>
          <a:xfrm>
            <a:off x="1143000" y="-1"/>
            <a:ext cx="8000999" cy="975189"/>
          </a:xfrm>
        </p:spPr>
        <p:txBody>
          <a:bodyPr/>
          <a:lstStyle/>
          <a:p>
            <a:r>
              <a:rPr lang="en-US" altLang="en-US" dirty="0">
                <a:latin typeface="+mn-lt"/>
              </a:rPr>
              <a:t>Simplified AES</a:t>
            </a:r>
          </a:p>
        </p:txBody>
      </p:sp>
    </p:spTree>
    <p:extLst>
      <p:ext uri="{BB962C8B-B14F-4D97-AF65-F5344CB8AC3E}">
        <p14:creationId xmlns:p14="http://schemas.microsoft.com/office/powerpoint/2010/main" val="39627622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1143001" y="228600"/>
            <a:ext cx="8000999" cy="1143000"/>
          </a:xfrm>
        </p:spPr>
        <p:txBody>
          <a:bodyPr/>
          <a:lstStyle/>
          <a:p>
            <a:r>
              <a:rPr lang="en-US" altLang="en-US" dirty="0">
                <a:latin typeface="+mn-lt"/>
              </a:rPr>
              <a:t>State Matrix and Round Keys</a:t>
            </a:r>
          </a:p>
        </p:txBody>
      </p:sp>
      <p:pic>
        <p:nvPicPr>
          <p:cNvPr id="2" name="Picture 1"/>
          <p:cNvPicPr>
            <a:picLocks noChangeAspect="1"/>
          </p:cNvPicPr>
          <p:nvPr/>
        </p:nvPicPr>
        <p:blipFill>
          <a:blip r:embed="rId3"/>
          <a:stretch>
            <a:fillRect/>
          </a:stretch>
        </p:blipFill>
        <p:spPr>
          <a:xfrm>
            <a:off x="1397000" y="1549400"/>
            <a:ext cx="6350000" cy="3759200"/>
          </a:xfrm>
          <a:prstGeom prst="rect">
            <a:avLst/>
          </a:prstGeom>
        </p:spPr>
      </p:pic>
    </p:spTree>
    <p:extLst>
      <p:ext uri="{BB962C8B-B14F-4D97-AF65-F5344CB8AC3E}">
        <p14:creationId xmlns:p14="http://schemas.microsoft.com/office/powerpoint/2010/main" val="31951102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p:cNvPicPr>
            <a:picLocks noChangeAspect="1" noChangeArrowheads="1"/>
          </p:cNvPicPr>
          <p:nvPr/>
        </p:nvPicPr>
        <p:blipFill>
          <a:blip r:embed="rId2" cstate="print"/>
          <a:srcRect/>
          <a:stretch>
            <a:fillRect/>
          </a:stretch>
        </p:blipFill>
        <p:spPr bwMode="auto">
          <a:xfrm>
            <a:off x="1524000" y="2514600"/>
            <a:ext cx="7028199" cy="2057400"/>
          </a:xfrm>
          <a:prstGeom prst="rect">
            <a:avLst/>
          </a:prstGeom>
          <a:noFill/>
          <a:ln w="9525">
            <a:noFill/>
            <a:miter lim="800000"/>
            <a:headEnd/>
            <a:tailEnd/>
          </a:ln>
        </p:spPr>
      </p:pic>
      <p:sp>
        <p:nvSpPr>
          <p:cNvPr id="4" name="Rectangle 2"/>
          <p:cNvSpPr txBox="1">
            <a:spLocks noChangeArrowheads="1"/>
          </p:cNvSpPr>
          <p:nvPr/>
        </p:nvSpPr>
        <p:spPr>
          <a:xfrm>
            <a:off x="97685" y="267097"/>
            <a:ext cx="9046315"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en-US" dirty="0">
                <a:solidFill>
                  <a:schemeClr val="accent1"/>
                </a:solidFill>
                <a:latin typeface="+mn-lt"/>
              </a:rPr>
              <a:t>Add Round Key</a:t>
            </a:r>
          </a:p>
        </p:txBody>
      </p:sp>
    </p:spTree>
    <p:extLst>
      <p:ext uri="{BB962C8B-B14F-4D97-AF65-F5344CB8AC3E}">
        <p14:creationId xmlns:p14="http://schemas.microsoft.com/office/powerpoint/2010/main" val="25357299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97685" y="0"/>
            <a:ext cx="9046315"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en-US" dirty="0">
                <a:solidFill>
                  <a:schemeClr val="accent1"/>
                </a:solidFill>
                <a:latin typeface="+mn-lt"/>
              </a:rPr>
              <a:t>Encryption Round</a:t>
            </a:r>
          </a:p>
        </p:txBody>
      </p:sp>
      <p:pic>
        <p:nvPicPr>
          <p:cNvPr id="2" name="Picture 1"/>
          <p:cNvPicPr>
            <a:picLocks noChangeAspect="1"/>
          </p:cNvPicPr>
          <p:nvPr/>
        </p:nvPicPr>
        <p:blipFill>
          <a:blip r:embed="rId2"/>
          <a:stretch>
            <a:fillRect/>
          </a:stretch>
        </p:blipFill>
        <p:spPr>
          <a:xfrm>
            <a:off x="1615450" y="1220979"/>
            <a:ext cx="5630204" cy="1869228"/>
          </a:xfrm>
          <a:prstGeom prst="rect">
            <a:avLst/>
          </a:prstGeom>
        </p:spPr>
      </p:pic>
      <p:pic>
        <p:nvPicPr>
          <p:cNvPr id="5" name="Picture 4"/>
          <p:cNvPicPr>
            <a:picLocks noChangeAspect="1"/>
          </p:cNvPicPr>
          <p:nvPr/>
        </p:nvPicPr>
        <p:blipFill>
          <a:blip r:embed="rId3"/>
          <a:stretch>
            <a:fillRect/>
          </a:stretch>
        </p:blipFill>
        <p:spPr>
          <a:xfrm>
            <a:off x="3147976" y="3090207"/>
            <a:ext cx="3038543" cy="3767793"/>
          </a:xfrm>
          <a:prstGeom prst="rect">
            <a:avLst/>
          </a:prstGeom>
        </p:spPr>
      </p:pic>
    </p:spTree>
    <p:extLst>
      <p:ext uri="{BB962C8B-B14F-4D97-AF65-F5344CB8AC3E}">
        <p14:creationId xmlns:p14="http://schemas.microsoft.com/office/powerpoint/2010/main" val="37375232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cstate="print"/>
          <a:srcRect/>
          <a:stretch>
            <a:fillRect/>
          </a:stretch>
        </p:blipFill>
        <p:spPr bwMode="auto">
          <a:xfrm>
            <a:off x="2299320" y="1636295"/>
            <a:ext cx="5210907" cy="2919905"/>
          </a:xfrm>
          <a:prstGeom prst="rect">
            <a:avLst/>
          </a:prstGeom>
          <a:noFill/>
          <a:ln w="9525">
            <a:noFill/>
            <a:miter lim="800000"/>
            <a:headEnd/>
            <a:tailEnd/>
          </a:ln>
        </p:spPr>
      </p:pic>
      <p:pic>
        <p:nvPicPr>
          <p:cNvPr id="3075" name="Picture 3"/>
          <p:cNvPicPr>
            <a:picLocks noChangeAspect="1" noChangeArrowheads="1"/>
          </p:cNvPicPr>
          <p:nvPr/>
        </p:nvPicPr>
        <p:blipFill>
          <a:blip r:embed="rId4" cstate="print"/>
          <a:srcRect/>
          <a:stretch>
            <a:fillRect/>
          </a:stretch>
        </p:blipFill>
        <p:spPr bwMode="auto">
          <a:xfrm>
            <a:off x="2596852" y="4953000"/>
            <a:ext cx="4615841" cy="838200"/>
          </a:xfrm>
          <a:prstGeom prst="rect">
            <a:avLst/>
          </a:prstGeom>
          <a:noFill/>
          <a:ln w="9525">
            <a:noFill/>
            <a:miter lim="800000"/>
            <a:headEnd/>
            <a:tailEnd/>
          </a:ln>
        </p:spPr>
      </p:pic>
      <p:sp>
        <p:nvSpPr>
          <p:cNvPr id="6" name="Rectangle 2"/>
          <p:cNvSpPr txBox="1">
            <a:spLocks noChangeArrowheads="1"/>
          </p:cNvSpPr>
          <p:nvPr/>
        </p:nvSpPr>
        <p:spPr>
          <a:xfrm>
            <a:off x="97685" y="29832"/>
            <a:ext cx="9046315"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en-US" dirty="0">
                <a:solidFill>
                  <a:schemeClr val="accent1"/>
                </a:solidFill>
                <a:latin typeface="+mn-lt"/>
              </a:rPr>
              <a:t>Substitution </a:t>
            </a:r>
          </a:p>
        </p:txBody>
      </p:sp>
    </p:spTree>
    <p:extLst>
      <p:ext uri="{BB962C8B-B14F-4D97-AF65-F5344CB8AC3E}">
        <p14:creationId xmlns:p14="http://schemas.microsoft.com/office/powerpoint/2010/main" val="40058763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cstate="print"/>
          <a:srcRect/>
          <a:stretch>
            <a:fillRect/>
          </a:stretch>
        </p:blipFill>
        <p:spPr bwMode="auto">
          <a:xfrm>
            <a:off x="1219200" y="2514600"/>
            <a:ext cx="7924800" cy="1992436"/>
          </a:xfrm>
          <a:prstGeom prst="rect">
            <a:avLst/>
          </a:prstGeom>
          <a:noFill/>
          <a:ln w="9525">
            <a:noFill/>
            <a:miter lim="800000"/>
            <a:headEnd/>
            <a:tailEnd/>
          </a:ln>
        </p:spPr>
      </p:pic>
      <p:pic>
        <p:nvPicPr>
          <p:cNvPr id="4099" name="Picture 3"/>
          <p:cNvPicPr>
            <a:picLocks noChangeAspect="1" noChangeArrowheads="1"/>
          </p:cNvPicPr>
          <p:nvPr/>
        </p:nvPicPr>
        <p:blipFill>
          <a:blip r:embed="rId4" cstate="print"/>
          <a:srcRect/>
          <a:stretch>
            <a:fillRect/>
          </a:stretch>
        </p:blipFill>
        <p:spPr bwMode="auto">
          <a:xfrm>
            <a:off x="2743200" y="5029200"/>
            <a:ext cx="3842766" cy="781050"/>
          </a:xfrm>
          <a:prstGeom prst="rect">
            <a:avLst/>
          </a:prstGeom>
          <a:noFill/>
          <a:ln w="9525">
            <a:noFill/>
            <a:miter lim="800000"/>
            <a:headEnd/>
            <a:tailEnd/>
          </a:ln>
        </p:spPr>
      </p:pic>
      <p:pic>
        <p:nvPicPr>
          <p:cNvPr id="6" name="Picture 3"/>
          <p:cNvPicPr>
            <a:picLocks noChangeAspect="1" noChangeArrowheads="1"/>
          </p:cNvPicPr>
          <p:nvPr/>
        </p:nvPicPr>
        <p:blipFill>
          <a:blip r:embed="rId5" cstate="print"/>
          <a:srcRect/>
          <a:stretch>
            <a:fillRect/>
          </a:stretch>
        </p:blipFill>
        <p:spPr bwMode="auto">
          <a:xfrm>
            <a:off x="2209800" y="1143000"/>
            <a:ext cx="4615841" cy="838200"/>
          </a:xfrm>
          <a:prstGeom prst="rect">
            <a:avLst/>
          </a:prstGeom>
          <a:noFill/>
          <a:ln w="9525">
            <a:noFill/>
            <a:miter lim="800000"/>
            <a:headEnd/>
            <a:tailEnd/>
          </a:ln>
        </p:spPr>
      </p:pic>
      <p:sp>
        <p:nvSpPr>
          <p:cNvPr id="7" name="Rectangle 2"/>
          <p:cNvSpPr txBox="1">
            <a:spLocks noChangeArrowheads="1"/>
          </p:cNvSpPr>
          <p:nvPr/>
        </p:nvSpPr>
        <p:spPr>
          <a:xfrm>
            <a:off x="97685" y="29832"/>
            <a:ext cx="9046315"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en-US" dirty="0">
                <a:solidFill>
                  <a:schemeClr val="accent1"/>
                </a:solidFill>
                <a:latin typeface="+mn-lt"/>
              </a:rPr>
              <a:t>Shift Rows </a:t>
            </a:r>
          </a:p>
        </p:txBody>
      </p:sp>
    </p:spTree>
    <p:extLst>
      <p:ext uri="{BB962C8B-B14F-4D97-AF65-F5344CB8AC3E}">
        <p14:creationId xmlns:p14="http://schemas.microsoft.com/office/powerpoint/2010/main" val="25714871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1752600" y="1171575"/>
            <a:ext cx="5353050" cy="2181225"/>
          </a:xfrm>
          <a:prstGeom prst="rect">
            <a:avLst/>
          </a:prstGeom>
          <a:noFill/>
          <a:ln w="9525">
            <a:noFill/>
            <a:miter lim="800000"/>
            <a:headEnd/>
            <a:tailEnd/>
          </a:ln>
        </p:spPr>
      </p:pic>
      <p:pic>
        <p:nvPicPr>
          <p:cNvPr id="9217" name="Picture 1"/>
          <p:cNvPicPr>
            <a:picLocks noChangeAspect="1" noChangeArrowheads="1"/>
          </p:cNvPicPr>
          <p:nvPr/>
        </p:nvPicPr>
        <p:blipFill>
          <a:blip r:embed="rId3" cstate="print"/>
          <a:srcRect/>
          <a:stretch>
            <a:fillRect/>
          </a:stretch>
        </p:blipFill>
        <p:spPr bwMode="auto">
          <a:xfrm>
            <a:off x="1524000" y="3352800"/>
            <a:ext cx="6086475" cy="838200"/>
          </a:xfrm>
          <a:prstGeom prst="rect">
            <a:avLst/>
          </a:prstGeom>
          <a:noFill/>
          <a:ln w="9525">
            <a:noFill/>
            <a:miter lim="800000"/>
            <a:headEnd/>
            <a:tailEnd/>
          </a:ln>
        </p:spPr>
      </p:pic>
      <p:pic>
        <p:nvPicPr>
          <p:cNvPr id="9218" name="Picture 2"/>
          <p:cNvPicPr>
            <a:picLocks noChangeAspect="1" noChangeArrowheads="1"/>
          </p:cNvPicPr>
          <p:nvPr/>
        </p:nvPicPr>
        <p:blipFill>
          <a:blip r:embed="rId4" cstate="print"/>
          <a:srcRect/>
          <a:stretch>
            <a:fillRect/>
          </a:stretch>
        </p:blipFill>
        <p:spPr bwMode="auto">
          <a:xfrm>
            <a:off x="1219200" y="4267200"/>
            <a:ext cx="3848100" cy="1504950"/>
          </a:xfrm>
          <a:prstGeom prst="rect">
            <a:avLst/>
          </a:prstGeom>
          <a:noFill/>
          <a:ln w="9525">
            <a:noFill/>
            <a:miter lim="800000"/>
            <a:headEnd/>
            <a:tailEnd/>
          </a:ln>
        </p:spPr>
      </p:pic>
      <p:pic>
        <p:nvPicPr>
          <p:cNvPr id="9219" name="Picture 3"/>
          <p:cNvPicPr>
            <a:picLocks noChangeAspect="1" noChangeArrowheads="1"/>
          </p:cNvPicPr>
          <p:nvPr/>
        </p:nvPicPr>
        <p:blipFill>
          <a:blip r:embed="rId5" cstate="print"/>
          <a:srcRect/>
          <a:stretch>
            <a:fillRect/>
          </a:stretch>
        </p:blipFill>
        <p:spPr bwMode="auto">
          <a:xfrm>
            <a:off x="1219200" y="5791200"/>
            <a:ext cx="3743325" cy="923925"/>
          </a:xfrm>
          <a:prstGeom prst="rect">
            <a:avLst/>
          </a:prstGeom>
          <a:noFill/>
          <a:ln w="9525">
            <a:noFill/>
            <a:miter lim="800000"/>
            <a:headEnd/>
            <a:tailEnd/>
          </a:ln>
        </p:spPr>
      </p:pic>
      <p:pic>
        <p:nvPicPr>
          <p:cNvPr id="9220" name="Picture 4"/>
          <p:cNvPicPr>
            <a:picLocks noChangeAspect="1" noChangeArrowheads="1"/>
          </p:cNvPicPr>
          <p:nvPr/>
        </p:nvPicPr>
        <p:blipFill>
          <a:blip r:embed="rId6" cstate="print"/>
          <a:srcRect/>
          <a:stretch>
            <a:fillRect/>
          </a:stretch>
        </p:blipFill>
        <p:spPr bwMode="auto">
          <a:xfrm>
            <a:off x="5162550" y="4267200"/>
            <a:ext cx="3695700" cy="1190625"/>
          </a:xfrm>
          <a:prstGeom prst="rect">
            <a:avLst/>
          </a:prstGeom>
          <a:noFill/>
          <a:ln w="9525">
            <a:noFill/>
            <a:miter lim="800000"/>
            <a:headEnd/>
            <a:tailEnd/>
          </a:ln>
        </p:spPr>
      </p:pic>
      <p:pic>
        <p:nvPicPr>
          <p:cNvPr id="9221" name="Picture 5"/>
          <p:cNvPicPr>
            <a:picLocks noChangeAspect="1" noChangeArrowheads="1"/>
          </p:cNvPicPr>
          <p:nvPr/>
        </p:nvPicPr>
        <p:blipFill>
          <a:blip r:embed="rId7" cstate="print"/>
          <a:srcRect/>
          <a:stretch>
            <a:fillRect/>
          </a:stretch>
        </p:blipFill>
        <p:spPr bwMode="auto">
          <a:xfrm>
            <a:off x="5105400" y="5715000"/>
            <a:ext cx="3752850" cy="952500"/>
          </a:xfrm>
          <a:prstGeom prst="rect">
            <a:avLst/>
          </a:prstGeom>
          <a:noFill/>
          <a:ln w="9525">
            <a:noFill/>
            <a:miter lim="800000"/>
            <a:headEnd/>
            <a:tailEnd/>
          </a:ln>
        </p:spPr>
      </p:pic>
      <p:sp>
        <p:nvSpPr>
          <p:cNvPr id="9" name="Rectangle 2"/>
          <p:cNvSpPr txBox="1">
            <a:spLocks noChangeArrowheads="1"/>
          </p:cNvSpPr>
          <p:nvPr/>
        </p:nvSpPr>
        <p:spPr>
          <a:xfrm>
            <a:off x="97685" y="29832"/>
            <a:ext cx="9046315"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en-US" dirty="0">
                <a:solidFill>
                  <a:schemeClr val="accent1"/>
                </a:solidFill>
                <a:latin typeface="+mn-lt"/>
              </a:rPr>
              <a:t>Mix Columns</a:t>
            </a:r>
          </a:p>
        </p:txBody>
      </p:sp>
    </p:spTree>
    <p:extLst>
      <p:ext uri="{BB962C8B-B14F-4D97-AF65-F5344CB8AC3E}">
        <p14:creationId xmlns:p14="http://schemas.microsoft.com/office/powerpoint/2010/main" val="2031327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a:xfrm>
            <a:off x="1143000" y="152400"/>
            <a:ext cx="7788188" cy="838200"/>
          </a:xfrm>
        </p:spPr>
        <p:txBody>
          <a:bodyPr>
            <a:normAutofit/>
          </a:bodyPr>
          <a:lstStyle/>
          <a:p>
            <a:pPr eaLnBrk="1" hangingPunct="1"/>
            <a:r>
              <a:rPr lang="en-AU" dirty="0"/>
              <a:t>Galois Field </a:t>
            </a:r>
            <a:endParaRPr lang="en-US" dirty="0">
              <a:effectLst>
                <a:outerShdw blurRad="38100" dist="38100" dir="2700000" algn="tl">
                  <a:srgbClr val="000000"/>
                </a:outerShdw>
              </a:effectLst>
            </a:endParaRPr>
          </a:p>
        </p:txBody>
      </p:sp>
      <p:pic>
        <p:nvPicPr>
          <p:cNvPr id="1026" name="Picture 2" descr="http://upload.wikimedia.org/wikipedia/commons/thumb/5/53/Evariste_galois.jpg/220px-Evariste_galois.jpg">
            <a:hlinkClick r:id="rId3"/>
          </p:cNvPr>
          <p:cNvPicPr>
            <a:picLocks noChangeAspect="1" noChangeArrowheads="1"/>
          </p:cNvPicPr>
          <p:nvPr/>
        </p:nvPicPr>
        <p:blipFill>
          <a:blip r:embed="rId4" cstate="print"/>
          <a:srcRect/>
          <a:stretch>
            <a:fillRect/>
          </a:stretch>
        </p:blipFill>
        <p:spPr bwMode="auto">
          <a:xfrm>
            <a:off x="1118937" y="1469298"/>
            <a:ext cx="2095500" cy="2705100"/>
          </a:xfrm>
          <a:prstGeom prst="rect">
            <a:avLst/>
          </a:prstGeom>
          <a:noFill/>
        </p:spPr>
      </p:pic>
      <p:sp>
        <p:nvSpPr>
          <p:cNvPr id="5" name="TextBox 4"/>
          <p:cNvSpPr txBox="1"/>
          <p:nvPr/>
        </p:nvSpPr>
        <p:spPr>
          <a:xfrm>
            <a:off x="3352799" y="1469298"/>
            <a:ext cx="5791201" cy="5078313"/>
          </a:xfrm>
          <a:prstGeom prst="rect">
            <a:avLst/>
          </a:prstGeom>
          <a:noFill/>
        </p:spPr>
        <p:txBody>
          <a:bodyPr wrap="square" rtlCol="0">
            <a:spAutoFit/>
          </a:bodyPr>
          <a:lstStyle/>
          <a:p>
            <a:r>
              <a:rPr lang="en-AU" sz="2000" dirty="0" err="1"/>
              <a:t>Évariste</a:t>
            </a:r>
            <a:r>
              <a:rPr lang="en-AU" sz="2000" dirty="0"/>
              <a:t> Galois (French: [</a:t>
            </a:r>
            <a:r>
              <a:rPr lang="en-AU" sz="2000" dirty="0" err="1"/>
              <a:t>evaʁist</a:t>
            </a:r>
            <a:r>
              <a:rPr lang="en-AU" sz="2000" dirty="0"/>
              <a:t> </a:t>
            </a:r>
            <a:r>
              <a:rPr lang="en-AU" sz="2000" dirty="0" err="1"/>
              <a:t>ɡalwa</a:t>
            </a:r>
            <a:r>
              <a:rPr lang="en-AU" sz="2000" dirty="0"/>
              <a:t>]) (25 Oct. 1811 – 31 May 1832) was a French mathematician born in Bourg-la-</a:t>
            </a:r>
            <a:r>
              <a:rPr lang="en-AU" sz="2000" dirty="0" err="1"/>
              <a:t>Reine</a:t>
            </a:r>
            <a:r>
              <a:rPr lang="en-AU" sz="2000" dirty="0"/>
              <a:t>. While still in his teens, he was able to determine a necessary and sufficient condition for a polynomial to be solvable by radicals, thereby solving a long-standing problem. His work laid the foundations for Galois theory and group theory, two major branches of abstract algebra, and the subfield of Galois connections. He was the first to use the word “group” (French: </a:t>
            </a:r>
            <a:r>
              <a:rPr lang="en-AU" sz="2000" dirty="0" err="1"/>
              <a:t>groupe</a:t>
            </a:r>
            <a:r>
              <a:rPr lang="en-AU" sz="2000" dirty="0"/>
              <a:t>) as a technical term in mathematics to represent a group of permutations. A radical Republican during the monarchy of Louis Philippe in France, he died from wounds suffered in a duel under questionable circumstances at the age of twenty.</a:t>
            </a:r>
          </a:p>
          <a:p>
            <a:endParaRPr lang="en-AU" dirty="0"/>
          </a:p>
        </p:txBody>
      </p:sp>
    </p:spTree>
    <p:extLst>
      <p:ext uri="{BB962C8B-B14F-4D97-AF65-F5344CB8AC3E}">
        <p14:creationId xmlns:p14="http://schemas.microsoft.com/office/powerpoint/2010/main" val="34503573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a:xfrm>
            <a:off x="1142999" y="18124"/>
            <a:ext cx="7568395" cy="838200"/>
          </a:xfrm>
        </p:spPr>
        <p:txBody>
          <a:bodyPr/>
          <a:lstStyle/>
          <a:p>
            <a:pPr eaLnBrk="1" hangingPunct="1"/>
            <a:r>
              <a:rPr lang="en-AU" sz="4000" dirty="0"/>
              <a:t>GF(16)</a:t>
            </a:r>
            <a:endParaRPr lang="en-US" sz="4000" dirty="0">
              <a:effectLst>
                <a:outerShdw blurRad="38100" dist="38100" dir="2700000" algn="tl">
                  <a:srgbClr val="000000"/>
                </a:outerShdw>
              </a:effectLst>
            </a:endParaRPr>
          </a:p>
        </p:txBody>
      </p:sp>
      <p:sp>
        <p:nvSpPr>
          <p:cNvPr id="5" name="TextBox 4"/>
          <p:cNvSpPr txBox="1"/>
          <p:nvPr/>
        </p:nvSpPr>
        <p:spPr>
          <a:xfrm>
            <a:off x="1142999" y="856324"/>
            <a:ext cx="7934714" cy="5632311"/>
          </a:xfrm>
          <a:prstGeom prst="rect">
            <a:avLst/>
          </a:prstGeom>
          <a:noFill/>
        </p:spPr>
        <p:txBody>
          <a:bodyPr wrap="square" rtlCol="0">
            <a:spAutoFit/>
          </a:bodyPr>
          <a:lstStyle/>
          <a:p>
            <a:pPr>
              <a:buFont typeface="Wingdings" pitchFamily="2" charset="2"/>
              <a:buChar char="q"/>
            </a:pPr>
            <a:r>
              <a:rPr lang="en-AU" sz="2800" dirty="0"/>
              <a:t> GF(16)={0, 1, 2, …, 15}</a:t>
            </a:r>
          </a:p>
          <a:p>
            <a:endParaRPr lang="en-AU" sz="2800" dirty="0"/>
          </a:p>
          <a:p>
            <a:pPr>
              <a:buFont typeface="Wingdings" pitchFamily="2" charset="2"/>
              <a:buChar char="q"/>
            </a:pPr>
            <a:r>
              <a:rPr lang="en-AU" sz="2800" dirty="0"/>
              <a:t> Polynomial representation</a:t>
            </a:r>
          </a:p>
          <a:p>
            <a:r>
              <a:rPr lang="en-AU" dirty="0"/>
              <a:t>    0, 1, 2=x, 3=x+1, …, 15=x</a:t>
            </a:r>
            <a:r>
              <a:rPr lang="en-AU" baseline="30000" dirty="0"/>
              <a:t>3</a:t>
            </a:r>
            <a:r>
              <a:rPr lang="en-AU" dirty="0"/>
              <a:t>+x</a:t>
            </a:r>
            <a:r>
              <a:rPr lang="en-AU" baseline="30000" dirty="0"/>
              <a:t>2</a:t>
            </a:r>
            <a:r>
              <a:rPr lang="en-AU" dirty="0"/>
              <a:t>+x+1, modulo x</a:t>
            </a:r>
            <a:r>
              <a:rPr lang="en-AU" baseline="30000" dirty="0"/>
              <a:t>4</a:t>
            </a:r>
            <a:r>
              <a:rPr lang="en-AU" dirty="0"/>
              <a:t>+x+1 </a:t>
            </a:r>
          </a:p>
          <a:p>
            <a:endParaRPr lang="en-AU" sz="2800" dirty="0"/>
          </a:p>
          <a:p>
            <a:pPr>
              <a:buFont typeface="Wingdings" pitchFamily="2" charset="2"/>
              <a:buChar char="q"/>
            </a:pPr>
            <a:r>
              <a:rPr lang="en-AU" sz="2800" dirty="0"/>
              <a:t> Addition</a:t>
            </a:r>
          </a:p>
          <a:p>
            <a:r>
              <a:rPr lang="en-AU" sz="2800" dirty="0"/>
              <a:t>     a + b = a XOR b, e.g., 1 + 3 = 01 XOR 11 = 10 = 2 </a:t>
            </a:r>
          </a:p>
          <a:p>
            <a:r>
              <a:rPr lang="en-AU" sz="2800" dirty="0"/>
              <a:t>     a XOR a=0 </a:t>
            </a:r>
            <a:r>
              <a:rPr lang="en-AU" sz="2800" dirty="0">
                <a:sym typeface="Wingdings" pitchFamily="2" charset="2"/>
              </a:rPr>
              <a:t> a = -a</a:t>
            </a:r>
          </a:p>
          <a:p>
            <a:endParaRPr lang="en-AU" sz="2800" dirty="0"/>
          </a:p>
          <a:p>
            <a:pPr>
              <a:buFont typeface="Wingdings" pitchFamily="2" charset="2"/>
              <a:buChar char="q"/>
            </a:pPr>
            <a:r>
              <a:rPr lang="en-AU" sz="2800" dirty="0"/>
              <a:t> Multiplication</a:t>
            </a:r>
          </a:p>
          <a:p>
            <a:r>
              <a:rPr lang="en-AU" sz="2800" dirty="0"/>
              <a:t>     </a:t>
            </a:r>
            <a:r>
              <a:rPr lang="en-AU" dirty="0"/>
              <a:t>a*b = polynomial of a * polynomial of b (mod x</a:t>
            </a:r>
            <a:r>
              <a:rPr lang="en-AU" baseline="30000" dirty="0"/>
              <a:t>4</a:t>
            </a:r>
            <a:r>
              <a:rPr lang="en-AU" dirty="0"/>
              <a:t>+x+1)</a:t>
            </a:r>
          </a:p>
          <a:p>
            <a:r>
              <a:rPr lang="en-AU" sz="2800" dirty="0"/>
              <a:t>     e.g., 4*14=x</a:t>
            </a:r>
            <a:r>
              <a:rPr lang="en-AU" sz="2800" baseline="30000" dirty="0"/>
              <a:t>2</a:t>
            </a:r>
            <a:r>
              <a:rPr lang="en-AU" sz="2800" dirty="0"/>
              <a:t>*(x</a:t>
            </a:r>
            <a:r>
              <a:rPr lang="en-AU" sz="2800" baseline="30000" dirty="0"/>
              <a:t>3</a:t>
            </a:r>
            <a:r>
              <a:rPr lang="en-AU" sz="2800" dirty="0"/>
              <a:t>+x</a:t>
            </a:r>
            <a:r>
              <a:rPr lang="en-AU" sz="2800" baseline="30000" dirty="0"/>
              <a:t>2</a:t>
            </a:r>
            <a:r>
              <a:rPr lang="en-AU" sz="2800" dirty="0"/>
              <a:t>+x)= x</a:t>
            </a:r>
            <a:r>
              <a:rPr lang="en-AU" sz="2800" baseline="30000" dirty="0"/>
              <a:t>5</a:t>
            </a:r>
            <a:r>
              <a:rPr lang="en-AU" sz="2800" dirty="0"/>
              <a:t>+x</a:t>
            </a:r>
            <a:r>
              <a:rPr lang="en-AU" sz="2800" baseline="30000" dirty="0"/>
              <a:t>4</a:t>
            </a:r>
            <a:r>
              <a:rPr lang="en-AU" sz="2800" dirty="0"/>
              <a:t>+x</a:t>
            </a:r>
            <a:r>
              <a:rPr lang="en-AU" sz="2800" baseline="30000" dirty="0"/>
              <a:t>3</a:t>
            </a:r>
          </a:p>
          <a:p>
            <a:r>
              <a:rPr lang="en-AU" sz="2800" baseline="30000" dirty="0"/>
              <a:t>                               </a:t>
            </a:r>
            <a:r>
              <a:rPr lang="en-AU" sz="2800" dirty="0"/>
              <a:t>=(x+1)(x</a:t>
            </a:r>
            <a:r>
              <a:rPr lang="en-AU" sz="2800" baseline="30000" dirty="0"/>
              <a:t>4</a:t>
            </a:r>
            <a:r>
              <a:rPr lang="en-AU" sz="2800" dirty="0"/>
              <a:t>+x+1)+(x</a:t>
            </a:r>
            <a:r>
              <a:rPr lang="en-AU" sz="2800" baseline="30000" dirty="0"/>
              <a:t>3</a:t>
            </a:r>
            <a:r>
              <a:rPr lang="en-AU" sz="2800" dirty="0"/>
              <a:t>+x</a:t>
            </a:r>
            <a:r>
              <a:rPr lang="en-AU" sz="2800" baseline="30000" dirty="0"/>
              <a:t>2</a:t>
            </a:r>
            <a:r>
              <a:rPr lang="en-AU" sz="2800" dirty="0"/>
              <a:t>+1)=0+13=13</a:t>
            </a:r>
            <a:endParaRPr lang="en-AU" dirty="0"/>
          </a:p>
        </p:txBody>
      </p:sp>
    </p:spTree>
    <p:extLst>
      <p:ext uri="{BB962C8B-B14F-4D97-AF65-F5344CB8AC3E}">
        <p14:creationId xmlns:p14="http://schemas.microsoft.com/office/powerpoint/2010/main" val="40233598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a:xfrm>
            <a:off x="1066799" y="18124"/>
            <a:ext cx="8010913" cy="838200"/>
          </a:xfrm>
        </p:spPr>
        <p:txBody>
          <a:bodyPr>
            <a:normAutofit fontScale="90000"/>
          </a:bodyPr>
          <a:lstStyle/>
          <a:p>
            <a:pPr eaLnBrk="1" hangingPunct="1"/>
            <a:r>
              <a:rPr lang="en-AU" sz="4000" dirty="0"/>
              <a:t>Addition and Multiplication over GF(16)</a:t>
            </a:r>
            <a:endParaRPr lang="en-US" sz="4000" dirty="0">
              <a:effectLst>
                <a:outerShdw blurRad="38100" dist="38100" dir="2700000" algn="tl">
                  <a:srgbClr val="000000"/>
                </a:outerShdw>
              </a:effectLst>
            </a:endParaRPr>
          </a:p>
        </p:txBody>
      </p:sp>
      <p:sp>
        <p:nvSpPr>
          <p:cNvPr id="5" name="TextBox 4"/>
          <p:cNvSpPr txBox="1"/>
          <p:nvPr/>
        </p:nvSpPr>
        <p:spPr>
          <a:xfrm>
            <a:off x="1219199" y="1234604"/>
            <a:ext cx="7858513" cy="4832093"/>
          </a:xfrm>
          <a:prstGeom prst="rect">
            <a:avLst/>
          </a:prstGeom>
          <a:noFill/>
        </p:spPr>
        <p:txBody>
          <a:bodyPr wrap="square" rtlCol="0">
            <a:spAutoFit/>
          </a:bodyPr>
          <a:lstStyle/>
          <a:p>
            <a:r>
              <a:rPr lang="en-AU" sz="2800" dirty="0"/>
              <a:t>Addition: 1 + 3 = 01 XOR 11 = 10 = 2 </a:t>
            </a:r>
          </a:p>
          <a:p>
            <a:endParaRPr lang="en-AU" sz="2800" dirty="0"/>
          </a:p>
          <a:p>
            <a:r>
              <a:rPr lang="en-AU" sz="2800" dirty="0"/>
              <a:t>Multiplication: 3*14 (mod 10011) = ? </a:t>
            </a:r>
          </a:p>
          <a:p>
            <a:endParaRPr lang="en-AU" sz="2800" dirty="0"/>
          </a:p>
          <a:p>
            <a:r>
              <a:rPr lang="en-AU" sz="2800" dirty="0"/>
              <a:t>3*14=11 x 1110 = </a:t>
            </a:r>
            <a:r>
              <a:rPr lang="en-AU" sz="2800" dirty="0">
                <a:solidFill>
                  <a:srgbClr val="FF0000"/>
                </a:solidFill>
              </a:rPr>
              <a:t>10010</a:t>
            </a:r>
            <a:r>
              <a:rPr lang="en-AU" sz="2800" dirty="0"/>
              <a:t> (mod </a:t>
            </a:r>
            <a:r>
              <a:rPr lang="en-AU" sz="2800" dirty="0">
                <a:solidFill>
                  <a:schemeClr val="accent1"/>
                </a:solidFill>
              </a:rPr>
              <a:t>10011</a:t>
            </a:r>
            <a:r>
              <a:rPr lang="en-AU" sz="2800" dirty="0"/>
              <a:t>) = </a:t>
            </a:r>
            <a:r>
              <a:rPr lang="en-AU" sz="2800" dirty="0">
                <a:solidFill>
                  <a:srgbClr val="FF0000"/>
                </a:solidFill>
              </a:rPr>
              <a:t>1</a:t>
            </a:r>
            <a:r>
              <a:rPr lang="en-AU" sz="2800" dirty="0"/>
              <a:t> = 0001</a:t>
            </a:r>
          </a:p>
          <a:p>
            <a:pPr algn="r"/>
            <a:r>
              <a:rPr lang="en-AU" sz="2800" dirty="0"/>
              <a:t> </a:t>
            </a:r>
            <a:r>
              <a:rPr lang="en-AU" sz="2800" dirty="0">
                <a:solidFill>
                  <a:schemeClr val="accent1"/>
                </a:solidFill>
              </a:rPr>
              <a:t>x</a:t>
            </a:r>
            <a:r>
              <a:rPr lang="en-AU" sz="2800" baseline="30000" dirty="0">
                <a:solidFill>
                  <a:schemeClr val="accent1"/>
                </a:solidFill>
              </a:rPr>
              <a:t>4</a:t>
            </a:r>
            <a:r>
              <a:rPr lang="en-AU" sz="2800" dirty="0">
                <a:solidFill>
                  <a:schemeClr val="accent1"/>
                </a:solidFill>
              </a:rPr>
              <a:t>+x+1=10011</a:t>
            </a:r>
          </a:p>
          <a:p>
            <a:r>
              <a:rPr lang="en-AU" sz="2800" dirty="0"/>
              <a:t>      1110                              ____</a:t>
            </a:r>
            <a:r>
              <a:rPr lang="en-AU" sz="2800" u="sng" dirty="0"/>
              <a:t>1_</a:t>
            </a:r>
            <a:r>
              <a:rPr lang="en-AU" sz="2800" dirty="0"/>
              <a:t>       </a:t>
            </a:r>
          </a:p>
          <a:p>
            <a:r>
              <a:rPr lang="en-AU" sz="2800" u="sng" dirty="0"/>
              <a:t>x        11   </a:t>
            </a:r>
            <a:r>
              <a:rPr lang="en-AU" sz="2800" dirty="0"/>
              <a:t>             10011   / 10010</a:t>
            </a:r>
          </a:p>
          <a:p>
            <a:r>
              <a:rPr lang="en-AU" sz="2800" dirty="0"/>
              <a:t>      1110                               </a:t>
            </a:r>
            <a:r>
              <a:rPr lang="en-AU" sz="2800" u="sng" dirty="0"/>
              <a:t>10011 </a:t>
            </a:r>
            <a:r>
              <a:rPr lang="en-AU" sz="2800" dirty="0"/>
              <a:t> </a:t>
            </a:r>
          </a:p>
          <a:p>
            <a:r>
              <a:rPr lang="en-AU" sz="2800" u="sng" dirty="0"/>
              <a:t>+  1110__ </a:t>
            </a:r>
            <a:r>
              <a:rPr lang="en-AU" sz="2800" dirty="0"/>
              <a:t>                                    </a:t>
            </a:r>
            <a:r>
              <a:rPr lang="en-AU" sz="2800" dirty="0">
                <a:solidFill>
                  <a:srgbClr val="FF0000"/>
                </a:solidFill>
              </a:rPr>
              <a:t>1</a:t>
            </a:r>
            <a:r>
              <a:rPr lang="en-AU" sz="2800" dirty="0">
                <a:solidFill>
                  <a:srgbClr val="0000FF"/>
                </a:solidFill>
              </a:rPr>
              <a:t> </a:t>
            </a:r>
          </a:p>
          <a:p>
            <a:r>
              <a:rPr lang="en-AU" sz="2800" dirty="0"/>
              <a:t>    </a:t>
            </a:r>
            <a:r>
              <a:rPr lang="en-AU" sz="2800" dirty="0">
                <a:solidFill>
                  <a:srgbClr val="FF0000"/>
                </a:solidFill>
              </a:rPr>
              <a:t>10010</a:t>
            </a:r>
            <a:endParaRPr lang="en-AU" dirty="0">
              <a:solidFill>
                <a:srgbClr val="FF0000"/>
              </a:solidFill>
            </a:endParaRPr>
          </a:p>
        </p:txBody>
      </p:sp>
    </p:spTree>
    <p:extLst>
      <p:ext uri="{BB962C8B-B14F-4D97-AF65-F5344CB8AC3E}">
        <p14:creationId xmlns:p14="http://schemas.microsoft.com/office/powerpoint/2010/main" val="27677028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a:xfrm>
            <a:off x="1142999" y="18124"/>
            <a:ext cx="7568395" cy="838200"/>
          </a:xfrm>
        </p:spPr>
        <p:txBody>
          <a:bodyPr/>
          <a:lstStyle/>
          <a:p>
            <a:pPr eaLnBrk="1" hangingPunct="1"/>
            <a:r>
              <a:rPr lang="en-AU" sz="4000" dirty="0"/>
              <a:t>Matrix Multiplication over GF(16)</a:t>
            </a:r>
            <a:endParaRPr lang="en-US" sz="4000" dirty="0">
              <a:effectLst>
                <a:outerShdw blurRad="38100" dist="38100" dir="2700000" algn="tl">
                  <a:srgbClr val="000000"/>
                </a:outerShdw>
              </a:effectLst>
            </a:endParaRPr>
          </a:p>
        </p:txBody>
      </p:sp>
      <p:sp>
        <p:nvSpPr>
          <p:cNvPr id="5" name="TextBox 4"/>
          <p:cNvSpPr txBox="1"/>
          <p:nvPr/>
        </p:nvSpPr>
        <p:spPr>
          <a:xfrm>
            <a:off x="1219200" y="969600"/>
            <a:ext cx="7709885" cy="5693867"/>
          </a:xfrm>
          <a:prstGeom prst="rect">
            <a:avLst/>
          </a:prstGeom>
          <a:noFill/>
        </p:spPr>
        <p:txBody>
          <a:bodyPr wrap="square" rtlCol="0">
            <a:spAutoFit/>
          </a:bodyPr>
          <a:lstStyle/>
          <a:p>
            <a:endParaRPr lang="en-AU" sz="2800" dirty="0"/>
          </a:p>
          <a:p>
            <a:r>
              <a:rPr lang="en-AU" sz="2800" dirty="0"/>
              <a:t>                                     =</a:t>
            </a:r>
          </a:p>
          <a:p>
            <a:endParaRPr lang="en-AU" sz="2800" dirty="0"/>
          </a:p>
          <a:p>
            <a:r>
              <a:rPr lang="en-AU" sz="2800" dirty="0"/>
              <a:t>1x0010+4x1110 (mod 10011) = 0010+</a:t>
            </a:r>
            <a:r>
              <a:rPr lang="en-AU" sz="2800" dirty="0">
                <a:solidFill>
                  <a:srgbClr val="FF0000"/>
                </a:solidFill>
              </a:rPr>
              <a:t>1101</a:t>
            </a:r>
            <a:r>
              <a:rPr lang="en-AU" sz="2800" dirty="0"/>
              <a:t>=1111 </a:t>
            </a:r>
          </a:p>
          <a:p>
            <a:endParaRPr lang="en-AU" sz="2800" dirty="0"/>
          </a:p>
          <a:p>
            <a:r>
              <a:rPr lang="en-AU" sz="2800" dirty="0"/>
              <a:t>4*1110=100 x 1110 = </a:t>
            </a:r>
            <a:r>
              <a:rPr lang="en-AU" sz="2800" dirty="0">
                <a:solidFill>
                  <a:srgbClr val="FF0000"/>
                </a:solidFill>
              </a:rPr>
              <a:t>111000</a:t>
            </a:r>
            <a:r>
              <a:rPr lang="en-AU" sz="2800" dirty="0"/>
              <a:t> (mod 10011) = </a:t>
            </a:r>
            <a:r>
              <a:rPr lang="en-AU" sz="2800" dirty="0">
                <a:solidFill>
                  <a:srgbClr val="FF0000"/>
                </a:solidFill>
              </a:rPr>
              <a:t>1101</a:t>
            </a:r>
          </a:p>
          <a:p>
            <a:r>
              <a:rPr lang="en-AU" sz="2800" dirty="0"/>
              <a:t>                    </a:t>
            </a:r>
          </a:p>
          <a:p>
            <a:r>
              <a:rPr lang="en-AU" sz="2800" dirty="0"/>
              <a:t>     1110                             ____</a:t>
            </a:r>
            <a:r>
              <a:rPr lang="en-AU" sz="2800" u="sng" dirty="0"/>
              <a:t>11</a:t>
            </a:r>
            <a:r>
              <a:rPr lang="en-AU" sz="2800" dirty="0"/>
              <a:t>       </a:t>
            </a:r>
          </a:p>
          <a:p>
            <a:r>
              <a:rPr lang="en-AU" sz="2800" u="sng" dirty="0"/>
              <a:t>X     100   </a:t>
            </a:r>
            <a:r>
              <a:rPr lang="en-AU" sz="2800" dirty="0"/>
              <a:t>         10011   / 111000</a:t>
            </a:r>
          </a:p>
          <a:p>
            <a:r>
              <a:rPr lang="en-AU" sz="2800" dirty="0"/>
              <a:t>      0000                            </a:t>
            </a:r>
            <a:r>
              <a:rPr lang="en-AU" sz="2800" u="sng" dirty="0"/>
              <a:t>10011</a:t>
            </a:r>
          </a:p>
          <a:p>
            <a:r>
              <a:rPr lang="en-AU" sz="2800" dirty="0"/>
              <a:t>    0000                                11110  </a:t>
            </a:r>
          </a:p>
          <a:p>
            <a:r>
              <a:rPr lang="en-AU" sz="2800" u="sng" dirty="0"/>
              <a:t>+1110__ </a:t>
            </a:r>
            <a:r>
              <a:rPr lang="en-AU" sz="2800" dirty="0"/>
              <a:t>                             </a:t>
            </a:r>
            <a:r>
              <a:rPr lang="en-AU" sz="2800" u="sng" dirty="0"/>
              <a:t>10011</a:t>
            </a:r>
            <a:r>
              <a:rPr lang="en-AU" sz="2800" u="sng" dirty="0">
                <a:solidFill>
                  <a:srgbClr val="0000FF"/>
                </a:solidFill>
              </a:rPr>
              <a:t> </a:t>
            </a:r>
          </a:p>
          <a:p>
            <a:r>
              <a:rPr lang="en-AU" sz="2800" dirty="0"/>
              <a:t>  </a:t>
            </a:r>
            <a:r>
              <a:rPr lang="en-AU" sz="2800" dirty="0">
                <a:solidFill>
                  <a:srgbClr val="FF0000"/>
                </a:solidFill>
              </a:rPr>
              <a:t>111000                                 1101</a:t>
            </a:r>
            <a:endParaRPr lang="en-AU" dirty="0">
              <a:solidFill>
                <a:srgbClr val="FF0000"/>
              </a:solidFill>
            </a:endParaRPr>
          </a:p>
        </p:txBody>
      </p:sp>
      <p:graphicFrame>
        <p:nvGraphicFramePr>
          <p:cNvPr id="3" name="Table 2"/>
          <p:cNvGraphicFramePr>
            <a:graphicFrameLocks noGrp="1"/>
          </p:cNvGraphicFramePr>
          <p:nvPr/>
        </p:nvGraphicFramePr>
        <p:xfrm>
          <a:off x="1580862" y="1334923"/>
          <a:ext cx="718932" cy="741680"/>
        </p:xfrm>
        <a:graphic>
          <a:graphicData uri="http://schemas.openxmlformats.org/drawingml/2006/table">
            <a:tbl>
              <a:tblPr>
                <a:tableStyleId>{5C22544A-7EE6-4342-B048-85BDC9FD1C3A}</a:tableStyleId>
              </a:tblPr>
              <a:tblGrid>
                <a:gridCol w="359466">
                  <a:extLst>
                    <a:ext uri="{9D8B030D-6E8A-4147-A177-3AD203B41FA5}">
                      <a16:colId xmlns:a16="http://schemas.microsoft.com/office/drawing/2014/main" val="20000"/>
                    </a:ext>
                  </a:extLst>
                </a:gridCol>
                <a:gridCol w="359466">
                  <a:extLst>
                    <a:ext uri="{9D8B030D-6E8A-4147-A177-3AD203B41FA5}">
                      <a16:colId xmlns:a16="http://schemas.microsoft.com/office/drawing/2014/main" val="20001"/>
                    </a:ext>
                  </a:extLst>
                </a:gridCol>
              </a:tblGrid>
              <a:tr h="370840">
                <a:tc>
                  <a:txBody>
                    <a:bodyPr/>
                    <a:lstStyle/>
                    <a:p>
                      <a:r>
                        <a:rPr lang="en-US" dirty="0"/>
                        <a:t>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dirty="0"/>
                        <a:t>4</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dirty="0"/>
                        <a:t>4</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dirty="0"/>
                        <a:t>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4" name="Table 3"/>
          <p:cNvGraphicFramePr>
            <a:graphicFrameLocks noGrp="1"/>
          </p:cNvGraphicFramePr>
          <p:nvPr/>
        </p:nvGraphicFramePr>
        <p:xfrm>
          <a:off x="2367352" y="1334922"/>
          <a:ext cx="718933" cy="731520"/>
        </p:xfrm>
        <a:graphic>
          <a:graphicData uri="http://schemas.openxmlformats.org/drawingml/2006/table">
            <a:tbl>
              <a:tblPr firstRow="1" bandRow="1">
                <a:tableStyleId>{5C22544A-7EE6-4342-B048-85BDC9FD1C3A}</a:tableStyleId>
              </a:tblPr>
              <a:tblGrid>
                <a:gridCol w="718933">
                  <a:extLst>
                    <a:ext uri="{9D8B030D-6E8A-4147-A177-3AD203B41FA5}">
                      <a16:colId xmlns:a16="http://schemas.microsoft.com/office/drawing/2014/main" val="20000"/>
                    </a:ext>
                  </a:extLst>
                </a:gridCol>
              </a:tblGrid>
              <a:tr h="344965">
                <a:tc>
                  <a:txBody>
                    <a:bodyPr/>
                    <a:lstStyle/>
                    <a:p>
                      <a:r>
                        <a:rPr lang="en-US" dirty="0"/>
                        <a:t>0010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344965">
                <a:tc>
                  <a:txBody>
                    <a:bodyPr/>
                    <a:lstStyle/>
                    <a:p>
                      <a:r>
                        <a:rPr lang="en-US" dirty="0"/>
                        <a:t>1110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7" name="Table 6"/>
          <p:cNvGraphicFramePr>
            <a:graphicFrameLocks noGrp="1"/>
          </p:cNvGraphicFramePr>
          <p:nvPr/>
        </p:nvGraphicFramePr>
        <p:xfrm>
          <a:off x="3560148" y="1334923"/>
          <a:ext cx="718933" cy="731520"/>
        </p:xfrm>
        <a:graphic>
          <a:graphicData uri="http://schemas.openxmlformats.org/drawingml/2006/table">
            <a:tbl>
              <a:tblPr firstRow="1" bandRow="1">
                <a:tableStyleId>{5C22544A-7EE6-4342-B048-85BDC9FD1C3A}</a:tableStyleId>
              </a:tblPr>
              <a:tblGrid>
                <a:gridCol w="718933">
                  <a:extLst>
                    <a:ext uri="{9D8B030D-6E8A-4147-A177-3AD203B41FA5}">
                      <a16:colId xmlns:a16="http://schemas.microsoft.com/office/drawing/2014/main" val="20000"/>
                    </a:ext>
                  </a:extLst>
                </a:gridCol>
              </a:tblGrid>
              <a:tr h="344965">
                <a:tc>
                  <a:txBody>
                    <a:bodyPr/>
                    <a:lstStyle/>
                    <a:p>
                      <a:r>
                        <a:rPr lang="en-US" dirty="0"/>
                        <a:t>1111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344965">
                <a:tc>
                  <a:txBody>
                    <a:bodyPr/>
                    <a:lstStyle/>
                    <a:p>
                      <a:r>
                        <a:rPr lang="en-US" dirty="0"/>
                        <a:t>0011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503174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a:xfrm>
            <a:off x="1524000" y="297490"/>
            <a:ext cx="7036736" cy="838200"/>
          </a:xfrm>
        </p:spPr>
        <p:txBody>
          <a:bodyPr/>
          <a:lstStyle/>
          <a:p>
            <a:pPr eaLnBrk="1" hangingPunct="1"/>
            <a:r>
              <a:rPr lang="en-AU" sz="4000" dirty="0"/>
              <a:t>Key Expansion</a:t>
            </a:r>
            <a:endParaRPr lang="en-US" sz="4000" dirty="0">
              <a:effectLst>
                <a:outerShdw blurRad="38100" dist="38100" dir="2700000" algn="tl">
                  <a:srgbClr val="000000"/>
                </a:outerShdw>
              </a:effectLst>
            </a:endParaRPr>
          </a:p>
        </p:txBody>
      </p:sp>
      <p:pic>
        <p:nvPicPr>
          <p:cNvPr id="31746" name="Picture 2"/>
          <p:cNvPicPr>
            <a:picLocks noChangeAspect="1" noChangeArrowheads="1"/>
          </p:cNvPicPr>
          <p:nvPr/>
        </p:nvPicPr>
        <p:blipFill>
          <a:blip r:embed="rId3" cstate="print"/>
          <a:srcRect/>
          <a:stretch>
            <a:fillRect/>
          </a:stretch>
        </p:blipFill>
        <p:spPr bwMode="auto">
          <a:xfrm>
            <a:off x="-18543" y="1890594"/>
            <a:ext cx="2659741" cy="4045023"/>
          </a:xfrm>
          <a:prstGeom prst="rect">
            <a:avLst/>
          </a:prstGeom>
          <a:noFill/>
          <a:ln w="9525">
            <a:noFill/>
            <a:miter lim="800000"/>
            <a:headEnd/>
            <a:tailEnd/>
          </a:ln>
        </p:spPr>
      </p:pic>
      <p:pic>
        <p:nvPicPr>
          <p:cNvPr id="31747" name="Picture 3"/>
          <p:cNvPicPr>
            <a:picLocks noChangeAspect="1" noChangeArrowheads="1"/>
          </p:cNvPicPr>
          <p:nvPr/>
        </p:nvPicPr>
        <p:blipFill>
          <a:blip r:embed="rId4" cstate="print"/>
          <a:srcRect/>
          <a:stretch>
            <a:fillRect/>
          </a:stretch>
        </p:blipFill>
        <p:spPr bwMode="auto">
          <a:xfrm>
            <a:off x="5546166" y="1431694"/>
            <a:ext cx="3573771" cy="4962821"/>
          </a:xfrm>
          <a:prstGeom prst="rect">
            <a:avLst/>
          </a:prstGeom>
          <a:noFill/>
          <a:ln w="9525">
            <a:noFill/>
            <a:miter lim="800000"/>
            <a:headEnd/>
            <a:tailEnd/>
          </a:ln>
        </p:spPr>
      </p:pic>
      <p:pic>
        <p:nvPicPr>
          <p:cNvPr id="2" name="Picture 1"/>
          <p:cNvPicPr>
            <a:picLocks noChangeAspect="1"/>
          </p:cNvPicPr>
          <p:nvPr/>
        </p:nvPicPr>
        <p:blipFill>
          <a:blip r:embed="rId5"/>
          <a:stretch>
            <a:fillRect/>
          </a:stretch>
        </p:blipFill>
        <p:spPr>
          <a:xfrm>
            <a:off x="2927692" y="1894605"/>
            <a:ext cx="2331980" cy="3833134"/>
          </a:xfrm>
          <a:prstGeom prst="rect">
            <a:avLst/>
          </a:prstGeom>
        </p:spPr>
      </p:pic>
    </p:spTree>
    <p:extLst>
      <p:ext uri="{BB962C8B-B14F-4D97-AF65-F5344CB8AC3E}">
        <p14:creationId xmlns:p14="http://schemas.microsoft.com/office/powerpoint/2010/main" val="33472874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a:xfrm>
            <a:off x="1142999" y="0"/>
            <a:ext cx="7488513" cy="838200"/>
          </a:xfrm>
        </p:spPr>
        <p:txBody>
          <a:bodyPr/>
          <a:lstStyle/>
          <a:p>
            <a:pPr eaLnBrk="1" hangingPunct="1"/>
            <a:r>
              <a:rPr lang="en-AU" sz="4000" dirty="0"/>
              <a:t>Example</a:t>
            </a:r>
            <a:endParaRPr lang="en-US" sz="4000" dirty="0">
              <a:effectLst>
                <a:outerShdw blurRad="38100" dist="38100" dir="2700000" algn="tl">
                  <a:srgbClr val="000000"/>
                </a:outerShdw>
              </a:effectLst>
            </a:endParaRPr>
          </a:p>
        </p:txBody>
      </p:sp>
      <p:pic>
        <p:nvPicPr>
          <p:cNvPr id="32770" name="Picture 2"/>
          <p:cNvPicPr>
            <a:picLocks noChangeAspect="1" noChangeArrowheads="1"/>
          </p:cNvPicPr>
          <p:nvPr/>
        </p:nvPicPr>
        <p:blipFill>
          <a:blip r:embed="rId3" cstate="print"/>
          <a:srcRect/>
          <a:stretch>
            <a:fillRect/>
          </a:stretch>
        </p:blipFill>
        <p:spPr bwMode="auto">
          <a:xfrm>
            <a:off x="1295400" y="914400"/>
            <a:ext cx="3743325" cy="323850"/>
          </a:xfrm>
          <a:prstGeom prst="rect">
            <a:avLst/>
          </a:prstGeom>
          <a:noFill/>
          <a:ln w="9525">
            <a:noFill/>
            <a:miter lim="800000"/>
            <a:headEnd/>
            <a:tailEnd/>
          </a:ln>
        </p:spPr>
      </p:pic>
      <p:pic>
        <p:nvPicPr>
          <p:cNvPr id="32771" name="Picture 3"/>
          <p:cNvPicPr>
            <a:picLocks noChangeAspect="1" noChangeArrowheads="1"/>
          </p:cNvPicPr>
          <p:nvPr/>
        </p:nvPicPr>
        <p:blipFill>
          <a:blip r:embed="rId4" cstate="print"/>
          <a:srcRect/>
          <a:stretch>
            <a:fillRect/>
          </a:stretch>
        </p:blipFill>
        <p:spPr bwMode="auto">
          <a:xfrm>
            <a:off x="1295400" y="1219200"/>
            <a:ext cx="5162550" cy="1228725"/>
          </a:xfrm>
          <a:prstGeom prst="rect">
            <a:avLst/>
          </a:prstGeom>
          <a:noFill/>
          <a:ln w="9525">
            <a:noFill/>
            <a:miter lim="800000"/>
            <a:headEnd/>
            <a:tailEnd/>
          </a:ln>
        </p:spPr>
      </p:pic>
      <p:pic>
        <p:nvPicPr>
          <p:cNvPr id="32772" name="Picture 4"/>
          <p:cNvPicPr>
            <a:picLocks noChangeAspect="1" noChangeArrowheads="1"/>
          </p:cNvPicPr>
          <p:nvPr/>
        </p:nvPicPr>
        <p:blipFill>
          <a:blip r:embed="rId5" cstate="print"/>
          <a:srcRect/>
          <a:stretch>
            <a:fillRect/>
          </a:stretch>
        </p:blipFill>
        <p:spPr bwMode="auto">
          <a:xfrm>
            <a:off x="1295400" y="2438400"/>
            <a:ext cx="5705475" cy="323850"/>
          </a:xfrm>
          <a:prstGeom prst="rect">
            <a:avLst/>
          </a:prstGeom>
          <a:noFill/>
          <a:ln w="9525">
            <a:noFill/>
            <a:miter lim="800000"/>
            <a:headEnd/>
            <a:tailEnd/>
          </a:ln>
        </p:spPr>
      </p:pic>
      <p:pic>
        <p:nvPicPr>
          <p:cNvPr id="32773" name="Picture 5"/>
          <p:cNvPicPr>
            <a:picLocks noChangeAspect="1" noChangeArrowheads="1"/>
          </p:cNvPicPr>
          <p:nvPr/>
        </p:nvPicPr>
        <p:blipFill>
          <a:blip r:embed="rId6" cstate="print"/>
          <a:srcRect/>
          <a:stretch>
            <a:fillRect/>
          </a:stretch>
        </p:blipFill>
        <p:spPr bwMode="auto">
          <a:xfrm>
            <a:off x="2057400" y="2743200"/>
            <a:ext cx="5648325" cy="276225"/>
          </a:xfrm>
          <a:prstGeom prst="rect">
            <a:avLst/>
          </a:prstGeom>
          <a:noFill/>
          <a:ln w="9525">
            <a:noFill/>
            <a:miter lim="800000"/>
            <a:headEnd/>
            <a:tailEnd/>
          </a:ln>
        </p:spPr>
      </p:pic>
      <p:pic>
        <p:nvPicPr>
          <p:cNvPr id="32774" name="Picture 6"/>
          <p:cNvPicPr>
            <a:picLocks noChangeAspect="1" noChangeArrowheads="1"/>
          </p:cNvPicPr>
          <p:nvPr/>
        </p:nvPicPr>
        <p:blipFill>
          <a:blip r:embed="rId7" cstate="print"/>
          <a:srcRect/>
          <a:stretch>
            <a:fillRect/>
          </a:stretch>
        </p:blipFill>
        <p:spPr bwMode="auto">
          <a:xfrm>
            <a:off x="2057400" y="2971800"/>
            <a:ext cx="3990975" cy="847725"/>
          </a:xfrm>
          <a:prstGeom prst="rect">
            <a:avLst/>
          </a:prstGeom>
          <a:noFill/>
          <a:ln w="9525">
            <a:noFill/>
            <a:miter lim="800000"/>
            <a:headEnd/>
            <a:tailEnd/>
          </a:ln>
        </p:spPr>
      </p:pic>
      <p:pic>
        <p:nvPicPr>
          <p:cNvPr id="32775" name="Picture 7"/>
          <p:cNvPicPr>
            <a:picLocks noChangeAspect="1" noChangeArrowheads="1"/>
          </p:cNvPicPr>
          <p:nvPr/>
        </p:nvPicPr>
        <p:blipFill>
          <a:blip r:embed="rId8" cstate="print"/>
          <a:srcRect/>
          <a:stretch>
            <a:fillRect/>
          </a:stretch>
        </p:blipFill>
        <p:spPr bwMode="auto">
          <a:xfrm>
            <a:off x="1295400" y="3810000"/>
            <a:ext cx="3762375" cy="847725"/>
          </a:xfrm>
          <a:prstGeom prst="rect">
            <a:avLst/>
          </a:prstGeom>
          <a:noFill/>
          <a:ln w="9525">
            <a:noFill/>
            <a:miter lim="800000"/>
            <a:headEnd/>
            <a:tailEnd/>
          </a:ln>
        </p:spPr>
      </p:pic>
      <p:pic>
        <p:nvPicPr>
          <p:cNvPr id="32776" name="Picture 8"/>
          <p:cNvPicPr>
            <a:picLocks noChangeAspect="1" noChangeArrowheads="1"/>
          </p:cNvPicPr>
          <p:nvPr/>
        </p:nvPicPr>
        <p:blipFill>
          <a:blip r:embed="rId9" cstate="print"/>
          <a:srcRect/>
          <a:stretch>
            <a:fillRect/>
          </a:stretch>
        </p:blipFill>
        <p:spPr bwMode="auto">
          <a:xfrm>
            <a:off x="1295400" y="4648200"/>
            <a:ext cx="6505575" cy="1162050"/>
          </a:xfrm>
          <a:prstGeom prst="rect">
            <a:avLst/>
          </a:prstGeom>
          <a:noFill/>
          <a:ln w="9525">
            <a:noFill/>
            <a:miter lim="800000"/>
            <a:headEnd/>
            <a:tailEnd/>
          </a:ln>
        </p:spPr>
      </p:pic>
      <p:pic>
        <p:nvPicPr>
          <p:cNvPr id="32777" name="Picture 9"/>
          <p:cNvPicPr>
            <a:picLocks noChangeAspect="1" noChangeArrowheads="1"/>
          </p:cNvPicPr>
          <p:nvPr/>
        </p:nvPicPr>
        <p:blipFill>
          <a:blip r:embed="rId10" cstate="print"/>
          <a:srcRect/>
          <a:stretch>
            <a:fillRect/>
          </a:stretch>
        </p:blipFill>
        <p:spPr bwMode="auto">
          <a:xfrm>
            <a:off x="1295400" y="5791200"/>
            <a:ext cx="3857625" cy="876300"/>
          </a:xfrm>
          <a:prstGeom prst="rect">
            <a:avLst/>
          </a:prstGeom>
          <a:noFill/>
          <a:ln w="9525">
            <a:noFill/>
            <a:miter lim="800000"/>
            <a:headEnd/>
            <a:tailEnd/>
          </a:ln>
        </p:spPr>
      </p:pic>
    </p:spTree>
    <p:extLst>
      <p:ext uri="{BB962C8B-B14F-4D97-AF65-F5344CB8AC3E}">
        <p14:creationId xmlns:p14="http://schemas.microsoft.com/office/powerpoint/2010/main" val="71416347"/>
      </p:ext>
    </p:extLst>
  </p:cSld>
  <p:clrMapOvr>
    <a:masterClrMapping/>
  </p:clrMapOvr>
</p:sld>
</file>

<file path=ppt/theme/theme1.xml><?xml version="1.0" encoding="utf-8"?>
<a:theme xmlns:a="http://schemas.openxmlformats.org/drawingml/2006/main" name="Lock And Key">
  <a:themeElements>
    <a:clrScheme name="Lock And Key 1">
      <a:dk1>
        <a:srgbClr val="200B5B"/>
      </a:dk1>
      <a:lt1>
        <a:srgbClr val="EAEAEA"/>
      </a:lt1>
      <a:dk2>
        <a:srgbClr val="6600FF"/>
      </a:dk2>
      <a:lt2>
        <a:srgbClr val="FFCC66"/>
      </a:lt2>
      <a:accent1>
        <a:srgbClr val="EEB00B"/>
      </a:accent1>
      <a:accent2>
        <a:srgbClr val="6600CC"/>
      </a:accent2>
      <a:accent3>
        <a:srgbClr val="B8AAFF"/>
      </a:accent3>
      <a:accent4>
        <a:srgbClr val="C8C8C8"/>
      </a:accent4>
      <a:accent5>
        <a:srgbClr val="F5D4AA"/>
      </a:accent5>
      <a:accent6>
        <a:srgbClr val="5C00B9"/>
      </a:accent6>
      <a:hlink>
        <a:srgbClr val="FF33CC"/>
      </a:hlink>
      <a:folHlink>
        <a:srgbClr val="CC99FF"/>
      </a:folHlink>
    </a:clrScheme>
    <a:fontScheme name="Lock And Key">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AU"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AU"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Lock And Key 1">
        <a:dk1>
          <a:srgbClr val="200B5B"/>
        </a:dk1>
        <a:lt1>
          <a:srgbClr val="EAEAEA"/>
        </a:lt1>
        <a:dk2>
          <a:srgbClr val="6600FF"/>
        </a:dk2>
        <a:lt2>
          <a:srgbClr val="FFCC66"/>
        </a:lt2>
        <a:accent1>
          <a:srgbClr val="EEB00B"/>
        </a:accent1>
        <a:accent2>
          <a:srgbClr val="6600CC"/>
        </a:accent2>
        <a:accent3>
          <a:srgbClr val="B8AAFF"/>
        </a:accent3>
        <a:accent4>
          <a:srgbClr val="C8C8C8"/>
        </a:accent4>
        <a:accent5>
          <a:srgbClr val="F5D4AA"/>
        </a:accent5>
        <a:accent6>
          <a:srgbClr val="5C00B9"/>
        </a:accent6>
        <a:hlink>
          <a:srgbClr val="FF33CC"/>
        </a:hlink>
        <a:folHlink>
          <a:srgbClr val="CC99FF"/>
        </a:folHlink>
      </a:clrScheme>
      <a:clrMap bg1="dk2" tx1="lt1" bg2="dk1" tx2="lt2" accent1="accent1" accent2="accent2" accent3="accent3" accent4="accent4" accent5="accent5" accent6="accent6" hlink="hlink" folHlink="folHlink"/>
    </a:extraClrScheme>
    <a:extraClrScheme>
      <a:clrScheme name="Lock And Key 2">
        <a:dk1>
          <a:srgbClr val="393939"/>
        </a:dk1>
        <a:lt1>
          <a:srgbClr val="FFFFFF"/>
        </a:lt1>
        <a:dk2>
          <a:srgbClr val="6600CC"/>
        </a:dk2>
        <a:lt2>
          <a:srgbClr val="CCCCFF"/>
        </a:lt2>
        <a:accent1>
          <a:srgbClr val="F9D87E"/>
        </a:accent1>
        <a:accent2>
          <a:srgbClr val="FFCCCC"/>
        </a:accent2>
        <a:accent3>
          <a:srgbClr val="FFFFFF"/>
        </a:accent3>
        <a:accent4>
          <a:srgbClr val="2F2F2F"/>
        </a:accent4>
        <a:accent5>
          <a:srgbClr val="FBE9C0"/>
        </a:accent5>
        <a:accent6>
          <a:srgbClr val="E7B9B9"/>
        </a:accent6>
        <a:hlink>
          <a:srgbClr val="FFCCFF"/>
        </a:hlink>
        <a:folHlink>
          <a:srgbClr val="99CCFF"/>
        </a:folHlink>
      </a:clrScheme>
      <a:clrMap bg1="lt1" tx1="dk1" bg2="lt2" tx2="dk2" accent1="accent1" accent2="accent2" accent3="accent3" accent4="accent4" accent5="accent5" accent6="accent6" hlink="hlink" folHlink="folHlink"/>
    </a:extraClrScheme>
    <a:extraClrScheme>
      <a:clrScheme name="Lock And Key 3">
        <a:dk1>
          <a:srgbClr val="000000"/>
        </a:dk1>
        <a:lt1>
          <a:srgbClr val="FFFFFF"/>
        </a:lt1>
        <a:dk2>
          <a:srgbClr val="000000"/>
        </a:dk2>
        <a:lt2>
          <a:srgbClr val="FFFFFF"/>
        </a:lt2>
        <a:accent1>
          <a:srgbClr val="CBCBCB"/>
        </a:accent1>
        <a:accent2>
          <a:srgbClr val="5F5F5F"/>
        </a:accent2>
        <a:accent3>
          <a:srgbClr val="FFFFFF"/>
        </a:accent3>
        <a:accent4>
          <a:srgbClr val="000000"/>
        </a:accent4>
        <a:accent5>
          <a:srgbClr val="E2E2E2"/>
        </a:accent5>
        <a:accent6>
          <a:srgbClr val="555555"/>
        </a:accent6>
        <a:hlink>
          <a:srgbClr val="969696"/>
        </a:hlink>
        <a:folHlink>
          <a:srgbClr val="EAEAEA"/>
        </a:folHlink>
      </a:clrScheme>
      <a:clrMap bg1="lt1" tx1="dk1" bg2="lt2" tx2="dk2" accent1="accent1" accent2="accent2" accent3="accent3" accent4="accent4" accent5="accent5" accent6="accent6" hlink="hlink" folHlink="folHlink"/>
    </a:extraClrScheme>
    <a:extraClrScheme>
      <a:clrScheme name="Lock And Key 4">
        <a:dk1>
          <a:srgbClr val="330000"/>
        </a:dk1>
        <a:lt1>
          <a:srgbClr val="FFFFCC"/>
        </a:lt1>
        <a:dk2>
          <a:srgbClr val="000000"/>
        </a:dk2>
        <a:lt2>
          <a:srgbClr val="FFCC00"/>
        </a:lt2>
        <a:accent1>
          <a:srgbClr val="FF9900"/>
        </a:accent1>
        <a:accent2>
          <a:srgbClr val="330099"/>
        </a:accent2>
        <a:accent3>
          <a:srgbClr val="AAAAAA"/>
        </a:accent3>
        <a:accent4>
          <a:srgbClr val="DADAAE"/>
        </a:accent4>
        <a:accent5>
          <a:srgbClr val="FFCAAA"/>
        </a:accent5>
        <a:accent6>
          <a:srgbClr val="2D008A"/>
        </a:accent6>
        <a:hlink>
          <a:srgbClr val="FF6633"/>
        </a:hlink>
        <a:folHlink>
          <a:srgbClr val="669900"/>
        </a:folHlink>
      </a:clrScheme>
      <a:clrMap bg1="dk2" tx1="lt1" bg2="dk1" tx2="lt2" accent1="accent1" accent2="accent2" accent3="accent3" accent4="accent4" accent5="accent5" accent6="accent6" hlink="hlink" folHlink="folHlink"/>
    </a:extraClrScheme>
    <a:extraClrScheme>
      <a:clrScheme name="Lock And Key 5">
        <a:dk1>
          <a:srgbClr val="333300"/>
        </a:dk1>
        <a:lt1>
          <a:srgbClr val="DDDDDD"/>
        </a:lt1>
        <a:dk2>
          <a:srgbClr val="996600"/>
        </a:dk2>
        <a:lt2>
          <a:srgbClr val="FFCC66"/>
        </a:lt2>
        <a:accent1>
          <a:srgbClr val="EEB00B"/>
        </a:accent1>
        <a:accent2>
          <a:srgbClr val="330099"/>
        </a:accent2>
        <a:accent3>
          <a:srgbClr val="CAB8AA"/>
        </a:accent3>
        <a:accent4>
          <a:srgbClr val="BDBDBD"/>
        </a:accent4>
        <a:accent5>
          <a:srgbClr val="F5D4AA"/>
        </a:accent5>
        <a:accent6>
          <a:srgbClr val="2D008A"/>
        </a:accent6>
        <a:hlink>
          <a:srgbClr val="FF6633"/>
        </a:hlink>
        <a:folHlink>
          <a:srgbClr val="CC9900"/>
        </a:folHlink>
      </a:clrScheme>
      <a:clrMap bg1="dk2" tx1="lt1" bg2="dk1" tx2="lt2" accent1="accent1" accent2="accent2" accent3="accent3" accent4="accent4" accent5="accent5" accent6="accent6" hlink="hlink" folHlink="folHlink"/>
    </a:extraClrScheme>
    <a:extraClrScheme>
      <a:clrScheme name="Lock And Key 6">
        <a:dk1>
          <a:srgbClr val="003300"/>
        </a:dk1>
        <a:lt1>
          <a:srgbClr val="FFFFCC"/>
        </a:lt1>
        <a:dk2>
          <a:srgbClr val="999933"/>
        </a:dk2>
        <a:lt2>
          <a:srgbClr val="FFFF66"/>
        </a:lt2>
        <a:accent1>
          <a:srgbClr val="CC9900"/>
        </a:accent1>
        <a:accent2>
          <a:srgbClr val="330099"/>
        </a:accent2>
        <a:accent3>
          <a:srgbClr val="CACAAD"/>
        </a:accent3>
        <a:accent4>
          <a:srgbClr val="DADAAE"/>
        </a:accent4>
        <a:accent5>
          <a:srgbClr val="E2CAAA"/>
        </a:accent5>
        <a:accent6>
          <a:srgbClr val="2D008A"/>
        </a:accent6>
        <a:hlink>
          <a:srgbClr val="FF9900"/>
        </a:hlink>
        <a:folHlink>
          <a:srgbClr val="FF66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Designs\Lock And Key.pot</Template>
  <TotalTime>6991</TotalTime>
  <Words>2645</Words>
  <Application>Microsoft Macintosh PowerPoint</Application>
  <PresentationFormat>On-screen Show (4:3)</PresentationFormat>
  <Paragraphs>339</Paragraphs>
  <Slides>40</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Calibri</vt:lpstr>
      <vt:lpstr>Comic Sans MS</vt:lpstr>
      <vt:lpstr>Symbol</vt:lpstr>
      <vt:lpstr>Times New Roman</vt:lpstr>
      <vt:lpstr>Wingdings</vt:lpstr>
      <vt:lpstr>Lock And Key</vt:lpstr>
      <vt:lpstr>Chapter 2 Secret Key Encryption Standard</vt:lpstr>
      <vt:lpstr>Model of Conventional Encryption</vt:lpstr>
      <vt:lpstr>Substitution Cipher </vt:lpstr>
      <vt:lpstr>Caesar Cipher </vt:lpstr>
      <vt:lpstr>Shift Ciphers</vt:lpstr>
      <vt:lpstr>Cryptosystem </vt:lpstr>
      <vt:lpstr>Mathematical Representation of Shift Cipher</vt:lpstr>
      <vt:lpstr>Modular Arithmetic</vt:lpstr>
      <vt:lpstr>Example of Caesar Cipher</vt:lpstr>
      <vt:lpstr>Example of Shift Cipher</vt:lpstr>
      <vt:lpstr>PowerPoint Presentation</vt:lpstr>
      <vt:lpstr>PowerPoint Presentation</vt:lpstr>
      <vt:lpstr>Affine Cipher</vt:lpstr>
      <vt:lpstr>Example of Affine Cipher </vt:lpstr>
      <vt:lpstr>PowerPoint Presentation</vt:lpstr>
      <vt:lpstr>Number of Affine Ciphers</vt:lpstr>
      <vt:lpstr>Example of Breaking Affine Cipher </vt:lpstr>
      <vt:lpstr>PowerPoint Presentation</vt:lpstr>
      <vt:lpstr>Transposition Cipher</vt:lpstr>
      <vt:lpstr>Transposition Cipher  Based on Key Word</vt:lpstr>
      <vt:lpstr>Encryption and Decryption</vt:lpstr>
      <vt:lpstr>PowerPoint Presentation</vt:lpstr>
      <vt:lpstr>PowerPoint Presentation</vt:lpstr>
      <vt:lpstr>Comments</vt:lpstr>
      <vt:lpstr>Chapter 2 Secret Key Encryption Standard</vt:lpstr>
      <vt:lpstr>Advanced Encryption Standard</vt:lpstr>
      <vt:lpstr>AES vs. DES</vt:lpstr>
      <vt:lpstr>Simplified AES</vt:lpstr>
      <vt:lpstr>State Matrix and Round Keys</vt:lpstr>
      <vt:lpstr>PowerPoint Presentation</vt:lpstr>
      <vt:lpstr>PowerPoint Presentation</vt:lpstr>
      <vt:lpstr>PowerPoint Presentation</vt:lpstr>
      <vt:lpstr>PowerPoint Presentation</vt:lpstr>
      <vt:lpstr>PowerPoint Presentation</vt:lpstr>
      <vt:lpstr>Galois Field </vt:lpstr>
      <vt:lpstr>GF(16)</vt:lpstr>
      <vt:lpstr>Addition and Multiplication over GF(16)</vt:lpstr>
      <vt:lpstr>Matrix Multiplication over GF(16)</vt:lpstr>
      <vt:lpstr>Key Expansion</vt:lpstr>
      <vt:lpstr>Example</vt:lpstr>
    </vt:vector>
  </TitlesOfParts>
  <Company>School of Computer Science &amp; Mathematics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Password-Authenticated Key Agreement from IBE</dc:title>
  <dc:creator>Victoria University</dc:creator>
  <cp:lastModifiedBy>Xun Yi</cp:lastModifiedBy>
  <cp:revision>331</cp:revision>
  <cp:lastPrinted>1601-01-01T00:00:00Z</cp:lastPrinted>
  <dcterms:created xsi:type="dcterms:W3CDTF">2011-07-19T07:09:02Z</dcterms:created>
  <dcterms:modified xsi:type="dcterms:W3CDTF">2024-03-13T03:19:01Z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c3d088b-6243-4963-a2e2-8b321ab7f8fc_Enabled">
    <vt:lpwstr>true</vt:lpwstr>
  </property>
  <property fmtid="{D5CDD505-2E9C-101B-9397-08002B2CF9AE}" pid="3" name="MSIP_Label_8c3d088b-6243-4963-a2e2-8b321ab7f8fc_SetDate">
    <vt:lpwstr>2024-03-13T03:15:47Z</vt:lpwstr>
  </property>
  <property fmtid="{D5CDD505-2E9C-101B-9397-08002B2CF9AE}" pid="4" name="MSIP_Label_8c3d088b-6243-4963-a2e2-8b321ab7f8fc_Method">
    <vt:lpwstr>Standard</vt:lpwstr>
  </property>
  <property fmtid="{D5CDD505-2E9C-101B-9397-08002B2CF9AE}" pid="5" name="MSIP_Label_8c3d088b-6243-4963-a2e2-8b321ab7f8fc_Name">
    <vt:lpwstr>Trusted</vt:lpwstr>
  </property>
  <property fmtid="{D5CDD505-2E9C-101B-9397-08002B2CF9AE}" pid="6" name="MSIP_Label_8c3d088b-6243-4963-a2e2-8b321ab7f8fc_SiteId">
    <vt:lpwstr>d1323671-cdbe-4417-b4d4-bdb24b51316b</vt:lpwstr>
  </property>
  <property fmtid="{D5CDD505-2E9C-101B-9397-08002B2CF9AE}" pid="7" name="MSIP_Label_8c3d088b-6243-4963-a2e2-8b321ab7f8fc_ActionId">
    <vt:lpwstr>a096f210-e049-4af6-b103-9a5d84d8fd0a</vt:lpwstr>
  </property>
  <property fmtid="{D5CDD505-2E9C-101B-9397-08002B2CF9AE}" pid="8" name="MSIP_Label_8c3d088b-6243-4963-a2e2-8b321ab7f8fc_ContentBits">
    <vt:lpwstr>1</vt:lpwstr>
  </property>
  <property fmtid="{D5CDD505-2E9C-101B-9397-08002B2CF9AE}" pid="9" name="ClassificationContentMarkingHeaderLocations">
    <vt:lpwstr>Lock And Key:3</vt:lpwstr>
  </property>
  <property fmtid="{D5CDD505-2E9C-101B-9397-08002B2CF9AE}" pid="10" name="ClassificationContentMarkingHeaderText">
    <vt:lpwstr>RMIT Classification: Trusted</vt:lpwstr>
  </property>
</Properties>
</file>